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sldIdLst>
    <p:sldId id="256" r:id="rId2"/>
    <p:sldId id="257" r:id="rId3"/>
    <p:sldId id="258" r:id="rId4"/>
    <p:sldId id="260" r:id="rId5"/>
    <p:sldId id="261" r:id="rId6"/>
    <p:sldId id="262" r:id="rId7"/>
    <p:sldId id="263" r:id="rId8"/>
    <p:sldId id="264" r:id="rId9"/>
    <p:sldId id="265" r:id="rId10"/>
    <p:sldId id="267" r:id="rId11"/>
    <p:sldId id="268" r:id="rId12"/>
    <p:sldId id="269" r:id="rId13"/>
    <p:sldId id="270" r:id="rId14"/>
    <p:sldId id="274" r:id="rId15"/>
    <p:sldId id="272" r:id="rId16"/>
    <p:sldId id="273" r:id="rId17"/>
    <p:sldId id="275" r:id="rId18"/>
    <p:sldId id="280" r:id="rId19"/>
    <p:sldId id="281" r:id="rId20"/>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CE13ED-5737-4338-98BD-DDE6AC74A852}" v="492" dt="2022-06-02T09:43:19.588"/>
    <p1510:client id="{58A8CE0B-EB44-4460-A560-8EBF640A8EDA}" v="218" dt="2022-06-02T19:27:19.745"/>
    <p1510:client id="{7F812214-4C00-49E0-BD8C-9F6C0F4CACF0}" v="73" dt="2022-06-02T08:50:35.319"/>
    <p1510:client id="{8477365F-7DAB-4206-87A4-70380722C4F4}" v="15" dt="2022-06-02T08:44:18.281"/>
    <p1510:client id="{999EA0D3-2668-402F-83FA-623F01D00498}" v="58" dt="2022-06-03T10:42:32.604"/>
    <p1510:client id="{CF374C6B-EC5E-4F70-BF61-5B4267E4E2A0}" v="36" dt="2022-06-02T09:04:32.556"/>
    <p1510:client id="{DAC1DF67-AA1F-4AE6-BDCF-9FE06E5952BC}" v="396" dt="2022-06-02T10:07:24.091"/>
    <p1510:client id="{E6F4470F-C30F-4CA6-8F93-1943BA59BF9E}" v="92" dt="2022-06-03T06:27:52.238"/>
    <p1510:client id="{F74A6E62-43F7-489D-98F7-53458C5C84C6}" v="48" dt="2022-06-03T10:33:50.4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6/3/2022</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367739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6/3/2022</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900309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6/3/2022</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449957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6/3/2022</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13306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6/3/2022</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40196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6/3/2022</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561427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6/3/2022</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752231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6/3/2022</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022549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6/3/2022</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0485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6/3/2022</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3142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6/3/2022</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71758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6/3/2022</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95029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6/3/2022</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995508567"/>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62" r:id="rId6"/>
    <p:sldLayoutId id="2147483667" r:id="rId7"/>
    <p:sldLayoutId id="2147483663" r:id="rId8"/>
    <p:sldLayoutId id="2147483664" r:id="rId9"/>
    <p:sldLayoutId id="2147483665" r:id="rId10"/>
    <p:sldLayoutId id="2147483666" r:id="rId11"/>
    <p:sldLayoutId id="2147483668"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26">
            <a:extLst>
              <a:ext uri="{FF2B5EF4-FFF2-40B4-BE49-F238E27FC236}">
                <a16:creationId xmlns:a16="http://schemas.microsoft.com/office/drawing/2014/main" id="{ED894347-C9A9-4BFD-8A6D-05A2B0CDD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28">
            <a:extLst>
              <a:ext uri="{FF2B5EF4-FFF2-40B4-BE49-F238E27FC236}">
                <a16:creationId xmlns:a16="http://schemas.microsoft.com/office/drawing/2014/main" id="{284ED281-4082-46F9-86EE-D78901367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
            <a:ext cx="9379192" cy="4251280"/>
          </a:xfrm>
          <a:custGeom>
            <a:avLst/>
            <a:gdLst>
              <a:gd name="connsiteX0" fmla="*/ 9379192 w 9379192"/>
              <a:gd name="connsiteY0" fmla="*/ 3752527 h 3752527"/>
              <a:gd name="connsiteX1" fmla="*/ 3293459 w 9379192"/>
              <a:gd name="connsiteY1" fmla="*/ 3752527 h 3752527"/>
              <a:gd name="connsiteX2" fmla="*/ 3297156 w 9379192"/>
              <a:gd name="connsiteY2" fmla="*/ 3752055 h 3752527"/>
              <a:gd name="connsiteX3" fmla="*/ 3642095 w 9379192"/>
              <a:gd name="connsiteY3" fmla="*/ 3690141 h 3752527"/>
              <a:gd name="connsiteX4" fmla="*/ 2307659 w 9379192"/>
              <a:gd name="connsiteY4" fmla="*/ 3500267 h 3752527"/>
              <a:gd name="connsiteX5" fmla="*/ 2383194 w 9379192"/>
              <a:gd name="connsiteY5" fmla="*/ 3475501 h 3752527"/>
              <a:gd name="connsiteX6" fmla="*/ 2237161 w 9379192"/>
              <a:gd name="connsiteY6" fmla="*/ 3376437 h 3752527"/>
              <a:gd name="connsiteX7" fmla="*/ 1637924 w 9379192"/>
              <a:gd name="connsiteY7" fmla="*/ 3219585 h 3752527"/>
              <a:gd name="connsiteX8" fmla="*/ 2383194 w 9379192"/>
              <a:gd name="connsiteY8" fmla="*/ 2955415 h 3752527"/>
              <a:gd name="connsiteX9" fmla="*/ 1542249 w 9379192"/>
              <a:gd name="connsiteY9" fmla="*/ 2596307 h 3752527"/>
              <a:gd name="connsiteX10" fmla="*/ 1114221 w 9379192"/>
              <a:gd name="connsiteY10" fmla="*/ 2509625 h 3752527"/>
              <a:gd name="connsiteX11" fmla="*/ 2524191 w 9379192"/>
              <a:gd name="connsiteY11" fmla="*/ 2059708 h 3752527"/>
              <a:gd name="connsiteX12" fmla="*/ 238027 w 9379192"/>
              <a:gd name="connsiteY12" fmla="*/ 1836815 h 3752527"/>
              <a:gd name="connsiteX13" fmla="*/ 424343 w 9379192"/>
              <a:gd name="connsiteY13" fmla="*/ 1746006 h 3752527"/>
              <a:gd name="connsiteX14" fmla="*/ 1844384 w 9379192"/>
              <a:gd name="connsiteY14" fmla="*/ 1770772 h 3752527"/>
              <a:gd name="connsiteX15" fmla="*/ 2081058 w 9379192"/>
              <a:gd name="connsiteY15" fmla="*/ 1700602 h 3752527"/>
              <a:gd name="connsiteX16" fmla="*/ 1844384 w 9379192"/>
              <a:gd name="connsiteY16" fmla="*/ 1589154 h 3752527"/>
              <a:gd name="connsiteX17" fmla="*/ 922869 w 9379192"/>
              <a:gd name="connsiteY17" fmla="*/ 1506601 h 3752527"/>
              <a:gd name="connsiteX18" fmla="*/ 681160 w 9379192"/>
              <a:gd name="connsiteY18" fmla="*/ 1320855 h 3752527"/>
              <a:gd name="connsiteX19" fmla="*/ 273276 w 9379192"/>
              <a:gd name="connsiteY19" fmla="*/ 1106216 h 3752527"/>
              <a:gd name="connsiteX20" fmla="*/ 555269 w 9379192"/>
              <a:gd name="connsiteY20" fmla="*/ 928727 h 3752527"/>
              <a:gd name="connsiteX21" fmla="*/ 97029 w 9379192"/>
              <a:gd name="connsiteY21" fmla="*/ 664555 h 3752527"/>
              <a:gd name="connsiteX22" fmla="*/ 227955 w 9379192"/>
              <a:gd name="connsiteY22" fmla="*/ 317831 h 3752527"/>
              <a:gd name="connsiteX23" fmla="*/ 998402 w 9379192"/>
              <a:gd name="connsiteY23" fmla="*/ 235277 h 3752527"/>
              <a:gd name="connsiteX24" fmla="*/ 2030701 w 9379192"/>
              <a:gd name="connsiteY24" fmla="*/ 115575 h 3752527"/>
              <a:gd name="connsiteX25" fmla="*/ 3068036 w 9379192"/>
              <a:gd name="connsiteY25" fmla="*/ 12383 h 3752527"/>
              <a:gd name="connsiteX26" fmla="*/ 4105370 w 9379192"/>
              <a:gd name="connsiteY26" fmla="*/ 12383 h 3752527"/>
              <a:gd name="connsiteX27" fmla="*/ 4402472 w 9379192"/>
              <a:gd name="connsiteY27" fmla="*/ 20638 h 3752527"/>
              <a:gd name="connsiteX28" fmla="*/ 4407507 w 9379192"/>
              <a:gd name="connsiteY28" fmla="*/ 20638 h 3752527"/>
              <a:gd name="connsiteX29" fmla="*/ 5696622 w 9379192"/>
              <a:gd name="connsiteY29" fmla="*/ 57788 h 3752527"/>
              <a:gd name="connsiteX30" fmla="*/ 6175004 w 9379192"/>
              <a:gd name="connsiteY30" fmla="*/ 61915 h 3752527"/>
              <a:gd name="connsiteX31" fmla="*/ 7212339 w 9379192"/>
              <a:gd name="connsiteY31" fmla="*/ 66042 h 3752527"/>
              <a:gd name="connsiteX32" fmla="*/ 8244638 w 9379192"/>
              <a:gd name="connsiteY32" fmla="*/ 49532 h 3752527"/>
              <a:gd name="connsiteX33" fmla="*/ 9292044 w 9379192"/>
              <a:gd name="connsiteY33" fmla="*/ 0 h 3752527"/>
              <a:gd name="connsiteX34" fmla="*/ 9379192 w 9379192"/>
              <a:gd name="connsiteY34" fmla="*/ 2762 h 3752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379192" h="3752527">
                <a:moveTo>
                  <a:pt x="9379192" y="3752527"/>
                </a:moveTo>
                <a:lnTo>
                  <a:pt x="3293459" y="3752527"/>
                </a:lnTo>
                <a:lnTo>
                  <a:pt x="3297156" y="3752055"/>
                </a:lnTo>
                <a:cubicBezTo>
                  <a:pt x="3412975" y="3736577"/>
                  <a:pt x="3551454" y="3714906"/>
                  <a:pt x="3642095" y="3690141"/>
                </a:cubicBezTo>
                <a:cubicBezTo>
                  <a:pt x="3380244" y="3686012"/>
                  <a:pt x="2347945" y="3529162"/>
                  <a:pt x="2307659" y="3500267"/>
                </a:cubicBezTo>
                <a:cubicBezTo>
                  <a:pt x="2327803" y="3492012"/>
                  <a:pt x="2358017" y="3483757"/>
                  <a:pt x="2383194" y="3475501"/>
                </a:cubicBezTo>
                <a:cubicBezTo>
                  <a:pt x="2327803" y="3450736"/>
                  <a:pt x="2282482" y="3421842"/>
                  <a:pt x="2237161" y="3376437"/>
                </a:cubicBezTo>
                <a:cubicBezTo>
                  <a:pt x="2091129" y="3223714"/>
                  <a:pt x="1844384" y="3277374"/>
                  <a:pt x="1637924" y="3219585"/>
                </a:cubicBezTo>
                <a:cubicBezTo>
                  <a:pt x="1768850" y="2897627"/>
                  <a:pt x="2116307" y="3017329"/>
                  <a:pt x="2383194" y="2955415"/>
                </a:cubicBezTo>
                <a:cubicBezTo>
                  <a:pt x="1683245" y="2765541"/>
                  <a:pt x="1819207" y="2666477"/>
                  <a:pt x="1542249" y="2596307"/>
                </a:cubicBezTo>
                <a:cubicBezTo>
                  <a:pt x="1194791" y="2509625"/>
                  <a:pt x="1114221" y="2509625"/>
                  <a:pt x="1114221" y="2509625"/>
                </a:cubicBezTo>
                <a:cubicBezTo>
                  <a:pt x="1522105" y="2245455"/>
                  <a:pt x="2010559" y="2530264"/>
                  <a:pt x="2524191" y="2059708"/>
                </a:cubicBezTo>
                <a:cubicBezTo>
                  <a:pt x="2030701" y="1993667"/>
                  <a:pt x="555269" y="1960645"/>
                  <a:pt x="238027" y="1836815"/>
                </a:cubicBezTo>
                <a:cubicBezTo>
                  <a:pt x="358880" y="1882219"/>
                  <a:pt x="368952" y="1746006"/>
                  <a:pt x="424343" y="1746006"/>
                </a:cubicBezTo>
                <a:cubicBezTo>
                  <a:pt x="892655" y="1741879"/>
                  <a:pt x="1371037" y="1820305"/>
                  <a:pt x="1844384" y="1770772"/>
                </a:cubicBezTo>
                <a:cubicBezTo>
                  <a:pt x="1929989" y="1766645"/>
                  <a:pt x="2065951" y="1803793"/>
                  <a:pt x="2081058" y="1700602"/>
                </a:cubicBezTo>
                <a:cubicBezTo>
                  <a:pt x="2096164" y="1572644"/>
                  <a:pt x="1919919" y="1601537"/>
                  <a:pt x="1844384" y="1589154"/>
                </a:cubicBezTo>
                <a:cubicBezTo>
                  <a:pt x="1537212" y="1547877"/>
                  <a:pt x="1235076" y="1531367"/>
                  <a:pt x="922869" y="1506601"/>
                </a:cubicBezTo>
                <a:cubicBezTo>
                  <a:pt x="791943" y="1494218"/>
                  <a:pt x="630804" y="1518984"/>
                  <a:pt x="681160" y="1320855"/>
                </a:cubicBezTo>
                <a:cubicBezTo>
                  <a:pt x="640874" y="1130983"/>
                  <a:pt x="399166" y="1197025"/>
                  <a:pt x="273276" y="1106216"/>
                </a:cubicBezTo>
                <a:cubicBezTo>
                  <a:pt x="333703" y="998897"/>
                  <a:pt x="504913" y="1073196"/>
                  <a:pt x="555269" y="928727"/>
                </a:cubicBezTo>
                <a:cubicBezTo>
                  <a:pt x="313560" y="974131"/>
                  <a:pt x="338738" y="660428"/>
                  <a:pt x="97029" y="664555"/>
                </a:cubicBezTo>
                <a:cubicBezTo>
                  <a:pt x="-104395" y="478810"/>
                  <a:pt x="41638" y="388001"/>
                  <a:pt x="227955" y="317831"/>
                </a:cubicBezTo>
                <a:cubicBezTo>
                  <a:pt x="469664" y="231150"/>
                  <a:pt x="736551" y="251788"/>
                  <a:pt x="998402" y="235277"/>
                </a:cubicBezTo>
                <a:cubicBezTo>
                  <a:pt x="1345860" y="198128"/>
                  <a:pt x="1678209" y="111447"/>
                  <a:pt x="2030701" y="115575"/>
                </a:cubicBezTo>
                <a:cubicBezTo>
                  <a:pt x="2363052" y="28893"/>
                  <a:pt x="2730650" y="123829"/>
                  <a:pt x="3068036" y="12383"/>
                </a:cubicBezTo>
                <a:cubicBezTo>
                  <a:pt x="3410457" y="12383"/>
                  <a:pt x="3757914" y="12383"/>
                  <a:pt x="4105370" y="12383"/>
                </a:cubicBezTo>
                <a:cubicBezTo>
                  <a:pt x="4206084" y="16510"/>
                  <a:pt x="4301759" y="16510"/>
                  <a:pt x="4402472" y="20638"/>
                </a:cubicBezTo>
                <a:cubicBezTo>
                  <a:pt x="4402472" y="20638"/>
                  <a:pt x="4407507" y="20638"/>
                  <a:pt x="4407507" y="20638"/>
                </a:cubicBezTo>
                <a:cubicBezTo>
                  <a:pt x="4840570" y="33022"/>
                  <a:pt x="5268596" y="41276"/>
                  <a:pt x="5696622" y="57788"/>
                </a:cubicBezTo>
                <a:cubicBezTo>
                  <a:pt x="5857761" y="57788"/>
                  <a:pt x="6013864" y="61915"/>
                  <a:pt x="6175004" y="61915"/>
                </a:cubicBezTo>
                <a:cubicBezTo>
                  <a:pt x="6517425" y="82553"/>
                  <a:pt x="6864883" y="94936"/>
                  <a:pt x="7212339" y="66042"/>
                </a:cubicBezTo>
                <a:cubicBezTo>
                  <a:pt x="7559796" y="90809"/>
                  <a:pt x="7897182" y="74298"/>
                  <a:pt x="8244638" y="49532"/>
                </a:cubicBezTo>
                <a:cubicBezTo>
                  <a:pt x="8597130" y="78426"/>
                  <a:pt x="8944587" y="37149"/>
                  <a:pt x="9292044" y="0"/>
                </a:cubicBezTo>
                <a:lnTo>
                  <a:pt x="9379192" y="2762"/>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31" name="Freeform: Shape 30">
            <a:extLst>
              <a:ext uri="{FF2B5EF4-FFF2-40B4-BE49-F238E27FC236}">
                <a16:creationId xmlns:a16="http://schemas.microsoft.com/office/drawing/2014/main" id="{5531D9B7-48AB-4407-A9E8-13391FCB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9902" flipV="1">
            <a:off x="5210629" y="4242714"/>
            <a:ext cx="7104297" cy="3137347"/>
          </a:xfrm>
          <a:custGeom>
            <a:avLst/>
            <a:gdLst>
              <a:gd name="connsiteX0" fmla="*/ 6772629 w 7104297"/>
              <a:gd name="connsiteY0" fmla="*/ 3137347 h 3137347"/>
              <a:gd name="connsiteX1" fmla="*/ 7104297 w 7104297"/>
              <a:gd name="connsiteY1" fmla="*/ 1081624 h 3137347"/>
              <a:gd name="connsiteX2" fmla="*/ 400225 w 7104297"/>
              <a:gd name="connsiteY2" fmla="*/ 0 h 3137347"/>
              <a:gd name="connsiteX3" fmla="*/ 277738 w 7104297"/>
              <a:gd name="connsiteY3" fmla="*/ 5048 h 3137347"/>
              <a:gd name="connsiteX4" fmla="*/ 0 w 7104297"/>
              <a:gd name="connsiteY4" fmla="*/ 23585 h 3137347"/>
              <a:gd name="connsiteX5" fmla="*/ 296410 w 7104297"/>
              <a:gd name="connsiteY5" fmla="*/ 136472 h 3137347"/>
              <a:gd name="connsiteX6" fmla="*/ 396403 w 7104297"/>
              <a:gd name="connsiteY6" fmla="*/ 445861 h 3137347"/>
              <a:gd name="connsiteX7" fmla="*/ 760665 w 7104297"/>
              <a:gd name="connsiteY7" fmla="*/ 621461 h 3137347"/>
              <a:gd name="connsiteX8" fmla="*/ 996368 w 7104297"/>
              <a:gd name="connsiteY8" fmla="*/ 684176 h 3137347"/>
              <a:gd name="connsiteX9" fmla="*/ 1535617 w 7104297"/>
              <a:gd name="connsiteY9" fmla="*/ 776157 h 3137347"/>
              <a:gd name="connsiteX10" fmla="*/ 1614185 w 7104297"/>
              <a:gd name="connsiteY10" fmla="*/ 926671 h 3137347"/>
              <a:gd name="connsiteX11" fmla="*/ 1682037 w 7104297"/>
              <a:gd name="connsiteY11" fmla="*/ 1093909 h 3137347"/>
              <a:gd name="connsiteX12" fmla="*/ 1824886 w 7104297"/>
              <a:gd name="connsiteY12" fmla="*/ 1202614 h 3137347"/>
              <a:gd name="connsiteX13" fmla="*/ 714243 w 7104297"/>
              <a:gd name="connsiteY13" fmla="*/ 1185890 h 3137347"/>
              <a:gd name="connsiteX14" fmla="*/ 1967733 w 7104297"/>
              <a:gd name="connsiteY14" fmla="*/ 1537090 h 3137347"/>
              <a:gd name="connsiteX15" fmla="*/ 1857026 w 7104297"/>
              <a:gd name="connsiteY15" fmla="*/ 1675062 h 3137347"/>
              <a:gd name="connsiteX16" fmla="*/ 2542697 w 7104297"/>
              <a:gd name="connsiteY16" fmla="*/ 1863205 h 3137347"/>
              <a:gd name="connsiteX17" fmla="*/ 2174863 w 7104297"/>
              <a:gd name="connsiteY17" fmla="*/ 1884109 h 3137347"/>
              <a:gd name="connsiteX18" fmla="*/ 4314015 w 7104297"/>
              <a:gd name="connsiteY18" fmla="*/ 2670128 h 3137347"/>
              <a:gd name="connsiteX19" fmla="*/ 5430784 w 7104297"/>
              <a:gd name="connsiteY19" fmla="*/ 2889725 h 3137347"/>
              <a:gd name="connsiteX20" fmla="*/ 6613344 w 7104297"/>
              <a:gd name="connsiteY20" fmla="*/ 3108822 h 3137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04297" h="3137347">
                <a:moveTo>
                  <a:pt x="6772629" y="3137347"/>
                </a:moveTo>
                <a:lnTo>
                  <a:pt x="7104297" y="1081624"/>
                </a:lnTo>
                <a:lnTo>
                  <a:pt x="400225" y="0"/>
                </a:lnTo>
                <a:lnTo>
                  <a:pt x="277738" y="5048"/>
                </a:lnTo>
                <a:cubicBezTo>
                  <a:pt x="185423" y="9801"/>
                  <a:pt x="92851" y="15745"/>
                  <a:pt x="0" y="23585"/>
                </a:cubicBezTo>
                <a:cubicBezTo>
                  <a:pt x="96424" y="149013"/>
                  <a:pt x="221416" y="44490"/>
                  <a:pt x="296410" y="136472"/>
                </a:cubicBezTo>
                <a:cubicBezTo>
                  <a:pt x="224986" y="328795"/>
                  <a:pt x="253557" y="433318"/>
                  <a:pt x="396403" y="445861"/>
                </a:cubicBezTo>
                <a:cubicBezTo>
                  <a:pt x="535682" y="458403"/>
                  <a:pt x="685672" y="391507"/>
                  <a:pt x="760665" y="621461"/>
                </a:cubicBezTo>
                <a:cubicBezTo>
                  <a:pt x="782093" y="692537"/>
                  <a:pt x="914229" y="671633"/>
                  <a:pt x="996368" y="684176"/>
                </a:cubicBezTo>
                <a:cubicBezTo>
                  <a:pt x="1174926" y="713442"/>
                  <a:pt x="1364202" y="684176"/>
                  <a:pt x="1535617" y="776157"/>
                </a:cubicBezTo>
                <a:cubicBezTo>
                  <a:pt x="1603471" y="809604"/>
                  <a:pt x="1649896" y="834690"/>
                  <a:pt x="1614185" y="926671"/>
                </a:cubicBezTo>
                <a:cubicBezTo>
                  <a:pt x="1578472" y="1022833"/>
                  <a:pt x="1624898" y="1056279"/>
                  <a:pt x="1682037" y="1093909"/>
                </a:cubicBezTo>
                <a:cubicBezTo>
                  <a:pt x="1724892" y="1123175"/>
                  <a:pt x="1789173" y="1114814"/>
                  <a:pt x="1824886" y="1202614"/>
                </a:cubicBezTo>
                <a:cubicBezTo>
                  <a:pt x="1449909" y="1190070"/>
                  <a:pt x="1085647" y="1118994"/>
                  <a:pt x="714243" y="1185890"/>
                </a:cubicBezTo>
                <a:cubicBezTo>
                  <a:pt x="1121358" y="1353128"/>
                  <a:pt x="1567759" y="1344765"/>
                  <a:pt x="1967733" y="1537090"/>
                </a:cubicBezTo>
                <a:cubicBezTo>
                  <a:pt x="1953448" y="1603986"/>
                  <a:pt x="1860597" y="1574718"/>
                  <a:pt x="1857026" y="1675062"/>
                </a:cubicBezTo>
                <a:cubicBezTo>
                  <a:pt x="2067727" y="1779586"/>
                  <a:pt x="2321284" y="1708508"/>
                  <a:pt x="2542697" y="1863205"/>
                </a:cubicBezTo>
                <a:cubicBezTo>
                  <a:pt x="2414134" y="1934281"/>
                  <a:pt x="2296285" y="1817213"/>
                  <a:pt x="2174863" y="1884109"/>
                </a:cubicBezTo>
                <a:cubicBezTo>
                  <a:pt x="2214147" y="1984452"/>
                  <a:pt x="3992607" y="2603233"/>
                  <a:pt x="4314015" y="2670128"/>
                </a:cubicBezTo>
                <a:cubicBezTo>
                  <a:pt x="4559090" y="2721868"/>
                  <a:pt x="4976921" y="2803592"/>
                  <a:pt x="5430784" y="2889725"/>
                </a:cubicBezTo>
                <a:cubicBezTo>
                  <a:pt x="5827914" y="2965093"/>
                  <a:pt x="6252633" y="3043836"/>
                  <a:pt x="6613344" y="3108822"/>
                </a:cubicBez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Τίτλος 1"/>
          <p:cNvSpPr>
            <a:spLocks noGrp="1"/>
          </p:cNvSpPr>
          <p:nvPr>
            <p:ph type="ctrTitle"/>
          </p:nvPr>
        </p:nvSpPr>
        <p:spPr>
          <a:xfrm>
            <a:off x="838200" y="937845"/>
            <a:ext cx="6696453" cy="3643679"/>
          </a:xfrm>
        </p:spPr>
        <p:txBody>
          <a:bodyPr anchor="b">
            <a:normAutofit/>
          </a:bodyPr>
          <a:lstStyle/>
          <a:p>
            <a:r>
              <a:rPr lang="el-GR" sz="5100" b="1" dirty="0">
                <a:latin typeface="Times New Roman"/>
                <a:ea typeface="+mj-lt"/>
                <a:cs typeface="+mj-lt"/>
              </a:rPr>
              <a:t>Η ΕΚΠΑΙΔΕΥΤΙΚΗ ΧΡΗΣΗ ΤΗΣ ΡΟΜΠΟΤΙΚΗΣ ΣΤΗ ΔΕΥΤΕΡΟΒΑΘΜΙΑ ΕΚΠΑΙΔΕΥΣΗ </a:t>
            </a:r>
            <a:endParaRPr lang="el-GR" sz="5100" b="1" dirty="0">
              <a:latin typeface="Times New Roman"/>
              <a:cs typeface="Calibri Light"/>
            </a:endParaRPr>
          </a:p>
        </p:txBody>
      </p:sp>
      <p:sp>
        <p:nvSpPr>
          <p:cNvPr id="3" name="Υπότιτλος 2"/>
          <p:cNvSpPr>
            <a:spLocks noGrp="1"/>
          </p:cNvSpPr>
          <p:nvPr>
            <p:ph type="subTitle" idx="1"/>
          </p:nvPr>
        </p:nvSpPr>
        <p:spPr>
          <a:xfrm>
            <a:off x="6882064" y="5041616"/>
            <a:ext cx="4471736" cy="1246472"/>
          </a:xfrm>
        </p:spPr>
        <p:txBody>
          <a:bodyPr anchor="ctr">
            <a:normAutofit/>
          </a:bodyPr>
          <a:lstStyle/>
          <a:p>
            <a:pPr algn="r"/>
            <a:r>
              <a:rPr lang="el-GR"/>
              <a:t>ΟμΑΔΑ 20</a:t>
            </a:r>
          </a:p>
        </p:txBody>
      </p:sp>
      <p:sp>
        <p:nvSpPr>
          <p:cNvPr id="6" name="TextBox 5">
            <a:extLst>
              <a:ext uri="{FF2B5EF4-FFF2-40B4-BE49-F238E27FC236}">
                <a16:creationId xmlns:a16="http://schemas.microsoft.com/office/drawing/2014/main" id="{EE4E9FEB-932C-5AAF-DCBC-3385206ABF9D}"/>
              </a:ext>
            </a:extLst>
          </p:cNvPr>
          <p:cNvSpPr txBox="1"/>
          <p:nvPr/>
        </p:nvSpPr>
        <p:spPr>
          <a:xfrm>
            <a:off x="5010150" y="3486150"/>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Tree>
    <p:extLst>
      <p:ext uri="{BB962C8B-B14F-4D97-AF65-F5344CB8AC3E}">
        <p14:creationId xmlns:p14="http://schemas.microsoft.com/office/powerpoint/2010/main" val="2325122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accent1"/>
          </a:solidFill>
          <a:ln w="32707" cap="flat">
            <a:noFill/>
            <a:prstDash val="solid"/>
            <a:miter/>
          </a:ln>
        </p:spPr>
        <p:txBody>
          <a:bodyPr rtlCol="0" anchor="ctr"/>
          <a:lstStyle/>
          <a:p>
            <a:endParaRPr lang="en-US"/>
          </a:p>
        </p:txBody>
      </p:sp>
      <p:sp>
        <p:nvSpPr>
          <p:cNvPr id="2" name="Τίτλος 1">
            <a:extLst>
              <a:ext uri="{FF2B5EF4-FFF2-40B4-BE49-F238E27FC236}">
                <a16:creationId xmlns:a16="http://schemas.microsoft.com/office/drawing/2014/main" id="{0669ACB5-797D-E567-89FA-4D896CBBB41E}"/>
              </a:ext>
            </a:extLst>
          </p:cNvPr>
          <p:cNvSpPr>
            <a:spLocks noGrp="1"/>
          </p:cNvSpPr>
          <p:nvPr>
            <p:ph type="title"/>
          </p:nvPr>
        </p:nvSpPr>
        <p:spPr>
          <a:xfrm>
            <a:off x="838200" y="713312"/>
            <a:ext cx="3461084" cy="5431376"/>
          </a:xfrm>
        </p:spPr>
        <p:txBody>
          <a:bodyPr>
            <a:normAutofit/>
          </a:bodyPr>
          <a:lstStyle/>
          <a:p>
            <a:r>
              <a:rPr lang="el-GR" dirty="0">
                <a:solidFill>
                  <a:srgbClr val="FFFFFF"/>
                </a:solidFill>
                <a:latin typeface="Times New Roman"/>
                <a:ea typeface="+mj-lt"/>
                <a:cs typeface="+mj-lt"/>
              </a:rPr>
              <a:t>ΠΕΡΙΛΗΨΗ</a:t>
            </a:r>
            <a:endParaRPr lang="el-GR">
              <a:solidFill>
                <a:srgbClr val="FFFFFF"/>
              </a:solidFill>
              <a:latin typeface="Times New Roman"/>
              <a:cs typeface="Times New Roman"/>
            </a:endParaRPr>
          </a:p>
        </p:txBody>
      </p:sp>
      <p:sp>
        <p:nvSpPr>
          <p:cNvPr id="3" name="Θέση περιεχομένου 2">
            <a:extLst>
              <a:ext uri="{FF2B5EF4-FFF2-40B4-BE49-F238E27FC236}">
                <a16:creationId xmlns:a16="http://schemas.microsoft.com/office/drawing/2014/main" id="{49B296BE-64FC-33BA-DF28-C855F8553B13}"/>
              </a:ext>
            </a:extLst>
          </p:cNvPr>
          <p:cNvSpPr>
            <a:spLocks noGrp="1"/>
          </p:cNvSpPr>
          <p:nvPr>
            <p:ph idx="1"/>
          </p:nvPr>
        </p:nvSpPr>
        <p:spPr>
          <a:xfrm>
            <a:off x="6095999" y="713313"/>
            <a:ext cx="5257801" cy="5431376"/>
          </a:xfrm>
        </p:spPr>
        <p:txBody>
          <a:bodyPr anchor="ctr">
            <a:normAutofit/>
          </a:bodyPr>
          <a:lstStyle/>
          <a:p>
            <a:r>
              <a:rPr lang="el-GR" sz="2000" dirty="0">
                <a:latin typeface="Times New Roman"/>
                <a:ea typeface="+mn-lt"/>
                <a:cs typeface="+mn-lt"/>
              </a:rPr>
              <a:t>Η ρομποτική συμβάλλει στο να γίνει η καθημερινότητα μας πιο εύκολη. Έτσι, βοηθά και το σχολείο αλλά και τα παιδιά στον τρόπο σκέψης και επίλυσης πολύπλοκων προβλημάτων</a:t>
            </a:r>
            <a:endParaRPr lang="el-GR" sz="2000" dirty="0">
              <a:latin typeface="Times New Roman"/>
              <a:cs typeface="Times New Roman"/>
            </a:endParaRPr>
          </a:p>
        </p:txBody>
      </p:sp>
    </p:spTree>
    <p:extLst>
      <p:ext uri="{BB962C8B-B14F-4D97-AF65-F5344CB8AC3E}">
        <p14:creationId xmlns:p14="http://schemas.microsoft.com/office/powerpoint/2010/main" val="2187992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accent1"/>
          </a:solidFill>
          <a:ln w="32707" cap="flat">
            <a:noFill/>
            <a:prstDash val="solid"/>
            <a:miter/>
          </a:ln>
        </p:spPr>
        <p:txBody>
          <a:bodyPr rtlCol="0" anchor="ctr"/>
          <a:lstStyle/>
          <a:p>
            <a:endParaRPr lang="en-US"/>
          </a:p>
        </p:txBody>
      </p:sp>
      <p:sp>
        <p:nvSpPr>
          <p:cNvPr id="2" name="Τίτλος 1">
            <a:extLst>
              <a:ext uri="{FF2B5EF4-FFF2-40B4-BE49-F238E27FC236}">
                <a16:creationId xmlns:a16="http://schemas.microsoft.com/office/drawing/2014/main" id="{EE5FDD70-8540-C028-E574-0D558236F8C8}"/>
              </a:ext>
            </a:extLst>
          </p:cNvPr>
          <p:cNvSpPr>
            <a:spLocks noGrp="1"/>
          </p:cNvSpPr>
          <p:nvPr>
            <p:ph type="title"/>
          </p:nvPr>
        </p:nvSpPr>
        <p:spPr>
          <a:xfrm>
            <a:off x="838200" y="713312"/>
            <a:ext cx="3461084" cy="5431376"/>
          </a:xfrm>
        </p:spPr>
        <p:txBody>
          <a:bodyPr>
            <a:normAutofit/>
          </a:bodyPr>
          <a:lstStyle/>
          <a:p>
            <a:r>
              <a:rPr lang="el-GR" dirty="0">
                <a:solidFill>
                  <a:srgbClr val="FFFFFF"/>
                </a:solidFill>
                <a:latin typeface="Times New Roman"/>
                <a:cs typeface="Times New Roman"/>
              </a:rPr>
              <a:t>ΠΕΡΙΛΗΨΗ</a:t>
            </a:r>
          </a:p>
        </p:txBody>
      </p:sp>
      <p:sp>
        <p:nvSpPr>
          <p:cNvPr id="3" name="Θέση περιεχομένου 2">
            <a:extLst>
              <a:ext uri="{FF2B5EF4-FFF2-40B4-BE49-F238E27FC236}">
                <a16:creationId xmlns:a16="http://schemas.microsoft.com/office/drawing/2014/main" id="{79A51C77-5239-CDA9-7E5C-61B49AEF4C62}"/>
              </a:ext>
            </a:extLst>
          </p:cNvPr>
          <p:cNvSpPr>
            <a:spLocks noGrp="1"/>
          </p:cNvSpPr>
          <p:nvPr>
            <p:ph idx="1"/>
          </p:nvPr>
        </p:nvSpPr>
        <p:spPr>
          <a:xfrm>
            <a:off x="6095999" y="713313"/>
            <a:ext cx="5257801" cy="5431376"/>
          </a:xfrm>
        </p:spPr>
        <p:txBody>
          <a:bodyPr anchor="ctr">
            <a:normAutofit/>
          </a:bodyPr>
          <a:lstStyle/>
          <a:p>
            <a:r>
              <a:rPr lang="el-GR" sz="2000" dirty="0">
                <a:latin typeface="Times New Roman"/>
                <a:ea typeface="+mn-lt"/>
                <a:cs typeface="+mn-lt"/>
              </a:rPr>
              <a:t>Χρησιμοποιώντας ρομπότ στην τάξη, οι δάσκαλοι μπορούν να αναπτύξουν τουλάχιστον δύο βασικές δεξιότητες για το ψηφιακό μέλλον με αυτόν τον τρόπο και οι μαθητές μπορούν να μάθουν τόσο τα βασικά του προγραμματισμού όσο και τα βασικά της ρομποτικής. </a:t>
            </a:r>
            <a:endParaRPr lang="el-GR" sz="2000">
              <a:latin typeface="Times New Roman"/>
              <a:cs typeface="Times New Roman"/>
            </a:endParaRPr>
          </a:p>
        </p:txBody>
      </p:sp>
    </p:spTree>
    <p:extLst>
      <p:ext uri="{BB962C8B-B14F-4D97-AF65-F5344CB8AC3E}">
        <p14:creationId xmlns:p14="http://schemas.microsoft.com/office/powerpoint/2010/main" val="1309841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accent1"/>
          </a:solidFill>
          <a:ln w="32707" cap="flat">
            <a:noFill/>
            <a:prstDash val="solid"/>
            <a:miter/>
          </a:ln>
        </p:spPr>
        <p:txBody>
          <a:bodyPr rtlCol="0" anchor="ctr"/>
          <a:lstStyle/>
          <a:p>
            <a:endParaRPr lang="en-US"/>
          </a:p>
        </p:txBody>
      </p:sp>
      <p:sp>
        <p:nvSpPr>
          <p:cNvPr id="2" name="Τίτλος 1">
            <a:extLst>
              <a:ext uri="{FF2B5EF4-FFF2-40B4-BE49-F238E27FC236}">
                <a16:creationId xmlns:a16="http://schemas.microsoft.com/office/drawing/2014/main" id="{000BBFB0-A162-6DBC-E0E5-29A6C36E3EDA}"/>
              </a:ext>
            </a:extLst>
          </p:cNvPr>
          <p:cNvSpPr>
            <a:spLocks noGrp="1"/>
          </p:cNvSpPr>
          <p:nvPr>
            <p:ph type="title"/>
          </p:nvPr>
        </p:nvSpPr>
        <p:spPr>
          <a:xfrm>
            <a:off x="838200" y="713312"/>
            <a:ext cx="3461084" cy="5431376"/>
          </a:xfrm>
        </p:spPr>
        <p:txBody>
          <a:bodyPr>
            <a:normAutofit/>
          </a:bodyPr>
          <a:lstStyle/>
          <a:p>
            <a:r>
              <a:rPr lang="el-GR" dirty="0">
                <a:solidFill>
                  <a:srgbClr val="FFFFFF"/>
                </a:solidFill>
                <a:latin typeface="Times New Roman"/>
                <a:cs typeface="Times New Roman"/>
              </a:rPr>
              <a:t>ΠΕΡΙΛΗΨΗ</a:t>
            </a:r>
          </a:p>
        </p:txBody>
      </p:sp>
      <p:sp>
        <p:nvSpPr>
          <p:cNvPr id="3" name="Θέση περιεχομένου 2">
            <a:extLst>
              <a:ext uri="{FF2B5EF4-FFF2-40B4-BE49-F238E27FC236}">
                <a16:creationId xmlns:a16="http://schemas.microsoft.com/office/drawing/2014/main" id="{AC5F7791-E82C-48A6-68A0-D420858FAC1F}"/>
              </a:ext>
            </a:extLst>
          </p:cNvPr>
          <p:cNvSpPr>
            <a:spLocks noGrp="1"/>
          </p:cNvSpPr>
          <p:nvPr>
            <p:ph idx="1"/>
          </p:nvPr>
        </p:nvSpPr>
        <p:spPr>
          <a:xfrm>
            <a:off x="6095999" y="713313"/>
            <a:ext cx="5257801" cy="5431376"/>
          </a:xfrm>
        </p:spPr>
        <p:txBody>
          <a:bodyPr anchor="ctr">
            <a:normAutofit/>
          </a:bodyPr>
          <a:lstStyle/>
          <a:p>
            <a:r>
              <a:rPr lang="el-GR" sz="2000" dirty="0">
                <a:latin typeface="Times New Roman"/>
                <a:cs typeface="Times New Roman"/>
              </a:rPr>
              <a:t>Ταυτόχρονα, τα ρομπότ αντιπροσωπεύουν μια συναρπαστική και εξαιρετικά παρακινητική νέα ευκαιρία διδασκαλίας. Οι δάσκαλοι που θέλουν να ενσωματώσουν τη χρήση ρομπότ στην καθημερινή τους σχολική ζωή έχουν πλέον πολλές επιλογές</a:t>
            </a:r>
          </a:p>
        </p:txBody>
      </p:sp>
    </p:spTree>
    <p:extLst>
      <p:ext uri="{BB962C8B-B14F-4D97-AF65-F5344CB8AC3E}">
        <p14:creationId xmlns:p14="http://schemas.microsoft.com/office/powerpoint/2010/main" val="3285300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717E5B-2C1D-4094-9D25-6FF6FBD92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5070" y="1834243"/>
            <a:ext cx="3781618" cy="3189514"/>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Τίτλος 1">
            <a:extLst>
              <a:ext uri="{FF2B5EF4-FFF2-40B4-BE49-F238E27FC236}">
                <a16:creationId xmlns:a16="http://schemas.microsoft.com/office/drawing/2014/main" id="{72A7986B-24A2-2808-991D-502722F47BA6}"/>
              </a:ext>
            </a:extLst>
          </p:cNvPr>
          <p:cNvSpPr>
            <a:spLocks noGrp="1"/>
          </p:cNvSpPr>
          <p:nvPr>
            <p:ph type="title"/>
          </p:nvPr>
        </p:nvSpPr>
        <p:spPr>
          <a:xfrm>
            <a:off x="960510" y="2785830"/>
            <a:ext cx="3010737" cy="1765613"/>
          </a:xfrm>
        </p:spPr>
        <p:txBody>
          <a:bodyPr>
            <a:normAutofit/>
          </a:bodyPr>
          <a:lstStyle/>
          <a:p>
            <a:pPr algn="ctr"/>
            <a:r>
              <a:rPr lang="el-GR" sz="3200" dirty="0">
                <a:solidFill>
                  <a:srgbClr val="FFFFFF"/>
                </a:solidFill>
                <a:latin typeface="Times New Roman"/>
                <a:cs typeface="Times New Roman"/>
              </a:rPr>
              <a:t>ΣΚΟΠΟΣ ΤΗΣ ΕΡΓΑΣΙΑΣ</a:t>
            </a:r>
          </a:p>
        </p:txBody>
      </p:sp>
      <p:sp>
        <p:nvSpPr>
          <p:cNvPr id="3" name="Θέση περιεχομένου 2">
            <a:extLst>
              <a:ext uri="{FF2B5EF4-FFF2-40B4-BE49-F238E27FC236}">
                <a16:creationId xmlns:a16="http://schemas.microsoft.com/office/drawing/2014/main" id="{F8434F3F-8D84-038B-5958-64FDBA660D72}"/>
              </a:ext>
            </a:extLst>
          </p:cNvPr>
          <p:cNvSpPr>
            <a:spLocks noGrp="1"/>
          </p:cNvSpPr>
          <p:nvPr>
            <p:ph idx="1"/>
          </p:nvPr>
        </p:nvSpPr>
        <p:spPr>
          <a:xfrm>
            <a:off x="5285014" y="964850"/>
            <a:ext cx="6068786" cy="4928300"/>
          </a:xfrm>
        </p:spPr>
        <p:txBody>
          <a:bodyPr anchor="ctr">
            <a:normAutofit/>
          </a:bodyPr>
          <a:lstStyle/>
          <a:p>
            <a:r>
              <a:rPr lang="el-GR" sz="2000" dirty="0">
                <a:latin typeface="Times New Roman"/>
                <a:ea typeface="+mn-lt"/>
                <a:cs typeface="+mn-lt"/>
              </a:rPr>
              <a:t>Σκοπός της εργασίας είναι οι εκπαιδευτικοί να δουν τα θετικά και τα αρνητικά της χρήσης ρομποτικής στην εκπαίδευση και να αποφασίσουν για το αν θέλουν να το εντάξουν μέσα στην τάξη τους</a:t>
            </a:r>
            <a:endParaRPr lang="el-GR" sz="2000">
              <a:latin typeface="Times New Roman"/>
              <a:cs typeface="Times New Roman"/>
            </a:endParaRPr>
          </a:p>
        </p:txBody>
      </p:sp>
    </p:spTree>
    <p:extLst>
      <p:ext uri="{BB962C8B-B14F-4D97-AF65-F5344CB8AC3E}">
        <p14:creationId xmlns:p14="http://schemas.microsoft.com/office/powerpoint/2010/main" val="1098996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6CBE28F-D100-E8F9-4CB2-A73CA8469537}"/>
              </a:ext>
            </a:extLst>
          </p:cNvPr>
          <p:cNvSpPr>
            <a:spLocks noGrp="1"/>
          </p:cNvSpPr>
          <p:nvPr>
            <p:ph type="title"/>
          </p:nvPr>
        </p:nvSpPr>
        <p:spPr/>
        <p:txBody>
          <a:bodyPr/>
          <a:lstStyle/>
          <a:p>
            <a:pPr algn="ctr"/>
            <a:r>
              <a:rPr lang="el-GR" dirty="0">
                <a:latin typeface="Times New Roman"/>
                <a:cs typeface="Times New Roman"/>
              </a:rPr>
              <a:t>Η τεχνολογία στην εκπαίδευση</a:t>
            </a:r>
          </a:p>
        </p:txBody>
      </p:sp>
      <p:sp>
        <p:nvSpPr>
          <p:cNvPr id="3" name="Θέση περιεχομένου 2">
            <a:extLst>
              <a:ext uri="{FF2B5EF4-FFF2-40B4-BE49-F238E27FC236}">
                <a16:creationId xmlns:a16="http://schemas.microsoft.com/office/drawing/2014/main" id="{B9EF0327-9760-75B8-8E20-C6545D478FCF}"/>
              </a:ext>
            </a:extLst>
          </p:cNvPr>
          <p:cNvSpPr>
            <a:spLocks noGrp="1"/>
          </p:cNvSpPr>
          <p:nvPr>
            <p:ph idx="1"/>
          </p:nvPr>
        </p:nvSpPr>
        <p:spPr/>
        <p:txBody>
          <a:bodyPr vert="horz" lIns="91440" tIns="45720" rIns="91440" bIns="45720" rtlCol="0" anchor="t">
            <a:normAutofit lnSpcReduction="10000"/>
          </a:bodyPr>
          <a:lstStyle/>
          <a:p>
            <a:r>
              <a:rPr lang="el-GR" dirty="0">
                <a:latin typeface="Times New Roman"/>
                <a:cs typeface="Times New Roman"/>
              </a:rPr>
              <a:t>Τα τελευταία χρόνια η πληροφορική και οι τεχνολογίες της έχουν γίνει αναπόσπαστο κομμάτι της εκπαιδευτικής </a:t>
            </a:r>
            <a:r>
              <a:rPr lang="el-GR" dirty="0">
                <a:latin typeface="Times New Roman"/>
                <a:ea typeface="+mn-lt"/>
                <a:cs typeface="Times New Roman"/>
              </a:rPr>
              <a:t>διαδικασίας </a:t>
            </a:r>
            <a:r>
              <a:rPr lang="el-GR" dirty="0">
                <a:latin typeface="Times New Roman"/>
                <a:cs typeface="Times New Roman"/>
              </a:rPr>
              <a:t>σε όλες τις βαθμίδες εκπαίδευσης. Από τις πιο απλές εφαρμογές επεξεργασίας εγγράφων, έως τις πλατφόρμες σύγχρονης και ασύγχρονης τηλεκπαίδευσης, οι τεχνολογίες αυτές προστίθενται στα εκπαιδευτικά εργαλεία διαμορφώνοντας την διαδικασία της μάθησης πιο ελκυστική, αποτελεσματική και άμεση. Η ενσωμάτωση καινοτομιών στην δευτεροβάθμια εκπαίδευση συνήθως κινεί το ενδιαφέρον της εκπαιδευτικής κοινότητας, δημιουργεί υψηλές προσδοκίες για τα επερχόμενα αποτελέσματα θέτοντας ταυτόχρονα και υψηλούς στόχους</a:t>
            </a:r>
            <a:endParaRPr lang="el-GR">
              <a:latin typeface="Times New Roman"/>
              <a:cs typeface="Times New Roman"/>
            </a:endParaRPr>
          </a:p>
          <a:p>
            <a:endParaRPr lang="el-GR" dirty="0">
              <a:latin typeface="Times New Roman"/>
              <a:cs typeface="Times New Roman"/>
            </a:endParaRPr>
          </a:p>
          <a:p>
            <a:endParaRPr lang="el-GR" dirty="0">
              <a:latin typeface="Times New Roman"/>
              <a:cs typeface="Times New Roman"/>
            </a:endParaRPr>
          </a:p>
        </p:txBody>
      </p:sp>
    </p:spTree>
    <p:extLst>
      <p:ext uri="{BB962C8B-B14F-4D97-AF65-F5344CB8AC3E}">
        <p14:creationId xmlns:p14="http://schemas.microsoft.com/office/powerpoint/2010/main" val="4293939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C0D30E0-1AD2-4234-12E0-D9BF35B43774}"/>
              </a:ext>
            </a:extLst>
          </p:cNvPr>
          <p:cNvSpPr>
            <a:spLocks noGrp="1"/>
          </p:cNvSpPr>
          <p:nvPr>
            <p:ph type="title"/>
          </p:nvPr>
        </p:nvSpPr>
        <p:spPr/>
        <p:txBody>
          <a:bodyPr vert="horz" lIns="91440" tIns="45720" rIns="91440" bIns="45720" rtlCol="0" anchor="ctr">
            <a:normAutofit/>
          </a:bodyPr>
          <a:lstStyle/>
          <a:p>
            <a:pPr algn="ctr"/>
            <a:r>
              <a:rPr lang="el-GR" dirty="0">
                <a:latin typeface="Times New Roman"/>
                <a:cs typeface="Times New Roman"/>
              </a:rPr>
              <a:t>Εκπαιδευτική Ρομποτική</a:t>
            </a:r>
          </a:p>
        </p:txBody>
      </p:sp>
      <p:sp>
        <p:nvSpPr>
          <p:cNvPr id="3" name="Θέση περιεχομένου 2">
            <a:extLst>
              <a:ext uri="{FF2B5EF4-FFF2-40B4-BE49-F238E27FC236}">
                <a16:creationId xmlns:a16="http://schemas.microsoft.com/office/drawing/2014/main" id="{18CFF201-336D-27EB-07E7-026C10A2D041}"/>
              </a:ext>
            </a:extLst>
          </p:cNvPr>
          <p:cNvSpPr>
            <a:spLocks noGrp="1"/>
          </p:cNvSpPr>
          <p:nvPr>
            <p:ph idx="1"/>
          </p:nvPr>
        </p:nvSpPr>
        <p:spPr/>
        <p:txBody>
          <a:bodyPr vert="horz" lIns="91440" tIns="45720" rIns="91440" bIns="45720" rtlCol="0" anchor="t">
            <a:normAutofit lnSpcReduction="10000"/>
          </a:bodyPr>
          <a:lstStyle/>
          <a:p>
            <a:r>
              <a:rPr lang="el-GR" dirty="0">
                <a:latin typeface="Times New Roman"/>
                <a:cs typeface="Times New Roman"/>
              </a:rPr>
              <a:t>Η εκπαιδευτική ρομποτική </a:t>
            </a:r>
            <a:r>
              <a:rPr lang="el-GR" dirty="0">
                <a:latin typeface="Times New Roman"/>
                <a:ea typeface="+mn-lt"/>
                <a:cs typeface="+mn-lt"/>
              </a:rPr>
              <a:t>αποτελεί έναν επιστημονικό κλάδο ο οποίος ασχολείται με την κατασκευή, τον προγραμματισμό και την αξιοποίηση των ρομπότ σε εκπαιδευτικό επίπεδο.</a:t>
            </a:r>
            <a:r>
              <a:rPr lang="el-GR" dirty="0">
                <a:latin typeface="Times New Roman"/>
                <a:cs typeface="Times New Roman"/>
              </a:rPr>
              <a:t> Ο όρος της αναφέρεται στη διδακτική πρακτική που τη χαρακτηρίζει, η οποία διαμορφώνει ένα μαθησιακό περιβάλλον που μπορεί και υποστηρίζει τη μάθηση και την ανάπτυξη σύγχρονων ικανοτήτων για τους μαθητές, απαραίτητων στον 21ο αιώνα </a:t>
            </a:r>
          </a:p>
          <a:p>
            <a:r>
              <a:rPr lang="el-GR" dirty="0">
                <a:latin typeface="Times New Roman"/>
                <a:cs typeface="Times New Roman"/>
              </a:rPr>
              <a:t>Διαγωνισμοί ρομποτικής: First </a:t>
            </a:r>
            <a:r>
              <a:rPr lang="el-GR" dirty="0" err="1">
                <a:latin typeface="Times New Roman"/>
                <a:cs typeface="Times New Roman"/>
              </a:rPr>
              <a:t>Lego</a:t>
            </a:r>
            <a:r>
              <a:rPr lang="el-GR" dirty="0">
                <a:latin typeface="Times New Roman"/>
                <a:cs typeface="Times New Roman"/>
              </a:rPr>
              <a:t> </a:t>
            </a:r>
            <a:r>
              <a:rPr lang="el-GR" dirty="0" err="1">
                <a:latin typeface="Times New Roman"/>
                <a:cs typeface="Times New Roman"/>
              </a:rPr>
              <a:t>League</a:t>
            </a:r>
            <a:r>
              <a:rPr lang="el-GR" dirty="0">
                <a:latin typeface="Times New Roman"/>
                <a:cs typeface="Times New Roman"/>
              </a:rPr>
              <a:t> </a:t>
            </a:r>
            <a:r>
              <a:rPr lang="el-GR" dirty="0" err="1">
                <a:latin typeface="Times New Roman"/>
                <a:cs typeface="Times New Roman"/>
              </a:rPr>
              <a:t>Explore</a:t>
            </a:r>
            <a:r>
              <a:rPr lang="el-GR" dirty="0">
                <a:latin typeface="Times New Roman"/>
                <a:cs typeface="Times New Roman"/>
              </a:rPr>
              <a:t> (Διεθνής), </a:t>
            </a:r>
            <a:r>
              <a:rPr lang="el-GR" dirty="0">
                <a:latin typeface="Times New Roman"/>
                <a:ea typeface="+mn-lt"/>
                <a:cs typeface="+mn-lt"/>
              </a:rPr>
              <a:t>Παγκόσμια Ολυμπιάδα Ρομποτικής WRO (Διεθνής), Πανελλήνιος Διαγωνισμός Ρομποτικής WRO </a:t>
            </a:r>
            <a:r>
              <a:rPr lang="el-GR" dirty="0" err="1">
                <a:latin typeface="Times New Roman"/>
                <a:ea typeface="+mn-lt"/>
                <a:cs typeface="+mn-lt"/>
              </a:rPr>
              <a:t>Hellas</a:t>
            </a:r>
            <a:r>
              <a:rPr lang="el-GR" dirty="0">
                <a:latin typeface="Times New Roman"/>
                <a:ea typeface="+mn-lt"/>
                <a:cs typeface="+mn-lt"/>
              </a:rPr>
              <a:t> (Εγχώριος)</a:t>
            </a:r>
            <a:endParaRPr lang="el-GR" dirty="0">
              <a:latin typeface="Times New Roman"/>
              <a:ea typeface="+mn-lt"/>
              <a:cs typeface="Times New Roman"/>
            </a:endParaRPr>
          </a:p>
          <a:p>
            <a:endParaRPr lang="el-GR" dirty="0">
              <a:latin typeface="Times New Roman"/>
              <a:cs typeface="Times New Roman"/>
            </a:endParaRPr>
          </a:p>
          <a:p>
            <a:endParaRPr lang="el-GR" dirty="0">
              <a:latin typeface="Times New Roman"/>
              <a:cs typeface="Times New Roman"/>
            </a:endParaRPr>
          </a:p>
        </p:txBody>
      </p:sp>
    </p:spTree>
    <p:extLst>
      <p:ext uri="{BB962C8B-B14F-4D97-AF65-F5344CB8AC3E}">
        <p14:creationId xmlns:p14="http://schemas.microsoft.com/office/powerpoint/2010/main" val="2369248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0EED73-1494-4E89-869B-E501A02B24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9D7A3A2-205A-4FD7-89D2-24FA8A54EA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934" y="0"/>
            <a:ext cx="11377066" cy="4001047"/>
          </a:xfrm>
          <a:custGeom>
            <a:avLst/>
            <a:gdLst>
              <a:gd name="connsiteX0" fmla="*/ 914840 w 11377066"/>
              <a:gd name="connsiteY0" fmla="*/ 0 h 3343806"/>
              <a:gd name="connsiteX1" fmla="*/ 11365513 w 11377066"/>
              <a:gd name="connsiteY1" fmla="*/ 0 h 3343806"/>
              <a:gd name="connsiteX2" fmla="*/ 11365513 w 11377066"/>
              <a:gd name="connsiteY2" fmla="*/ 846735 h 3343806"/>
              <a:gd name="connsiteX3" fmla="*/ 11050704 w 11377066"/>
              <a:gd name="connsiteY3" fmla="*/ 1046017 h 3343806"/>
              <a:gd name="connsiteX4" fmla="*/ 11195112 w 11377066"/>
              <a:gd name="connsiteY4" fmla="*/ 1103780 h 3343806"/>
              <a:gd name="connsiteX5" fmla="*/ 10553944 w 11377066"/>
              <a:gd name="connsiteY5" fmla="*/ 1441695 h 3343806"/>
              <a:gd name="connsiteX6" fmla="*/ 11148902 w 11377066"/>
              <a:gd name="connsiteY6" fmla="*/ 1383932 h 3343806"/>
              <a:gd name="connsiteX7" fmla="*/ 11117132 w 11377066"/>
              <a:gd name="connsiteY7" fmla="*/ 1430142 h 3343806"/>
              <a:gd name="connsiteX8" fmla="*/ 11085363 w 11377066"/>
              <a:gd name="connsiteY8" fmla="*/ 1476352 h 3343806"/>
              <a:gd name="connsiteX9" fmla="*/ 11365513 w 11377066"/>
              <a:gd name="connsiteY9" fmla="*/ 1447471 h 3343806"/>
              <a:gd name="connsiteX10" fmla="*/ 11365513 w 11377066"/>
              <a:gd name="connsiteY10" fmla="*/ 1496569 h 3343806"/>
              <a:gd name="connsiteX11" fmla="*/ 11278869 w 11377066"/>
              <a:gd name="connsiteY11" fmla="*/ 1554332 h 3343806"/>
              <a:gd name="connsiteX12" fmla="*/ 11365513 w 11377066"/>
              <a:gd name="connsiteY12" fmla="*/ 1539891 h 3343806"/>
              <a:gd name="connsiteX13" fmla="*/ 11377066 w 11377066"/>
              <a:gd name="connsiteY13" fmla="*/ 1539891 h 3343806"/>
              <a:gd name="connsiteX14" fmla="*/ 11377066 w 11377066"/>
              <a:gd name="connsiteY14" fmla="*/ 1765167 h 3343806"/>
              <a:gd name="connsiteX15" fmla="*/ 4624577 w 11377066"/>
              <a:gd name="connsiteY15" fmla="*/ 3342096 h 3343806"/>
              <a:gd name="connsiteX16" fmla="*/ 4000738 w 11377066"/>
              <a:gd name="connsiteY16" fmla="*/ 3313214 h 3343806"/>
              <a:gd name="connsiteX17" fmla="*/ 3853443 w 11377066"/>
              <a:gd name="connsiteY17" fmla="*/ 3217905 h 3343806"/>
              <a:gd name="connsiteX18" fmla="*/ 4003625 w 11377066"/>
              <a:gd name="connsiteY18" fmla="*/ 3171695 h 3343806"/>
              <a:gd name="connsiteX19" fmla="*/ 4465729 w 11377066"/>
              <a:gd name="connsiteY19" fmla="*/ 3024399 h 3343806"/>
              <a:gd name="connsiteX20" fmla="*/ 4015179 w 11377066"/>
              <a:gd name="connsiteY20" fmla="*/ 3047505 h 3343806"/>
              <a:gd name="connsiteX21" fmla="*/ 4656346 w 11377066"/>
              <a:gd name="connsiteY21" fmla="*/ 2926202 h 3343806"/>
              <a:gd name="connsiteX22" fmla="*/ 4841188 w 11377066"/>
              <a:gd name="connsiteY22" fmla="*/ 2862663 h 3343806"/>
              <a:gd name="connsiteX23" fmla="*/ 4659236 w 11377066"/>
              <a:gd name="connsiteY23" fmla="*/ 2836670 h 3343806"/>
              <a:gd name="connsiteX24" fmla="*/ 3778351 w 11377066"/>
              <a:gd name="connsiteY24" fmla="*/ 2914650 h 3343806"/>
              <a:gd name="connsiteX25" fmla="*/ 3694595 w 11377066"/>
              <a:gd name="connsiteY25" fmla="*/ 2923314 h 3343806"/>
              <a:gd name="connsiteX26" fmla="*/ 3119852 w 11377066"/>
              <a:gd name="connsiteY26" fmla="*/ 2862663 h 3343806"/>
              <a:gd name="connsiteX27" fmla="*/ 3440437 w 11377066"/>
              <a:gd name="connsiteY27" fmla="*/ 2799124 h 3343806"/>
              <a:gd name="connsiteX28" fmla="*/ 3070753 w 11377066"/>
              <a:gd name="connsiteY28" fmla="*/ 2761578 h 3343806"/>
              <a:gd name="connsiteX29" fmla="*/ 2623091 w 11377066"/>
              <a:gd name="connsiteY29" fmla="*/ 2726920 h 3343806"/>
              <a:gd name="connsiteX30" fmla="*/ 2160987 w 11377066"/>
              <a:gd name="connsiteY30" fmla="*/ 2611394 h 3343806"/>
              <a:gd name="connsiteX31" fmla="*/ 1837515 w 11377066"/>
              <a:gd name="connsiteY31" fmla="*/ 2573848 h 3343806"/>
              <a:gd name="connsiteX32" fmla="*/ 1869284 w 11377066"/>
              <a:gd name="connsiteY32" fmla="*/ 2472763 h 3343806"/>
              <a:gd name="connsiteX33" fmla="*/ 1808633 w 11377066"/>
              <a:gd name="connsiteY33" fmla="*/ 2386119 h 3343806"/>
              <a:gd name="connsiteX34" fmla="*/ 2354493 w 11377066"/>
              <a:gd name="connsiteY34" fmla="*/ 2342797 h 3343806"/>
              <a:gd name="connsiteX35" fmla="*/ 2146546 w 11377066"/>
              <a:gd name="connsiteY35" fmla="*/ 2328356 h 3343806"/>
              <a:gd name="connsiteX36" fmla="*/ 2054126 w 11377066"/>
              <a:gd name="connsiteY36" fmla="*/ 2285034 h 3343806"/>
              <a:gd name="connsiteX37" fmla="*/ 2132106 w 11377066"/>
              <a:gd name="connsiteY37" fmla="*/ 2238823 h 3343806"/>
              <a:gd name="connsiteX38" fmla="*/ 2478684 w 11377066"/>
              <a:gd name="connsiteY38" fmla="*/ 2085751 h 3343806"/>
              <a:gd name="connsiteX39" fmla="*/ 1511154 w 11377066"/>
              <a:gd name="connsiteY39" fmla="*/ 2094416 h 3343806"/>
              <a:gd name="connsiteX40" fmla="*/ 1638232 w 11377066"/>
              <a:gd name="connsiteY40" fmla="*/ 2042429 h 3343806"/>
              <a:gd name="connsiteX41" fmla="*/ 2972556 w 11377066"/>
              <a:gd name="connsiteY41" fmla="*/ 1718957 h 3343806"/>
              <a:gd name="connsiteX42" fmla="*/ 3238266 w 11377066"/>
              <a:gd name="connsiteY42" fmla="*/ 1678523 h 3343806"/>
              <a:gd name="connsiteX43" fmla="*/ 2522005 w 11377066"/>
              <a:gd name="connsiteY43" fmla="*/ 1664082 h 3343806"/>
              <a:gd name="connsiteX44" fmla="*/ 1421621 w 11377066"/>
              <a:gd name="connsiteY44" fmla="*/ 1522563 h 3343806"/>
              <a:gd name="connsiteX45" fmla="*/ 1525595 w 11377066"/>
              <a:gd name="connsiteY45" fmla="*/ 1392596 h 3343806"/>
              <a:gd name="connsiteX46" fmla="*/ 982623 w 11377066"/>
              <a:gd name="connsiteY46" fmla="*/ 1415701 h 3343806"/>
              <a:gd name="connsiteX47" fmla="*/ 1231003 w 11377066"/>
              <a:gd name="connsiteY47" fmla="*/ 1314616 h 3343806"/>
              <a:gd name="connsiteX48" fmla="*/ 1025945 w 11377066"/>
              <a:gd name="connsiteY48" fmla="*/ 1297287 h 3343806"/>
              <a:gd name="connsiteX49" fmla="*/ 841104 w 11377066"/>
              <a:gd name="connsiteY49" fmla="*/ 1225083 h 3343806"/>
              <a:gd name="connsiteX50" fmla="*/ 1612239 w 11377066"/>
              <a:gd name="connsiteY50" fmla="*/ 1112445 h 3343806"/>
              <a:gd name="connsiteX51" fmla="*/ 1814409 w 11377066"/>
              <a:gd name="connsiteY51" fmla="*/ 1008471 h 3343806"/>
              <a:gd name="connsiteX52" fmla="*/ 1932824 w 11377066"/>
              <a:gd name="connsiteY52" fmla="*/ 979590 h 3343806"/>
              <a:gd name="connsiteX53" fmla="*/ 2083007 w 11377066"/>
              <a:gd name="connsiteY53" fmla="*/ 936268 h 3343806"/>
              <a:gd name="connsiteX54" fmla="*/ 1947265 w 11377066"/>
              <a:gd name="connsiteY54" fmla="*/ 924715 h 3343806"/>
              <a:gd name="connsiteX55" fmla="*/ 1271438 w 11377066"/>
              <a:gd name="connsiteY55" fmla="*/ 895834 h 3343806"/>
              <a:gd name="connsiteX56" fmla="*/ 659150 w 11377066"/>
              <a:gd name="connsiteY56" fmla="*/ 907386 h 3343806"/>
              <a:gd name="connsiteX57" fmla="*/ 780453 w 11377066"/>
              <a:gd name="connsiteY57" fmla="*/ 846735 h 3343806"/>
              <a:gd name="connsiteX58" fmla="*/ 841104 w 11377066"/>
              <a:gd name="connsiteY58" fmla="*/ 788972 h 3343806"/>
              <a:gd name="connsiteX59" fmla="*/ 448316 w 11377066"/>
              <a:gd name="connsiteY59" fmla="*/ 659006 h 3343806"/>
              <a:gd name="connsiteX60" fmla="*/ 910419 w 11377066"/>
              <a:gd name="connsiteY60" fmla="*/ 569473 h 3343806"/>
              <a:gd name="connsiteX61" fmla="*/ 604275 w 11377066"/>
              <a:gd name="connsiteY61" fmla="*/ 514598 h 3343806"/>
              <a:gd name="connsiteX62" fmla="*/ 15093 w 11377066"/>
              <a:gd name="connsiteY62" fmla="*/ 352862 h 3343806"/>
              <a:gd name="connsiteX63" fmla="*/ 430987 w 11377066"/>
              <a:gd name="connsiteY63" fmla="*/ 136251 h 3343806"/>
              <a:gd name="connsiteX64" fmla="*/ 874092 w 11377066"/>
              <a:gd name="connsiteY64" fmla="*/ 17656 h 334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1377066" h="3343806">
                <a:moveTo>
                  <a:pt x="914840" y="0"/>
                </a:moveTo>
                <a:lnTo>
                  <a:pt x="11365513" y="0"/>
                </a:lnTo>
                <a:lnTo>
                  <a:pt x="11365513" y="846735"/>
                </a:lnTo>
                <a:cubicBezTo>
                  <a:pt x="11273092" y="924715"/>
                  <a:pt x="11163343" y="985366"/>
                  <a:pt x="11050704" y="1046017"/>
                </a:cubicBezTo>
                <a:cubicBezTo>
                  <a:pt x="11088251" y="1089339"/>
                  <a:pt x="11169119" y="1037353"/>
                  <a:pt x="11195112" y="1103780"/>
                </a:cubicBezTo>
                <a:cubicBezTo>
                  <a:pt x="10987166" y="1216419"/>
                  <a:pt x="10796548" y="1357938"/>
                  <a:pt x="10553944" y="1441695"/>
                </a:cubicBezTo>
                <a:cubicBezTo>
                  <a:pt x="10753226" y="1381043"/>
                  <a:pt x="10952508" y="1409925"/>
                  <a:pt x="11148902" y="1383932"/>
                </a:cubicBezTo>
                <a:cubicBezTo>
                  <a:pt x="11174895" y="1418589"/>
                  <a:pt x="11131573" y="1418589"/>
                  <a:pt x="11117132" y="1430142"/>
                </a:cubicBezTo>
                <a:cubicBezTo>
                  <a:pt x="11102692" y="1441695"/>
                  <a:pt x="11082474" y="1450359"/>
                  <a:pt x="11085363" y="1476352"/>
                </a:cubicBezTo>
                <a:cubicBezTo>
                  <a:pt x="11174895" y="1487905"/>
                  <a:pt x="11273092" y="1447471"/>
                  <a:pt x="11365513" y="1447471"/>
                </a:cubicBezTo>
                <a:lnTo>
                  <a:pt x="11365513" y="1496569"/>
                </a:lnTo>
                <a:cubicBezTo>
                  <a:pt x="11333743" y="1513898"/>
                  <a:pt x="11293310" y="1519674"/>
                  <a:pt x="11278869" y="1554332"/>
                </a:cubicBezTo>
                <a:cubicBezTo>
                  <a:pt x="11307750" y="1548556"/>
                  <a:pt x="11336632" y="1545668"/>
                  <a:pt x="11365513" y="1539891"/>
                </a:cubicBezTo>
                <a:lnTo>
                  <a:pt x="11377066" y="1539891"/>
                </a:lnTo>
                <a:lnTo>
                  <a:pt x="11377066" y="1765167"/>
                </a:lnTo>
                <a:cubicBezTo>
                  <a:pt x="9482441" y="3362313"/>
                  <a:pt x="4945162" y="3324767"/>
                  <a:pt x="4624577" y="3342096"/>
                </a:cubicBezTo>
                <a:cubicBezTo>
                  <a:pt x="4523492" y="3347872"/>
                  <a:pt x="4098935" y="3339207"/>
                  <a:pt x="4000738" y="3313214"/>
                </a:cubicBezTo>
                <a:cubicBezTo>
                  <a:pt x="3867883" y="3281444"/>
                  <a:pt x="3853443" y="3217905"/>
                  <a:pt x="3853443" y="3217905"/>
                </a:cubicBezTo>
                <a:cubicBezTo>
                  <a:pt x="3853443" y="3217905"/>
                  <a:pt x="3919869" y="3191912"/>
                  <a:pt x="4003625" y="3171695"/>
                </a:cubicBezTo>
                <a:cubicBezTo>
                  <a:pt x="4165361" y="3131261"/>
                  <a:pt x="4298217" y="3056169"/>
                  <a:pt x="4465729" y="3024399"/>
                </a:cubicBezTo>
                <a:cubicBezTo>
                  <a:pt x="4315546" y="3033064"/>
                  <a:pt x="4165361" y="3038840"/>
                  <a:pt x="4015179" y="3047505"/>
                </a:cubicBezTo>
                <a:cubicBezTo>
                  <a:pt x="4223124" y="2969524"/>
                  <a:pt x="4442625" y="2957972"/>
                  <a:pt x="4656346" y="2926202"/>
                </a:cubicBezTo>
                <a:cubicBezTo>
                  <a:pt x="4725662" y="2917538"/>
                  <a:pt x="4841188" y="2943531"/>
                  <a:pt x="4841188" y="2862663"/>
                </a:cubicBezTo>
                <a:cubicBezTo>
                  <a:pt x="4838300" y="2810676"/>
                  <a:pt x="4725662" y="2833782"/>
                  <a:pt x="4659236" y="2836670"/>
                </a:cubicBezTo>
                <a:cubicBezTo>
                  <a:pt x="4364644" y="2845334"/>
                  <a:pt x="4072941" y="2882880"/>
                  <a:pt x="3778351" y="2914650"/>
                </a:cubicBezTo>
                <a:cubicBezTo>
                  <a:pt x="3749468" y="2917538"/>
                  <a:pt x="3714811" y="2931979"/>
                  <a:pt x="3694595" y="2923314"/>
                </a:cubicBezTo>
                <a:cubicBezTo>
                  <a:pt x="3527082" y="2865551"/>
                  <a:pt x="3336463" y="2879992"/>
                  <a:pt x="3119852" y="2862663"/>
                </a:cubicBezTo>
                <a:cubicBezTo>
                  <a:pt x="3238266" y="2796236"/>
                  <a:pt x="3339351" y="2842446"/>
                  <a:pt x="3440437" y="2799124"/>
                </a:cubicBezTo>
                <a:cubicBezTo>
                  <a:pt x="3316246" y="2752913"/>
                  <a:pt x="3189168" y="2773131"/>
                  <a:pt x="3070753" y="2761578"/>
                </a:cubicBezTo>
                <a:cubicBezTo>
                  <a:pt x="2984109" y="2752913"/>
                  <a:pt x="2672189" y="2741361"/>
                  <a:pt x="2623091" y="2726920"/>
                </a:cubicBezTo>
                <a:cubicBezTo>
                  <a:pt x="2472907" y="2683598"/>
                  <a:pt x="2293842" y="2689374"/>
                  <a:pt x="2160987" y="2611394"/>
                </a:cubicBezTo>
                <a:cubicBezTo>
                  <a:pt x="2065678" y="2556519"/>
                  <a:pt x="1938600" y="2602730"/>
                  <a:pt x="1837515" y="2573848"/>
                </a:cubicBezTo>
                <a:cubicBezTo>
                  <a:pt x="1794192" y="2533414"/>
                  <a:pt x="1854843" y="2504533"/>
                  <a:pt x="1869284" y="2472763"/>
                </a:cubicBezTo>
                <a:cubicBezTo>
                  <a:pt x="1889502" y="2432329"/>
                  <a:pt x="1834626" y="2423665"/>
                  <a:pt x="1808633" y="2386119"/>
                </a:cubicBezTo>
                <a:cubicBezTo>
                  <a:pt x="1987698" y="2389007"/>
                  <a:pt x="2158099" y="2377454"/>
                  <a:pt x="2354493" y="2342797"/>
                </a:cubicBezTo>
                <a:cubicBezTo>
                  <a:pt x="2273625" y="2290810"/>
                  <a:pt x="2204309" y="2339908"/>
                  <a:pt x="2146546" y="2328356"/>
                </a:cubicBezTo>
                <a:cubicBezTo>
                  <a:pt x="2106113" y="2319691"/>
                  <a:pt x="2054126" y="2328356"/>
                  <a:pt x="2054126" y="2285034"/>
                </a:cubicBezTo>
                <a:cubicBezTo>
                  <a:pt x="2054126" y="2250376"/>
                  <a:pt x="2100336" y="2244599"/>
                  <a:pt x="2132106" y="2238823"/>
                </a:cubicBezTo>
                <a:cubicBezTo>
                  <a:pt x="2256296" y="2218606"/>
                  <a:pt x="2377599" y="2192613"/>
                  <a:pt x="2478684" y="2085751"/>
                </a:cubicBezTo>
                <a:cubicBezTo>
                  <a:pt x="2152323" y="2051094"/>
                  <a:pt x="1817297" y="2186837"/>
                  <a:pt x="1511154" y="2094416"/>
                </a:cubicBezTo>
                <a:cubicBezTo>
                  <a:pt x="1537147" y="2033765"/>
                  <a:pt x="1597798" y="2045317"/>
                  <a:pt x="1638232" y="2042429"/>
                </a:cubicBezTo>
                <a:cubicBezTo>
                  <a:pt x="1909718" y="2016436"/>
                  <a:pt x="2825261" y="1701628"/>
                  <a:pt x="2972556" y="1718957"/>
                </a:cubicBezTo>
                <a:cubicBezTo>
                  <a:pt x="3062089" y="1727621"/>
                  <a:pt x="3154510" y="1721845"/>
                  <a:pt x="3238266" y="1678523"/>
                </a:cubicBezTo>
                <a:cubicBezTo>
                  <a:pt x="3339351" y="1626536"/>
                  <a:pt x="2695295" y="1736286"/>
                  <a:pt x="2522005" y="1664082"/>
                </a:cubicBezTo>
                <a:cubicBezTo>
                  <a:pt x="2438249" y="1629424"/>
                  <a:pt x="1730654" y="1528339"/>
                  <a:pt x="1421621" y="1522563"/>
                </a:cubicBezTo>
                <a:cubicBezTo>
                  <a:pt x="1450503" y="1467688"/>
                  <a:pt x="1557364" y="1470576"/>
                  <a:pt x="1525595" y="1392596"/>
                </a:cubicBezTo>
                <a:cubicBezTo>
                  <a:pt x="1358082" y="1386820"/>
                  <a:pt x="1179017" y="1435918"/>
                  <a:pt x="982623" y="1415701"/>
                </a:cubicBezTo>
                <a:cubicBezTo>
                  <a:pt x="1051938" y="1346386"/>
                  <a:pt x="1153023" y="1352162"/>
                  <a:pt x="1231003" y="1314616"/>
                </a:cubicBezTo>
                <a:cubicBezTo>
                  <a:pt x="1170352" y="1262629"/>
                  <a:pt x="1095261" y="1294399"/>
                  <a:pt x="1025945" y="1297287"/>
                </a:cubicBezTo>
                <a:cubicBezTo>
                  <a:pt x="965294" y="1300175"/>
                  <a:pt x="812222" y="1227972"/>
                  <a:pt x="841104" y="1225083"/>
                </a:cubicBezTo>
                <a:cubicBezTo>
                  <a:pt x="1101037" y="1207755"/>
                  <a:pt x="1352306" y="1129775"/>
                  <a:pt x="1612239" y="1112445"/>
                </a:cubicBezTo>
                <a:cubicBezTo>
                  <a:pt x="1698883" y="1106668"/>
                  <a:pt x="1797081" y="1112445"/>
                  <a:pt x="1814409" y="1008471"/>
                </a:cubicBezTo>
                <a:cubicBezTo>
                  <a:pt x="1817297" y="979590"/>
                  <a:pt x="1808633" y="973814"/>
                  <a:pt x="1932824" y="979590"/>
                </a:cubicBezTo>
                <a:cubicBezTo>
                  <a:pt x="1981922" y="982478"/>
                  <a:pt x="2045461" y="982478"/>
                  <a:pt x="2083007" y="936268"/>
                </a:cubicBezTo>
                <a:cubicBezTo>
                  <a:pt x="2045461" y="898722"/>
                  <a:pt x="1990587" y="927603"/>
                  <a:pt x="1947265" y="924715"/>
                </a:cubicBezTo>
                <a:cubicBezTo>
                  <a:pt x="1828850" y="921827"/>
                  <a:pt x="1386963" y="904498"/>
                  <a:pt x="1271438" y="895834"/>
                </a:cubicBezTo>
                <a:cubicBezTo>
                  <a:pt x="1031721" y="875617"/>
                  <a:pt x="901755" y="933380"/>
                  <a:pt x="659150" y="907386"/>
                </a:cubicBezTo>
                <a:cubicBezTo>
                  <a:pt x="734242" y="890057"/>
                  <a:pt x="705361" y="866952"/>
                  <a:pt x="780453" y="846735"/>
                </a:cubicBezTo>
                <a:cubicBezTo>
                  <a:pt x="815110" y="838071"/>
                  <a:pt x="849768" y="820742"/>
                  <a:pt x="841104" y="788972"/>
                </a:cubicBezTo>
                <a:cubicBezTo>
                  <a:pt x="835327" y="757202"/>
                  <a:pt x="396329" y="690775"/>
                  <a:pt x="448316" y="659006"/>
                </a:cubicBezTo>
                <a:cubicBezTo>
                  <a:pt x="592723" y="575249"/>
                  <a:pt x="1020169" y="607019"/>
                  <a:pt x="910419" y="569473"/>
                </a:cubicBezTo>
                <a:cubicBezTo>
                  <a:pt x="742907" y="511710"/>
                  <a:pt x="716913" y="500157"/>
                  <a:pt x="604275" y="514598"/>
                </a:cubicBezTo>
                <a:cubicBezTo>
                  <a:pt x="506079" y="529039"/>
                  <a:pt x="113290" y="349974"/>
                  <a:pt x="15093" y="352862"/>
                </a:cubicBezTo>
                <a:cubicBezTo>
                  <a:pt x="-71551" y="352862"/>
                  <a:pt x="234593" y="211343"/>
                  <a:pt x="430987" y="136251"/>
                </a:cubicBezTo>
                <a:cubicBezTo>
                  <a:pt x="571784" y="82098"/>
                  <a:pt x="732076" y="70184"/>
                  <a:pt x="874092" y="17656"/>
                </a:cubicBezTo>
                <a:close/>
              </a:path>
            </a:pathLst>
          </a:custGeom>
          <a:solidFill>
            <a:schemeClr val="accent1">
              <a:alpha val="15000"/>
            </a:schemeClr>
          </a:solidFill>
          <a:ln w="32707" cap="flat">
            <a:noFill/>
            <a:prstDash val="solid"/>
            <a:miter/>
          </a:ln>
        </p:spPr>
        <p:txBody>
          <a:bodyPr wrap="square" rtlCol="0" anchor="ctr">
            <a:noAutofit/>
          </a:bodyPr>
          <a:lstStyle/>
          <a:p>
            <a:endParaRPr lang="en-US">
              <a:solidFill>
                <a:schemeClr val="tx1"/>
              </a:solidFill>
            </a:endParaRPr>
          </a:p>
        </p:txBody>
      </p:sp>
      <p:sp>
        <p:nvSpPr>
          <p:cNvPr id="2" name="Τίτλος 1">
            <a:extLst>
              <a:ext uri="{FF2B5EF4-FFF2-40B4-BE49-F238E27FC236}">
                <a16:creationId xmlns:a16="http://schemas.microsoft.com/office/drawing/2014/main" id="{F5555872-9629-76D2-8A0C-D86DD2AB372B}"/>
              </a:ext>
            </a:extLst>
          </p:cNvPr>
          <p:cNvSpPr>
            <a:spLocks noGrp="1"/>
          </p:cNvSpPr>
          <p:nvPr>
            <p:ph type="title"/>
          </p:nvPr>
        </p:nvSpPr>
        <p:spPr>
          <a:xfrm>
            <a:off x="905483" y="2215503"/>
            <a:ext cx="4482111" cy="3527214"/>
          </a:xfrm>
        </p:spPr>
        <p:txBody>
          <a:bodyPr anchor="t">
            <a:normAutofit/>
          </a:bodyPr>
          <a:lstStyle/>
          <a:p>
            <a:r>
              <a:rPr lang="el-GR" dirty="0">
                <a:latin typeface="Times New Roman"/>
                <a:cs typeface="Times New Roman"/>
              </a:rPr>
              <a:t>Η πορεία </a:t>
            </a:r>
            <a:br>
              <a:rPr lang="el-GR" dirty="0">
                <a:latin typeface="Times New Roman"/>
              </a:rPr>
            </a:br>
            <a:r>
              <a:rPr lang="el-GR" dirty="0">
                <a:latin typeface="Times New Roman"/>
                <a:cs typeface="Times New Roman"/>
              </a:rPr>
              <a:t>της ρομποτικής στην Ελλάδα</a:t>
            </a:r>
          </a:p>
        </p:txBody>
      </p:sp>
      <p:sp>
        <p:nvSpPr>
          <p:cNvPr id="3" name="Θέση περιεχομένου 2">
            <a:extLst>
              <a:ext uri="{FF2B5EF4-FFF2-40B4-BE49-F238E27FC236}">
                <a16:creationId xmlns:a16="http://schemas.microsoft.com/office/drawing/2014/main" id="{1918D738-F3DF-878B-702D-DEFF01B4810F}"/>
              </a:ext>
            </a:extLst>
          </p:cNvPr>
          <p:cNvSpPr>
            <a:spLocks noGrp="1"/>
          </p:cNvSpPr>
          <p:nvPr>
            <p:ph idx="1"/>
          </p:nvPr>
        </p:nvSpPr>
        <p:spPr>
          <a:xfrm>
            <a:off x="6095997" y="2215503"/>
            <a:ext cx="5257804" cy="3929186"/>
          </a:xfrm>
        </p:spPr>
        <p:txBody>
          <a:bodyPr vert="horz" lIns="91440" tIns="45720" rIns="91440" bIns="45720" rtlCol="0" anchor="t">
            <a:normAutofit/>
          </a:bodyPr>
          <a:lstStyle/>
          <a:p>
            <a:r>
              <a:rPr lang="el-GR" sz="2400">
                <a:latin typeface="Times New Roman"/>
                <a:cs typeface="Times New Roman"/>
              </a:rPr>
              <a:t>Εισήχθη για πρώτη φορά στο ελληνικό εκπαιδευτικό σύστημα μέσω των Τεχνικών - Επαγγελματικών και Πολυκλαδικών Λυκείων το 1983 </a:t>
            </a:r>
          </a:p>
          <a:p>
            <a:r>
              <a:rPr lang="el-GR" sz="2400">
                <a:latin typeface="Times New Roman"/>
                <a:cs typeface="Times New Roman"/>
              </a:rPr>
              <a:t>Διευρύνθηκε στα Γυμνάσια το 1992</a:t>
            </a:r>
          </a:p>
          <a:p>
            <a:r>
              <a:rPr lang="el-GR" sz="2400">
                <a:latin typeface="Times New Roman"/>
                <a:cs typeface="Times New Roman"/>
              </a:rPr>
              <a:t>Από το 1998 και έπειτα προχώρησε στα Γενικά Λύκεια</a:t>
            </a:r>
          </a:p>
          <a:p>
            <a:endParaRPr lang="el-GR" sz="2000">
              <a:latin typeface="Times New Roman"/>
              <a:cs typeface="Times New Roman"/>
            </a:endParaRPr>
          </a:p>
          <a:p>
            <a:endParaRPr lang="el-GR" sz="2000">
              <a:latin typeface="Century Gothic"/>
              <a:cs typeface="Times New Roman"/>
            </a:endParaRPr>
          </a:p>
        </p:txBody>
      </p:sp>
      <p:sp>
        <p:nvSpPr>
          <p:cNvPr id="12" name="Freeform: Shape 11">
            <a:extLst>
              <a:ext uri="{FF2B5EF4-FFF2-40B4-BE49-F238E27FC236}">
                <a16:creationId xmlns:a16="http://schemas.microsoft.com/office/drawing/2014/main" id="{C6BFDF0B-6325-416D-926F-7141006D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93668" y="5127460"/>
            <a:ext cx="6498333" cy="1730540"/>
          </a:xfrm>
          <a:custGeom>
            <a:avLst/>
            <a:gdLst>
              <a:gd name="connsiteX0" fmla="*/ 2987112 w 6498333"/>
              <a:gd name="connsiteY0" fmla="*/ 1730384 h 1730540"/>
              <a:gd name="connsiteX1" fmla="*/ 3113423 w 6498333"/>
              <a:gd name="connsiteY1" fmla="*/ 1728494 h 1730540"/>
              <a:gd name="connsiteX2" fmla="*/ 6436159 w 6498333"/>
              <a:gd name="connsiteY2" fmla="*/ 1396018 h 1730540"/>
              <a:gd name="connsiteX3" fmla="*/ 6498333 w 6498333"/>
              <a:gd name="connsiteY3" fmla="*/ 1381988 h 1730540"/>
              <a:gd name="connsiteX4" fmla="*/ 6498333 w 6498333"/>
              <a:gd name="connsiteY4" fmla="*/ 0 h 1730540"/>
              <a:gd name="connsiteX5" fmla="*/ 723703 w 6498333"/>
              <a:gd name="connsiteY5" fmla="*/ 0 h 1730540"/>
              <a:gd name="connsiteX6" fmla="*/ 629735 w 6498333"/>
              <a:gd name="connsiteY6" fmla="*/ 31770 h 1730540"/>
              <a:gd name="connsiteX7" fmla="*/ 127078 w 6498333"/>
              <a:gd name="connsiteY7" fmla="*/ 173371 h 1730540"/>
              <a:gd name="connsiteX8" fmla="*/ 0 w 6498333"/>
              <a:gd name="connsiteY8" fmla="*/ 235577 h 1730540"/>
              <a:gd name="connsiteX9" fmla="*/ 967530 w 6498333"/>
              <a:gd name="connsiteY9" fmla="*/ 225208 h 1730540"/>
              <a:gd name="connsiteX10" fmla="*/ 620954 w 6498333"/>
              <a:gd name="connsiteY10" fmla="*/ 408367 h 1730540"/>
              <a:gd name="connsiteX11" fmla="*/ 542972 w 6498333"/>
              <a:gd name="connsiteY11" fmla="*/ 463661 h 1730540"/>
              <a:gd name="connsiteX12" fmla="*/ 635392 w 6498333"/>
              <a:gd name="connsiteY12" fmla="*/ 515499 h 1730540"/>
              <a:gd name="connsiteX13" fmla="*/ 843339 w 6498333"/>
              <a:gd name="connsiteY13" fmla="*/ 532778 h 1730540"/>
              <a:gd name="connsiteX14" fmla="*/ 297479 w 6498333"/>
              <a:gd name="connsiteY14" fmla="*/ 584615 h 1730540"/>
              <a:gd name="connsiteX15" fmla="*/ 358130 w 6498333"/>
              <a:gd name="connsiteY15" fmla="*/ 688289 h 1730540"/>
              <a:gd name="connsiteX16" fmla="*/ 326361 w 6498333"/>
              <a:gd name="connsiteY16" fmla="*/ 809243 h 1730540"/>
              <a:gd name="connsiteX17" fmla="*/ 649833 w 6498333"/>
              <a:gd name="connsiteY17" fmla="*/ 854169 h 1730540"/>
              <a:gd name="connsiteX18" fmla="*/ 1111937 w 6498333"/>
              <a:gd name="connsiteY18" fmla="*/ 992402 h 1730540"/>
              <a:gd name="connsiteX19" fmla="*/ 1559599 w 6498333"/>
              <a:gd name="connsiteY19" fmla="*/ 1033872 h 1730540"/>
              <a:gd name="connsiteX20" fmla="*/ 1929284 w 6498333"/>
              <a:gd name="connsiteY20" fmla="*/ 1078798 h 1730540"/>
              <a:gd name="connsiteX21" fmla="*/ 1608698 w 6498333"/>
              <a:gd name="connsiteY21" fmla="*/ 1154826 h 1730540"/>
              <a:gd name="connsiteX22" fmla="*/ 2183442 w 6498333"/>
              <a:gd name="connsiteY22" fmla="*/ 1227398 h 1730540"/>
              <a:gd name="connsiteX23" fmla="*/ 2267197 w 6498333"/>
              <a:gd name="connsiteY23" fmla="*/ 1217031 h 1730540"/>
              <a:gd name="connsiteX24" fmla="*/ 3148082 w 6498333"/>
              <a:gd name="connsiteY24" fmla="*/ 1123724 h 1730540"/>
              <a:gd name="connsiteX25" fmla="*/ 3330034 w 6498333"/>
              <a:gd name="connsiteY25" fmla="*/ 1154826 h 1730540"/>
              <a:gd name="connsiteX26" fmla="*/ 3145192 w 6498333"/>
              <a:gd name="connsiteY26" fmla="*/ 1230854 h 1730540"/>
              <a:gd name="connsiteX27" fmla="*/ 2504025 w 6498333"/>
              <a:gd name="connsiteY27" fmla="*/ 1376000 h 1730540"/>
              <a:gd name="connsiteX28" fmla="*/ 2954575 w 6498333"/>
              <a:gd name="connsiteY28" fmla="*/ 1348352 h 1730540"/>
              <a:gd name="connsiteX29" fmla="*/ 2492471 w 6498333"/>
              <a:gd name="connsiteY29" fmla="*/ 1524600 h 1730540"/>
              <a:gd name="connsiteX30" fmla="*/ 2342289 w 6498333"/>
              <a:gd name="connsiteY30" fmla="*/ 1579893 h 1730540"/>
              <a:gd name="connsiteX31" fmla="*/ 2489584 w 6498333"/>
              <a:gd name="connsiteY31" fmla="*/ 1693935 h 1730540"/>
              <a:gd name="connsiteX32" fmla="*/ 2987112 w 6498333"/>
              <a:gd name="connsiteY32" fmla="*/ 1730384 h 173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498333" h="1730540">
                <a:moveTo>
                  <a:pt x="2987112" y="1730384"/>
                </a:moveTo>
                <a:cubicBezTo>
                  <a:pt x="3042664" y="1730870"/>
                  <a:pt x="3088152" y="1730222"/>
                  <a:pt x="3113423" y="1728494"/>
                </a:cubicBezTo>
                <a:cubicBezTo>
                  <a:pt x="3293752" y="1716831"/>
                  <a:pt x="4808270" y="1725943"/>
                  <a:pt x="6436159" y="1396018"/>
                </a:cubicBezTo>
                <a:lnTo>
                  <a:pt x="6498333" y="1381988"/>
                </a:lnTo>
                <a:lnTo>
                  <a:pt x="6498333" y="0"/>
                </a:lnTo>
                <a:lnTo>
                  <a:pt x="723703" y="0"/>
                </a:lnTo>
                <a:lnTo>
                  <a:pt x="629735" y="31770"/>
                </a:lnTo>
                <a:cubicBezTo>
                  <a:pt x="421263" y="101447"/>
                  <a:pt x="228886" y="161708"/>
                  <a:pt x="127078" y="173371"/>
                </a:cubicBezTo>
                <a:cubicBezTo>
                  <a:pt x="86644" y="176827"/>
                  <a:pt x="25993" y="163004"/>
                  <a:pt x="0" y="235577"/>
                </a:cubicBezTo>
                <a:cubicBezTo>
                  <a:pt x="306144" y="346163"/>
                  <a:pt x="641170" y="183739"/>
                  <a:pt x="967530" y="225208"/>
                </a:cubicBezTo>
                <a:cubicBezTo>
                  <a:pt x="866445" y="353075"/>
                  <a:pt x="745142" y="384177"/>
                  <a:pt x="620954" y="408367"/>
                </a:cubicBezTo>
                <a:cubicBezTo>
                  <a:pt x="589182" y="415279"/>
                  <a:pt x="542972" y="422191"/>
                  <a:pt x="542972" y="463661"/>
                </a:cubicBezTo>
                <a:cubicBezTo>
                  <a:pt x="542972" y="515499"/>
                  <a:pt x="594959" y="505130"/>
                  <a:pt x="635392" y="515499"/>
                </a:cubicBezTo>
                <a:cubicBezTo>
                  <a:pt x="693155" y="529321"/>
                  <a:pt x="762471" y="470573"/>
                  <a:pt x="843339" y="532778"/>
                </a:cubicBezTo>
                <a:cubicBezTo>
                  <a:pt x="646945" y="574247"/>
                  <a:pt x="476544" y="588071"/>
                  <a:pt x="297479" y="584615"/>
                </a:cubicBezTo>
                <a:cubicBezTo>
                  <a:pt x="323472" y="629541"/>
                  <a:pt x="378348" y="639908"/>
                  <a:pt x="358130" y="688289"/>
                </a:cubicBezTo>
                <a:cubicBezTo>
                  <a:pt x="343689" y="726304"/>
                  <a:pt x="283038" y="760862"/>
                  <a:pt x="326361" y="809243"/>
                </a:cubicBezTo>
                <a:cubicBezTo>
                  <a:pt x="427447" y="843802"/>
                  <a:pt x="554524" y="788508"/>
                  <a:pt x="649833" y="854169"/>
                </a:cubicBezTo>
                <a:cubicBezTo>
                  <a:pt x="782688" y="947476"/>
                  <a:pt x="961753" y="940565"/>
                  <a:pt x="1111937" y="992402"/>
                </a:cubicBezTo>
                <a:cubicBezTo>
                  <a:pt x="1161035" y="1009682"/>
                  <a:pt x="1472955" y="1023504"/>
                  <a:pt x="1559599" y="1033872"/>
                </a:cubicBezTo>
                <a:cubicBezTo>
                  <a:pt x="1678015" y="1047696"/>
                  <a:pt x="1805093" y="1023504"/>
                  <a:pt x="1929284" y="1078798"/>
                </a:cubicBezTo>
                <a:cubicBezTo>
                  <a:pt x="1828198" y="1130635"/>
                  <a:pt x="1727113" y="1075343"/>
                  <a:pt x="1608698" y="1154826"/>
                </a:cubicBezTo>
                <a:cubicBezTo>
                  <a:pt x="1825309" y="1175561"/>
                  <a:pt x="2015928" y="1158282"/>
                  <a:pt x="2183442" y="1227398"/>
                </a:cubicBezTo>
                <a:cubicBezTo>
                  <a:pt x="2203658" y="1237767"/>
                  <a:pt x="2238314" y="1220487"/>
                  <a:pt x="2267197" y="1217031"/>
                </a:cubicBezTo>
                <a:cubicBezTo>
                  <a:pt x="2561787" y="1179017"/>
                  <a:pt x="2853490" y="1134091"/>
                  <a:pt x="3148082" y="1123724"/>
                </a:cubicBezTo>
                <a:cubicBezTo>
                  <a:pt x="3214508" y="1120268"/>
                  <a:pt x="3327146" y="1092621"/>
                  <a:pt x="3330034" y="1154826"/>
                </a:cubicBezTo>
                <a:cubicBezTo>
                  <a:pt x="3330034" y="1251589"/>
                  <a:pt x="3214508" y="1220487"/>
                  <a:pt x="3145192" y="1230854"/>
                </a:cubicBezTo>
                <a:cubicBezTo>
                  <a:pt x="2931471" y="1268869"/>
                  <a:pt x="2711970" y="1282691"/>
                  <a:pt x="2504025" y="1376000"/>
                </a:cubicBezTo>
                <a:cubicBezTo>
                  <a:pt x="2654207" y="1365632"/>
                  <a:pt x="2804392" y="1358720"/>
                  <a:pt x="2954575" y="1348352"/>
                </a:cubicBezTo>
                <a:cubicBezTo>
                  <a:pt x="2787063" y="1386367"/>
                  <a:pt x="2654207" y="1476218"/>
                  <a:pt x="2492471" y="1524600"/>
                </a:cubicBezTo>
                <a:cubicBezTo>
                  <a:pt x="2408715" y="1548791"/>
                  <a:pt x="2342289" y="1579893"/>
                  <a:pt x="2342289" y="1579893"/>
                </a:cubicBezTo>
                <a:cubicBezTo>
                  <a:pt x="2342289" y="1579893"/>
                  <a:pt x="2356730" y="1655921"/>
                  <a:pt x="2489584" y="1693935"/>
                </a:cubicBezTo>
                <a:cubicBezTo>
                  <a:pt x="2563232" y="1717262"/>
                  <a:pt x="2820457" y="1728925"/>
                  <a:pt x="2987112" y="1730384"/>
                </a:cubicBezTo>
                <a:close/>
              </a:path>
            </a:pathLst>
          </a:custGeom>
          <a:solidFill>
            <a:schemeClr val="accent1">
              <a:alpha val="10000"/>
            </a:schemeClr>
          </a:solidFill>
          <a:ln w="32707" cap="flat">
            <a:noFill/>
            <a:prstDash val="solid"/>
            <a:miter/>
          </a:ln>
        </p:spPr>
        <p:txBody>
          <a:bodyPr wrap="square" rtlCol="0" anchor="ctr">
            <a:noAutofit/>
          </a:bodyPr>
          <a:lstStyle/>
          <a:p>
            <a:endParaRPr lang="en-US">
              <a:solidFill>
                <a:schemeClr val="tx1"/>
              </a:solidFill>
            </a:endParaRPr>
          </a:p>
        </p:txBody>
      </p:sp>
    </p:spTree>
    <p:extLst>
      <p:ext uri="{BB962C8B-B14F-4D97-AF65-F5344CB8AC3E}">
        <p14:creationId xmlns:p14="http://schemas.microsoft.com/office/powerpoint/2010/main" val="4126573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FF19D2B-F92D-16B3-8F44-521F1019EB22}"/>
              </a:ext>
            </a:extLst>
          </p:cNvPr>
          <p:cNvSpPr>
            <a:spLocks noGrp="1"/>
          </p:cNvSpPr>
          <p:nvPr>
            <p:ph type="title"/>
          </p:nvPr>
        </p:nvSpPr>
        <p:spPr/>
        <p:txBody>
          <a:bodyPr vert="horz" lIns="91440" tIns="45720" rIns="91440" bIns="45720" rtlCol="0" anchor="t">
            <a:normAutofit fontScale="90000"/>
          </a:bodyPr>
          <a:lstStyle/>
          <a:p>
            <a:r>
              <a:rPr lang="el-GR" dirty="0">
                <a:latin typeface="Times New Roman"/>
                <a:cs typeface="Times New Roman"/>
              </a:rPr>
              <a:t>Οργανισμοί και εταιρείες που υποστηρίζουν με δράσεις και συνεργασίες την εκπαιδευτική ρομποτική</a:t>
            </a:r>
          </a:p>
        </p:txBody>
      </p:sp>
      <p:sp>
        <p:nvSpPr>
          <p:cNvPr id="3" name="Θέση περιεχομένου 2">
            <a:extLst>
              <a:ext uri="{FF2B5EF4-FFF2-40B4-BE49-F238E27FC236}">
                <a16:creationId xmlns:a16="http://schemas.microsoft.com/office/drawing/2014/main" id="{3D56D5C0-D908-CCCD-F660-CFB70D71F5B9}"/>
              </a:ext>
            </a:extLst>
          </p:cNvPr>
          <p:cNvSpPr>
            <a:spLocks noGrp="1"/>
          </p:cNvSpPr>
          <p:nvPr>
            <p:ph idx="1"/>
          </p:nvPr>
        </p:nvSpPr>
        <p:spPr/>
        <p:txBody>
          <a:bodyPr vert="horz" lIns="91440" tIns="45720" rIns="91440" bIns="45720" rtlCol="0" anchor="t">
            <a:normAutofit/>
          </a:bodyPr>
          <a:lstStyle/>
          <a:p>
            <a:r>
              <a:rPr lang="el-GR" dirty="0">
                <a:latin typeface="Times New Roman"/>
                <a:cs typeface="Times New Roman"/>
              </a:rPr>
              <a:t>WRO </a:t>
            </a:r>
            <a:r>
              <a:rPr lang="el-GR" dirty="0" err="1">
                <a:latin typeface="Times New Roman"/>
                <a:cs typeface="Times New Roman"/>
              </a:rPr>
              <a:t>Hellas</a:t>
            </a:r>
            <a:endParaRPr lang="el-GR">
              <a:latin typeface="Times New Roman"/>
              <a:cs typeface="Times New Roman"/>
            </a:endParaRPr>
          </a:p>
          <a:p>
            <a:r>
              <a:rPr lang="el-GR" dirty="0">
                <a:latin typeface="Times New Roman"/>
                <a:cs typeface="Times New Roman"/>
              </a:rPr>
              <a:t>COSMOTE</a:t>
            </a:r>
          </a:p>
          <a:p>
            <a:r>
              <a:rPr lang="el-GR" dirty="0">
                <a:latin typeface="Times New Roman"/>
                <a:ea typeface="+mn-lt"/>
                <a:cs typeface="+mn-lt"/>
              </a:rPr>
              <a:t>Ελληνική Εκπαιδευτική Ένωση STEM</a:t>
            </a:r>
          </a:p>
          <a:p>
            <a:r>
              <a:rPr lang="el-GR" dirty="0">
                <a:latin typeface="Times New Roman"/>
                <a:ea typeface="+mn-lt"/>
                <a:cs typeface="+mn-lt"/>
              </a:rPr>
              <a:t>Οργανισμός Ανοιχτών Τεχνολογιών (ΕΕΛΛΑΚ)</a:t>
            </a:r>
          </a:p>
          <a:p>
            <a:r>
              <a:rPr lang="el-GR" dirty="0">
                <a:latin typeface="Times New Roman"/>
                <a:ea typeface="+mn-lt"/>
                <a:cs typeface="+mn-lt"/>
              </a:rPr>
              <a:t>Ένωση Πληροφορικών Ελλάδος</a:t>
            </a:r>
          </a:p>
          <a:p>
            <a:r>
              <a:rPr lang="el-GR" dirty="0" err="1">
                <a:latin typeface="Times New Roman"/>
                <a:ea typeface="+mn-lt"/>
                <a:cs typeface="+mn-lt"/>
              </a:rPr>
              <a:t>GUnet</a:t>
            </a:r>
            <a:endParaRPr lang="el-GR">
              <a:latin typeface="Times New Roman"/>
              <a:ea typeface="+mn-lt"/>
              <a:cs typeface="+mn-lt"/>
            </a:endParaRPr>
          </a:p>
          <a:p>
            <a:r>
              <a:rPr lang="el-GR" dirty="0">
                <a:latin typeface="Times New Roman"/>
                <a:ea typeface="+mn-lt"/>
                <a:cs typeface="+mn-lt"/>
              </a:rPr>
              <a:t>Κ.α.</a:t>
            </a:r>
          </a:p>
        </p:txBody>
      </p:sp>
    </p:spTree>
    <p:extLst>
      <p:ext uri="{BB962C8B-B14F-4D97-AF65-F5344CB8AC3E}">
        <p14:creationId xmlns:p14="http://schemas.microsoft.com/office/powerpoint/2010/main" val="3568812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62EBEE2-3AD6-77AE-AD72-5FEBC8AB926F}"/>
              </a:ext>
            </a:extLst>
          </p:cNvPr>
          <p:cNvSpPr>
            <a:spLocks noGrp="1"/>
          </p:cNvSpPr>
          <p:nvPr>
            <p:ph type="title"/>
          </p:nvPr>
        </p:nvSpPr>
        <p:spPr/>
        <p:txBody>
          <a:bodyPr vert="horz" lIns="91440" tIns="45720" rIns="91440" bIns="45720" rtlCol="0" anchor="t">
            <a:normAutofit/>
          </a:bodyPr>
          <a:lstStyle/>
          <a:p>
            <a:r>
              <a:rPr lang="el-GR" dirty="0">
                <a:latin typeface="Times New Roman"/>
                <a:cs typeface="Times New Roman"/>
              </a:rPr>
              <a:t>Θετικές επιδράσεις της εκπαιδευτικής ρομποτικής</a:t>
            </a:r>
          </a:p>
        </p:txBody>
      </p:sp>
      <p:sp>
        <p:nvSpPr>
          <p:cNvPr id="3" name="Θέση περιεχομένου 2">
            <a:extLst>
              <a:ext uri="{FF2B5EF4-FFF2-40B4-BE49-F238E27FC236}">
                <a16:creationId xmlns:a16="http://schemas.microsoft.com/office/drawing/2014/main" id="{328E55B1-5A13-3408-5E46-96F26134613E}"/>
              </a:ext>
            </a:extLst>
          </p:cNvPr>
          <p:cNvSpPr>
            <a:spLocks noGrp="1"/>
          </p:cNvSpPr>
          <p:nvPr>
            <p:ph idx="1"/>
          </p:nvPr>
        </p:nvSpPr>
        <p:spPr/>
        <p:txBody>
          <a:bodyPr vert="horz" lIns="91440" tIns="45720" rIns="91440" bIns="45720" rtlCol="0" anchor="t">
            <a:normAutofit fontScale="92500" lnSpcReduction="10000"/>
          </a:bodyPr>
          <a:lstStyle/>
          <a:p>
            <a:r>
              <a:rPr lang="el-GR">
                <a:latin typeface="Times New Roman"/>
                <a:cs typeface="Times New Roman"/>
              </a:rPr>
              <a:t>Πιο εύπεπτη, </a:t>
            </a:r>
            <a:r>
              <a:rPr lang="el-GR" err="1">
                <a:latin typeface="Times New Roman"/>
                <a:cs typeface="Times New Roman"/>
              </a:rPr>
              <a:t>διαδραστική</a:t>
            </a:r>
            <a:r>
              <a:rPr lang="el-GR">
                <a:latin typeface="Times New Roman"/>
                <a:cs typeface="Times New Roman"/>
              </a:rPr>
              <a:t> και ενδιαφέρουσα διαδικασία μάθησης καθιστώντας τα παιδιά πιο δεκτικά προς αυτή</a:t>
            </a:r>
          </a:p>
          <a:p>
            <a:r>
              <a:rPr lang="el-GR">
                <a:latin typeface="Times New Roman"/>
                <a:cs typeface="Times New Roman"/>
              </a:rPr>
              <a:t>Δημιουργικότητα</a:t>
            </a:r>
            <a:endParaRPr lang="el-GR"/>
          </a:p>
          <a:p>
            <a:r>
              <a:rPr lang="el-GR">
                <a:latin typeface="Times New Roman"/>
                <a:cs typeface="Times New Roman"/>
              </a:rPr>
              <a:t>Αναγνώριση και επίλυση προβλημάτων</a:t>
            </a:r>
            <a:endParaRPr lang="el-GR"/>
          </a:p>
          <a:p>
            <a:r>
              <a:rPr lang="el-GR">
                <a:latin typeface="Times New Roman"/>
                <a:cs typeface="Times New Roman"/>
              </a:rPr>
              <a:t>Επικοινωνία - Συνεργασία - Ομαδικότητα</a:t>
            </a:r>
            <a:endParaRPr lang="el-GR"/>
          </a:p>
          <a:p>
            <a:r>
              <a:rPr lang="el-GR">
                <a:latin typeface="Times New Roman"/>
                <a:cs typeface="Times New Roman"/>
              </a:rPr>
              <a:t>Λήψη αποφάσεων</a:t>
            </a:r>
            <a:endParaRPr lang="el-GR"/>
          </a:p>
          <a:p>
            <a:r>
              <a:rPr lang="el-GR">
                <a:latin typeface="Times New Roman"/>
                <a:cs typeface="Times New Roman"/>
              </a:rPr>
              <a:t>Ωθεί τα παιδιά στην ενασχόληση και πρακτική εφαρμογή επιστημών, όπως προγραμματισμός, μηχανική, φυσική</a:t>
            </a:r>
            <a:endParaRPr lang="el-GR"/>
          </a:p>
          <a:p>
            <a:r>
              <a:rPr lang="el-GR">
                <a:latin typeface="Times New Roman"/>
                <a:cs typeface="Times New Roman"/>
              </a:rPr>
              <a:t>Συμβάλλει στον επιστημονικό και τεχνολογικό αλφαβητισμό</a:t>
            </a:r>
          </a:p>
          <a:p>
            <a:endParaRPr lang="el-GR">
              <a:latin typeface="Times New Roman"/>
              <a:cs typeface="Times New Roman"/>
            </a:endParaRPr>
          </a:p>
          <a:p>
            <a:endParaRPr lang="el-GR"/>
          </a:p>
        </p:txBody>
      </p:sp>
    </p:spTree>
    <p:extLst>
      <p:ext uri="{BB962C8B-B14F-4D97-AF65-F5344CB8AC3E}">
        <p14:creationId xmlns:p14="http://schemas.microsoft.com/office/powerpoint/2010/main" val="805804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E92A846-084D-390A-5ED5-435BD42025C3}"/>
              </a:ext>
            </a:extLst>
          </p:cNvPr>
          <p:cNvSpPr>
            <a:spLocks noGrp="1"/>
          </p:cNvSpPr>
          <p:nvPr>
            <p:ph type="title"/>
          </p:nvPr>
        </p:nvSpPr>
        <p:spPr/>
        <p:txBody>
          <a:bodyPr vert="horz" lIns="91440" tIns="45720" rIns="91440" bIns="45720" rtlCol="0" anchor="t">
            <a:normAutofit/>
          </a:bodyPr>
          <a:lstStyle/>
          <a:p>
            <a:r>
              <a:rPr lang="el-GR" dirty="0">
                <a:latin typeface="Times New Roman"/>
                <a:ea typeface="+mj-lt"/>
                <a:cs typeface="+mj-lt"/>
              </a:rPr>
              <a:t>Αρνητικές επιδράσεις της εκπαιδευτικής ρομποτικής</a:t>
            </a:r>
            <a:endParaRPr lang="en-US" i="0">
              <a:latin typeface="Times New Roman"/>
              <a:ea typeface="+mj-lt"/>
              <a:cs typeface="+mj-lt"/>
            </a:endParaRPr>
          </a:p>
          <a:p>
            <a:endParaRPr lang="el-GR" dirty="0">
              <a:latin typeface="Times New Roman"/>
              <a:cs typeface="Times New Roman"/>
            </a:endParaRPr>
          </a:p>
        </p:txBody>
      </p:sp>
      <p:sp>
        <p:nvSpPr>
          <p:cNvPr id="3" name="Θέση περιεχομένου 2">
            <a:extLst>
              <a:ext uri="{FF2B5EF4-FFF2-40B4-BE49-F238E27FC236}">
                <a16:creationId xmlns:a16="http://schemas.microsoft.com/office/drawing/2014/main" id="{C54BB11A-9AEE-40D3-3A85-C26D5B1AAE05}"/>
              </a:ext>
            </a:extLst>
          </p:cNvPr>
          <p:cNvSpPr>
            <a:spLocks noGrp="1"/>
          </p:cNvSpPr>
          <p:nvPr>
            <p:ph idx="1"/>
          </p:nvPr>
        </p:nvSpPr>
        <p:spPr/>
        <p:txBody>
          <a:bodyPr vert="horz" lIns="91440" tIns="45720" rIns="91440" bIns="45720" rtlCol="0" anchor="t">
            <a:normAutofit lnSpcReduction="10000"/>
          </a:bodyPr>
          <a:lstStyle/>
          <a:p>
            <a:r>
              <a:rPr lang="el-GR">
                <a:solidFill>
                  <a:srgbClr val="000000"/>
                </a:solidFill>
                <a:latin typeface="Times New Roman"/>
                <a:cs typeface="Times New Roman"/>
              </a:rPr>
              <a:t>Κόστος</a:t>
            </a:r>
            <a:r>
              <a:rPr lang="el-GR">
                <a:latin typeface="Times New Roman"/>
                <a:cs typeface="Times New Roman"/>
              </a:rPr>
              <a:t> εξοπλισμού, εγκατάστασης, συντήρησης και επισκευής των ρομπότ και των εργαλείων που τα συνοδεύουν</a:t>
            </a:r>
            <a:endParaRPr lang="el-GR">
              <a:solidFill>
                <a:srgbClr val="000000"/>
              </a:solidFill>
              <a:latin typeface="Times New Roman"/>
              <a:cs typeface="Times New Roman"/>
            </a:endParaRPr>
          </a:p>
          <a:p>
            <a:r>
              <a:rPr lang="el-GR">
                <a:latin typeface="Times New Roman"/>
                <a:cs typeface="Times New Roman"/>
              </a:rPr>
              <a:t>Απαραίτητη στήριξη από το κράτος ή από οργανισμούς και ιδιωτικές εταιρείες</a:t>
            </a:r>
          </a:p>
          <a:p>
            <a:r>
              <a:rPr lang="el-GR">
                <a:latin typeface="Times New Roman"/>
                <a:cs typeface="Times New Roman"/>
              </a:rPr>
              <a:t>Εθισμός στην χρήση της τεχνολογίας και κατ’ επέκταση στην εξολοκλήρου εξάρτηση από αυτή</a:t>
            </a:r>
          </a:p>
          <a:p>
            <a:r>
              <a:rPr lang="el-GR">
                <a:latin typeface="Times New Roman"/>
                <a:cs typeface="Times New Roman"/>
              </a:rPr>
              <a:t>Απουσία εξειδικευμένου προσωπικού στη σχολική μονάδα</a:t>
            </a:r>
          </a:p>
          <a:p>
            <a:r>
              <a:rPr lang="el-GR">
                <a:latin typeface="Times New Roman"/>
                <a:cs typeface="Times New Roman"/>
              </a:rPr>
              <a:t>Έλλειψη προσωπικών συνδέσεων και σχέσεων οδηγώντας σε διόγκωση του προβλήματος της αποξένωσης</a:t>
            </a:r>
          </a:p>
          <a:p>
            <a:endParaRPr lang="el-GR">
              <a:latin typeface="Times New Roman"/>
              <a:cs typeface="Times New Roman"/>
            </a:endParaRPr>
          </a:p>
          <a:p>
            <a:endParaRPr lang="el-GR">
              <a:latin typeface="Times New Roman"/>
              <a:cs typeface="Times New Roman"/>
            </a:endParaRPr>
          </a:p>
          <a:p>
            <a:endParaRPr lang="el-GR">
              <a:latin typeface="Times New Roman"/>
              <a:cs typeface="Times New Roman"/>
            </a:endParaRPr>
          </a:p>
          <a:p>
            <a:endParaRPr lang="el-GR">
              <a:latin typeface="Times New Roman, sans-serif"/>
            </a:endParaRPr>
          </a:p>
        </p:txBody>
      </p:sp>
    </p:spTree>
    <p:extLst>
      <p:ext uri="{BB962C8B-B14F-4D97-AF65-F5344CB8AC3E}">
        <p14:creationId xmlns:p14="http://schemas.microsoft.com/office/powerpoint/2010/main" val="2260471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0EED73-1494-4E89-869B-E501A02B24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9D7A3A2-205A-4FD7-89D2-24FA8A54EA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934" y="0"/>
            <a:ext cx="11377066" cy="4001047"/>
          </a:xfrm>
          <a:custGeom>
            <a:avLst/>
            <a:gdLst>
              <a:gd name="connsiteX0" fmla="*/ 914840 w 11377066"/>
              <a:gd name="connsiteY0" fmla="*/ 0 h 3343806"/>
              <a:gd name="connsiteX1" fmla="*/ 11365513 w 11377066"/>
              <a:gd name="connsiteY1" fmla="*/ 0 h 3343806"/>
              <a:gd name="connsiteX2" fmla="*/ 11365513 w 11377066"/>
              <a:gd name="connsiteY2" fmla="*/ 846735 h 3343806"/>
              <a:gd name="connsiteX3" fmla="*/ 11050704 w 11377066"/>
              <a:gd name="connsiteY3" fmla="*/ 1046017 h 3343806"/>
              <a:gd name="connsiteX4" fmla="*/ 11195112 w 11377066"/>
              <a:gd name="connsiteY4" fmla="*/ 1103780 h 3343806"/>
              <a:gd name="connsiteX5" fmla="*/ 10553944 w 11377066"/>
              <a:gd name="connsiteY5" fmla="*/ 1441695 h 3343806"/>
              <a:gd name="connsiteX6" fmla="*/ 11148902 w 11377066"/>
              <a:gd name="connsiteY6" fmla="*/ 1383932 h 3343806"/>
              <a:gd name="connsiteX7" fmla="*/ 11117132 w 11377066"/>
              <a:gd name="connsiteY7" fmla="*/ 1430142 h 3343806"/>
              <a:gd name="connsiteX8" fmla="*/ 11085363 w 11377066"/>
              <a:gd name="connsiteY8" fmla="*/ 1476352 h 3343806"/>
              <a:gd name="connsiteX9" fmla="*/ 11365513 w 11377066"/>
              <a:gd name="connsiteY9" fmla="*/ 1447471 h 3343806"/>
              <a:gd name="connsiteX10" fmla="*/ 11365513 w 11377066"/>
              <a:gd name="connsiteY10" fmla="*/ 1496569 h 3343806"/>
              <a:gd name="connsiteX11" fmla="*/ 11278869 w 11377066"/>
              <a:gd name="connsiteY11" fmla="*/ 1554332 h 3343806"/>
              <a:gd name="connsiteX12" fmla="*/ 11365513 w 11377066"/>
              <a:gd name="connsiteY12" fmla="*/ 1539891 h 3343806"/>
              <a:gd name="connsiteX13" fmla="*/ 11377066 w 11377066"/>
              <a:gd name="connsiteY13" fmla="*/ 1539891 h 3343806"/>
              <a:gd name="connsiteX14" fmla="*/ 11377066 w 11377066"/>
              <a:gd name="connsiteY14" fmla="*/ 1765167 h 3343806"/>
              <a:gd name="connsiteX15" fmla="*/ 4624577 w 11377066"/>
              <a:gd name="connsiteY15" fmla="*/ 3342096 h 3343806"/>
              <a:gd name="connsiteX16" fmla="*/ 4000738 w 11377066"/>
              <a:gd name="connsiteY16" fmla="*/ 3313214 h 3343806"/>
              <a:gd name="connsiteX17" fmla="*/ 3853443 w 11377066"/>
              <a:gd name="connsiteY17" fmla="*/ 3217905 h 3343806"/>
              <a:gd name="connsiteX18" fmla="*/ 4003625 w 11377066"/>
              <a:gd name="connsiteY18" fmla="*/ 3171695 h 3343806"/>
              <a:gd name="connsiteX19" fmla="*/ 4465729 w 11377066"/>
              <a:gd name="connsiteY19" fmla="*/ 3024399 h 3343806"/>
              <a:gd name="connsiteX20" fmla="*/ 4015179 w 11377066"/>
              <a:gd name="connsiteY20" fmla="*/ 3047505 h 3343806"/>
              <a:gd name="connsiteX21" fmla="*/ 4656346 w 11377066"/>
              <a:gd name="connsiteY21" fmla="*/ 2926202 h 3343806"/>
              <a:gd name="connsiteX22" fmla="*/ 4841188 w 11377066"/>
              <a:gd name="connsiteY22" fmla="*/ 2862663 h 3343806"/>
              <a:gd name="connsiteX23" fmla="*/ 4659236 w 11377066"/>
              <a:gd name="connsiteY23" fmla="*/ 2836670 h 3343806"/>
              <a:gd name="connsiteX24" fmla="*/ 3778351 w 11377066"/>
              <a:gd name="connsiteY24" fmla="*/ 2914650 h 3343806"/>
              <a:gd name="connsiteX25" fmla="*/ 3694595 w 11377066"/>
              <a:gd name="connsiteY25" fmla="*/ 2923314 h 3343806"/>
              <a:gd name="connsiteX26" fmla="*/ 3119852 w 11377066"/>
              <a:gd name="connsiteY26" fmla="*/ 2862663 h 3343806"/>
              <a:gd name="connsiteX27" fmla="*/ 3440437 w 11377066"/>
              <a:gd name="connsiteY27" fmla="*/ 2799124 h 3343806"/>
              <a:gd name="connsiteX28" fmla="*/ 3070753 w 11377066"/>
              <a:gd name="connsiteY28" fmla="*/ 2761578 h 3343806"/>
              <a:gd name="connsiteX29" fmla="*/ 2623091 w 11377066"/>
              <a:gd name="connsiteY29" fmla="*/ 2726920 h 3343806"/>
              <a:gd name="connsiteX30" fmla="*/ 2160987 w 11377066"/>
              <a:gd name="connsiteY30" fmla="*/ 2611394 h 3343806"/>
              <a:gd name="connsiteX31" fmla="*/ 1837515 w 11377066"/>
              <a:gd name="connsiteY31" fmla="*/ 2573848 h 3343806"/>
              <a:gd name="connsiteX32" fmla="*/ 1869284 w 11377066"/>
              <a:gd name="connsiteY32" fmla="*/ 2472763 h 3343806"/>
              <a:gd name="connsiteX33" fmla="*/ 1808633 w 11377066"/>
              <a:gd name="connsiteY33" fmla="*/ 2386119 h 3343806"/>
              <a:gd name="connsiteX34" fmla="*/ 2354493 w 11377066"/>
              <a:gd name="connsiteY34" fmla="*/ 2342797 h 3343806"/>
              <a:gd name="connsiteX35" fmla="*/ 2146546 w 11377066"/>
              <a:gd name="connsiteY35" fmla="*/ 2328356 h 3343806"/>
              <a:gd name="connsiteX36" fmla="*/ 2054126 w 11377066"/>
              <a:gd name="connsiteY36" fmla="*/ 2285034 h 3343806"/>
              <a:gd name="connsiteX37" fmla="*/ 2132106 w 11377066"/>
              <a:gd name="connsiteY37" fmla="*/ 2238823 h 3343806"/>
              <a:gd name="connsiteX38" fmla="*/ 2478684 w 11377066"/>
              <a:gd name="connsiteY38" fmla="*/ 2085751 h 3343806"/>
              <a:gd name="connsiteX39" fmla="*/ 1511154 w 11377066"/>
              <a:gd name="connsiteY39" fmla="*/ 2094416 h 3343806"/>
              <a:gd name="connsiteX40" fmla="*/ 1638232 w 11377066"/>
              <a:gd name="connsiteY40" fmla="*/ 2042429 h 3343806"/>
              <a:gd name="connsiteX41" fmla="*/ 2972556 w 11377066"/>
              <a:gd name="connsiteY41" fmla="*/ 1718957 h 3343806"/>
              <a:gd name="connsiteX42" fmla="*/ 3238266 w 11377066"/>
              <a:gd name="connsiteY42" fmla="*/ 1678523 h 3343806"/>
              <a:gd name="connsiteX43" fmla="*/ 2522005 w 11377066"/>
              <a:gd name="connsiteY43" fmla="*/ 1664082 h 3343806"/>
              <a:gd name="connsiteX44" fmla="*/ 1421621 w 11377066"/>
              <a:gd name="connsiteY44" fmla="*/ 1522563 h 3343806"/>
              <a:gd name="connsiteX45" fmla="*/ 1525595 w 11377066"/>
              <a:gd name="connsiteY45" fmla="*/ 1392596 h 3343806"/>
              <a:gd name="connsiteX46" fmla="*/ 982623 w 11377066"/>
              <a:gd name="connsiteY46" fmla="*/ 1415701 h 3343806"/>
              <a:gd name="connsiteX47" fmla="*/ 1231003 w 11377066"/>
              <a:gd name="connsiteY47" fmla="*/ 1314616 h 3343806"/>
              <a:gd name="connsiteX48" fmla="*/ 1025945 w 11377066"/>
              <a:gd name="connsiteY48" fmla="*/ 1297287 h 3343806"/>
              <a:gd name="connsiteX49" fmla="*/ 841104 w 11377066"/>
              <a:gd name="connsiteY49" fmla="*/ 1225083 h 3343806"/>
              <a:gd name="connsiteX50" fmla="*/ 1612239 w 11377066"/>
              <a:gd name="connsiteY50" fmla="*/ 1112445 h 3343806"/>
              <a:gd name="connsiteX51" fmla="*/ 1814409 w 11377066"/>
              <a:gd name="connsiteY51" fmla="*/ 1008471 h 3343806"/>
              <a:gd name="connsiteX52" fmla="*/ 1932824 w 11377066"/>
              <a:gd name="connsiteY52" fmla="*/ 979590 h 3343806"/>
              <a:gd name="connsiteX53" fmla="*/ 2083007 w 11377066"/>
              <a:gd name="connsiteY53" fmla="*/ 936268 h 3343806"/>
              <a:gd name="connsiteX54" fmla="*/ 1947265 w 11377066"/>
              <a:gd name="connsiteY54" fmla="*/ 924715 h 3343806"/>
              <a:gd name="connsiteX55" fmla="*/ 1271438 w 11377066"/>
              <a:gd name="connsiteY55" fmla="*/ 895834 h 3343806"/>
              <a:gd name="connsiteX56" fmla="*/ 659150 w 11377066"/>
              <a:gd name="connsiteY56" fmla="*/ 907386 h 3343806"/>
              <a:gd name="connsiteX57" fmla="*/ 780453 w 11377066"/>
              <a:gd name="connsiteY57" fmla="*/ 846735 h 3343806"/>
              <a:gd name="connsiteX58" fmla="*/ 841104 w 11377066"/>
              <a:gd name="connsiteY58" fmla="*/ 788972 h 3343806"/>
              <a:gd name="connsiteX59" fmla="*/ 448316 w 11377066"/>
              <a:gd name="connsiteY59" fmla="*/ 659006 h 3343806"/>
              <a:gd name="connsiteX60" fmla="*/ 910419 w 11377066"/>
              <a:gd name="connsiteY60" fmla="*/ 569473 h 3343806"/>
              <a:gd name="connsiteX61" fmla="*/ 604275 w 11377066"/>
              <a:gd name="connsiteY61" fmla="*/ 514598 h 3343806"/>
              <a:gd name="connsiteX62" fmla="*/ 15093 w 11377066"/>
              <a:gd name="connsiteY62" fmla="*/ 352862 h 3343806"/>
              <a:gd name="connsiteX63" fmla="*/ 430987 w 11377066"/>
              <a:gd name="connsiteY63" fmla="*/ 136251 h 3343806"/>
              <a:gd name="connsiteX64" fmla="*/ 874092 w 11377066"/>
              <a:gd name="connsiteY64" fmla="*/ 17656 h 334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1377066" h="3343806">
                <a:moveTo>
                  <a:pt x="914840" y="0"/>
                </a:moveTo>
                <a:lnTo>
                  <a:pt x="11365513" y="0"/>
                </a:lnTo>
                <a:lnTo>
                  <a:pt x="11365513" y="846735"/>
                </a:lnTo>
                <a:cubicBezTo>
                  <a:pt x="11273092" y="924715"/>
                  <a:pt x="11163343" y="985366"/>
                  <a:pt x="11050704" y="1046017"/>
                </a:cubicBezTo>
                <a:cubicBezTo>
                  <a:pt x="11088251" y="1089339"/>
                  <a:pt x="11169119" y="1037353"/>
                  <a:pt x="11195112" y="1103780"/>
                </a:cubicBezTo>
                <a:cubicBezTo>
                  <a:pt x="10987166" y="1216419"/>
                  <a:pt x="10796548" y="1357938"/>
                  <a:pt x="10553944" y="1441695"/>
                </a:cubicBezTo>
                <a:cubicBezTo>
                  <a:pt x="10753226" y="1381043"/>
                  <a:pt x="10952508" y="1409925"/>
                  <a:pt x="11148902" y="1383932"/>
                </a:cubicBezTo>
                <a:cubicBezTo>
                  <a:pt x="11174895" y="1418589"/>
                  <a:pt x="11131573" y="1418589"/>
                  <a:pt x="11117132" y="1430142"/>
                </a:cubicBezTo>
                <a:cubicBezTo>
                  <a:pt x="11102692" y="1441695"/>
                  <a:pt x="11082474" y="1450359"/>
                  <a:pt x="11085363" y="1476352"/>
                </a:cubicBezTo>
                <a:cubicBezTo>
                  <a:pt x="11174895" y="1487905"/>
                  <a:pt x="11273092" y="1447471"/>
                  <a:pt x="11365513" y="1447471"/>
                </a:cubicBezTo>
                <a:lnTo>
                  <a:pt x="11365513" y="1496569"/>
                </a:lnTo>
                <a:cubicBezTo>
                  <a:pt x="11333743" y="1513898"/>
                  <a:pt x="11293310" y="1519674"/>
                  <a:pt x="11278869" y="1554332"/>
                </a:cubicBezTo>
                <a:cubicBezTo>
                  <a:pt x="11307750" y="1548556"/>
                  <a:pt x="11336632" y="1545668"/>
                  <a:pt x="11365513" y="1539891"/>
                </a:cubicBezTo>
                <a:lnTo>
                  <a:pt x="11377066" y="1539891"/>
                </a:lnTo>
                <a:lnTo>
                  <a:pt x="11377066" y="1765167"/>
                </a:lnTo>
                <a:cubicBezTo>
                  <a:pt x="9482441" y="3362313"/>
                  <a:pt x="4945162" y="3324767"/>
                  <a:pt x="4624577" y="3342096"/>
                </a:cubicBezTo>
                <a:cubicBezTo>
                  <a:pt x="4523492" y="3347872"/>
                  <a:pt x="4098935" y="3339207"/>
                  <a:pt x="4000738" y="3313214"/>
                </a:cubicBezTo>
                <a:cubicBezTo>
                  <a:pt x="3867883" y="3281444"/>
                  <a:pt x="3853443" y="3217905"/>
                  <a:pt x="3853443" y="3217905"/>
                </a:cubicBezTo>
                <a:cubicBezTo>
                  <a:pt x="3853443" y="3217905"/>
                  <a:pt x="3919869" y="3191912"/>
                  <a:pt x="4003625" y="3171695"/>
                </a:cubicBezTo>
                <a:cubicBezTo>
                  <a:pt x="4165361" y="3131261"/>
                  <a:pt x="4298217" y="3056169"/>
                  <a:pt x="4465729" y="3024399"/>
                </a:cubicBezTo>
                <a:cubicBezTo>
                  <a:pt x="4315546" y="3033064"/>
                  <a:pt x="4165361" y="3038840"/>
                  <a:pt x="4015179" y="3047505"/>
                </a:cubicBezTo>
                <a:cubicBezTo>
                  <a:pt x="4223124" y="2969524"/>
                  <a:pt x="4442625" y="2957972"/>
                  <a:pt x="4656346" y="2926202"/>
                </a:cubicBezTo>
                <a:cubicBezTo>
                  <a:pt x="4725662" y="2917538"/>
                  <a:pt x="4841188" y="2943531"/>
                  <a:pt x="4841188" y="2862663"/>
                </a:cubicBezTo>
                <a:cubicBezTo>
                  <a:pt x="4838300" y="2810676"/>
                  <a:pt x="4725662" y="2833782"/>
                  <a:pt x="4659236" y="2836670"/>
                </a:cubicBezTo>
                <a:cubicBezTo>
                  <a:pt x="4364644" y="2845334"/>
                  <a:pt x="4072941" y="2882880"/>
                  <a:pt x="3778351" y="2914650"/>
                </a:cubicBezTo>
                <a:cubicBezTo>
                  <a:pt x="3749468" y="2917538"/>
                  <a:pt x="3714811" y="2931979"/>
                  <a:pt x="3694595" y="2923314"/>
                </a:cubicBezTo>
                <a:cubicBezTo>
                  <a:pt x="3527082" y="2865551"/>
                  <a:pt x="3336463" y="2879992"/>
                  <a:pt x="3119852" y="2862663"/>
                </a:cubicBezTo>
                <a:cubicBezTo>
                  <a:pt x="3238266" y="2796236"/>
                  <a:pt x="3339351" y="2842446"/>
                  <a:pt x="3440437" y="2799124"/>
                </a:cubicBezTo>
                <a:cubicBezTo>
                  <a:pt x="3316246" y="2752913"/>
                  <a:pt x="3189168" y="2773131"/>
                  <a:pt x="3070753" y="2761578"/>
                </a:cubicBezTo>
                <a:cubicBezTo>
                  <a:pt x="2984109" y="2752913"/>
                  <a:pt x="2672189" y="2741361"/>
                  <a:pt x="2623091" y="2726920"/>
                </a:cubicBezTo>
                <a:cubicBezTo>
                  <a:pt x="2472907" y="2683598"/>
                  <a:pt x="2293842" y="2689374"/>
                  <a:pt x="2160987" y="2611394"/>
                </a:cubicBezTo>
                <a:cubicBezTo>
                  <a:pt x="2065678" y="2556519"/>
                  <a:pt x="1938600" y="2602730"/>
                  <a:pt x="1837515" y="2573848"/>
                </a:cubicBezTo>
                <a:cubicBezTo>
                  <a:pt x="1794192" y="2533414"/>
                  <a:pt x="1854843" y="2504533"/>
                  <a:pt x="1869284" y="2472763"/>
                </a:cubicBezTo>
                <a:cubicBezTo>
                  <a:pt x="1889502" y="2432329"/>
                  <a:pt x="1834626" y="2423665"/>
                  <a:pt x="1808633" y="2386119"/>
                </a:cubicBezTo>
                <a:cubicBezTo>
                  <a:pt x="1987698" y="2389007"/>
                  <a:pt x="2158099" y="2377454"/>
                  <a:pt x="2354493" y="2342797"/>
                </a:cubicBezTo>
                <a:cubicBezTo>
                  <a:pt x="2273625" y="2290810"/>
                  <a:pt x="2204309" y="2339908"/>
                  <a:pt x="2146546" y="2328356"/>
                </a:cubicBezTo>
                <a:cubicBezTo>
                  <a:pt x="2106113" y="2319691"/>
                  <a:pt x="2054126" y="2328356"/>
                  <a:pt x="2054126" y="2285034"/>
                </a:cubicBezTo>
                <a:cubicBezTo>
                  <a:pt x="2054126" y="2250376"/>
                  <a:pt x="2100336" y="2244599"/>
                  <a:pt x="2132106" y="2238823"/>
                </a:cubicBezTo>
                <a:cubicBezTo>
                  <a:pt x="2256296" y="2218606"/>
                  <a:pt x="2377599" y="2192613"/>
                  <a:pt x="2478684" y="2085751"/>
                </a:cubicBezTo>
                <a:cubicBezTo>
                  <a:pt x="2152323" y="2051094"/>
                  <a:pt x="1817297" y="2186837"/>
                  <a:pt x="1511154" y="2094416"/>
                </a:cubicBezTo>
                <a:cubicBezTo>
                  <a:pt x="1537147" y="2033765"/>
                  <a:pt x="1597798" y="2045317"/>
                  <a:pt x="1638232" y="2042429"/>
                </a:cubicBezTo>
                <a:cubicBezTo>
                  <a:pt x="1909718" y="2016436"/>
                  <a:pt x="2825261" y="1701628"/>
                  <a:pt x="2972556" y="1718957"/>
                </a:cubicBezTo>
                <a:cubicBezTo>
                  <a:pt x="3062089" y="1727621"/>
                  <a:pt x="3154510" y="1721845"/>
                  <a:pt x="3238266" y="1678523"/>
                </a:cubicBezTo>
                <a:cubicBezTo>
                  <a:pt x="3339351" y="1626536"/>
                  <a:pt x="2695295" y="1736286"/>
                  <a:pt x="2522005" y="1664082"/>
                </a:cubicBezTo>
                <a:cubicBezTo>
                  <a:pt x="2438249" y="1629424"/>
                  <a:pt x="1730654" y="1528339"/>
                  <a:pt x="1421621" y="1522563"/>
                </a:cubicBezTo>
                <a:cubicBezTo>
                  <a:pt x="1450503" y="1467688"/>
                  <a:pt x="1557364" y="1470576"/>
                  <a:pt x="1525595" y="1392596"/>
                </a:cubicBezTo>
                <a:cubicBezTo>
                  <a:pt x="1358082" y="1386820"/>
                  <a:pt x="1179017" y="1435918"/>
                  <a:pt x="982623" y="1415701"/>
                </a:cubicBezTo>
                <a:cubicBezTo>
                  <a:pt x="1051938" y="1346386"/>
                  <a:pt x="1153023" y="1352162"/>
                  <a:pt x="1231003" y="1314616"/>
                </a:cubicBezTo>
                <a:cubicBezTo>
                  <a:pt x="1170352" y="1262629"/>
                  <a:pt x="1095261" y="1294399"/>
                  <a:pt x="1025945" y="1297287"/>
                </a:cubicBezTo>
                <a:cubicBezTo>
                  <a:pt x="965294" y="1300175"/>
                  <a:pt x="812222" y="1227972"/>
                  <a:pt x="841104" y="1225083"/>
                </a:cubicBezTo>
                <a:cubicBezTo>
                  <a:pt x="1101037" y="1207755"/>
                  <a:pt x="1352306" y="1129775"/>
                  <a:pt x="1612239" y="1112445"/>
                </a:cubicBezTo>
                <a:cubicBezTo>
                  <a:pt x="1698883" y="1106668"/>
                  <a:pt x="1797081" y="1112445"/>
                  <a:pt x="1814409" y="1008471"/>
                </a:cubicBezTo>
                <a:cubicBezTo>
                  <a:pt x="1817297" y="979590"/>
                  <a:pt x="1808633" y="973814"/>
                  <a:pt x="1932824" y="979590"/>
                </a:cubicBezTo>
                <a:cubicBezTo>
                  <a:pt x="1981922" y="982478"/>
                  <a:pt x="2045461" y="982478"/>
                  <a:pt x="2083007" y="936268"/>
                </a:cubicBezTo>
                <a:cubicBezTo>
                  <a:pt x="2045461" y="898722"/>
                  <a:pt x="1990587" y="927603"/>
                  <a:pt x="1947265" y="924715"/>
                </a:cubicBezTo>
                <a:cubicBezTo>
                  <a:pt x="1828850" y="921827"/>
                  <a:pt x="1386963" y="904498"/>
                  <a:pt x="1271438" y="895834"/>
                </a:cubicBezTo>
                <a:cubicBezTo>
                  <a:pt x="1031721" y="875617"/>
                  <a:pt x="901755" y="933380"/>
                  <a:pt x="659150" y="907386"/>
                </a:cubicBezTo>
                <a:cubicBezTo>
                  <a:pt x="734242" y="890057"/>
                  <a:pt x="705361" y="866952"/>
                  <a:pt x="780453" y="846735"/>
                </a:cubicBezTo>
                <a:cubicBezTo>
                  <a:pt x="815110" y="838071"/>
                  <a:pt x="849768" y="820742"/>
                  <a:pt x="841104" y="788972"/>
                </a:cubicBezTo>
                <a:cubicBezTo>
                  <a:pt x="835327" y="757202"/>
                  <a:pt x="396329" y="690775"/>
                  <a:pt x="448316" y="659006"/>
                </a:cubicBezTo>
                <a:cubicBezTo>
                  <a:pt x="592723" y="575249"/>
                  <a:pt x="1020169" y="607019"/>
                  <a:pt x="910419" y="569473"/>
                </a:cubicBezTo>
                <a:cubicBezTo>
                  <a:pt x="742907" y="511710"/>
                  <a:pt x="716913" y="500157"/>
                  <a:pt x="604275" y="514598"/>
                </a:cubicBezTo>
                <a:cubicBezTo>
                  <a:pt x="506079" y="529039"/>
                  <a:pt x="113290" y="349974"/>
                  <a:pt x="15093" y="352862"/>
                </a:cubicBezTo>
                <a:cubicBezTo>
                  <a:pt x="-71551" y="352862"/>
                  <a:pt x="234593" y="211343"/>
                  <a:pt x="430987" y="136251"/>
                </a:cubicBezTo>
                <a:cubicBezTo>
                  <a:pt x="571784" y="82098"/>
                  <a:pt x="732076" y="70184"/>
                  <a:pt x="874092" y="17656"/>
                </a:cubicBezTo>
                <a:close/>
              </a:path>
            </a:pathLst>
          </a:custGeom>
          <a:solidFill>
            <a:schemeClr val="accent1">
              <a:alpha val="15000"/>
            </a:schemeClr>
          </a:solidFill>
          <a:ln w="32707" cap="flat">
            <a:noFill/>
            <a:prstDash val="solid"/>
            <a:miter/>
          </a:ln>
        </p:spPr>
        <p:txBody>
          <a:bodyPr wrap="square" rtlCol="0" anchor="ctr">
            <a:noAutofit/>
          </a:bodyPr>
          <a:lstStyle/>
          <a:p>
            <a:endParaRPr lang="en-US">
              <a:solidFill>
                <a:schemeClr val="tx1"/>
              </a:solidFill>
            </a:endParaRPr>
          </a:p>
        </p:txBody>
      </p:sp>
      <p:sp>
        <p:nvSpPr>
          <p:cNvPr id="2" name="Τίτλος 1">
            <a:extLst>
              <a:ext uri="{FF2B5EF4-FFF2-40B4-BE49-F238E27FC236}">
                <a16:creationId xmlns:a16="http://schemas.microsoft.com/office/drawing/2014/main" id="{44FAAB17-A098-C994-BAF9-74331CD0AC7F}"/>
              </a:ext>
            </a:extLst>
          </p:cNvPr>
          <p:cNvSpPr>
            <a:spLocks noGrp="1"/>
          </p:cNvSpPr>
          <p:nvPr>
            <p:ph type="title"/>
          </p:nvPr>
        </p:nvSpPr>
        <p:spPr>
          <a:xfrm>
            <a:off x="905483" y="2215503"/>
            <a:ext cx="4482111" cy="3527214"/>
          </a:xfrm>
        </p:spPr>
        <p:txBody>
          <a:bodyPr anchor="t">
            <a:normAutofit/>
          </a:bodyPr>
          <a:lstStyle/>
          <a:p>
            <a:r>
              <a:rPr lang="el-GR" i="0" dirty="0">
                <a:latin typeface="Times New Roman"/>
                <a:ea typeface="+mj-lt"/>
                <a:cs typeface="+mj-lt"/>
              </a:rPr>
              <a:t>ΜΕΘΟΔΟΛΟΓΙΑ ΕΡΕΥΝΑΣ</a:t>
            </a:r>
            <a:endParaRPr lang="el-GR">
              <a:latin typeface="Times New Roman"/>
              <a:cs typeface="Times New Roman"/>
            </a:endParaRPr>
          </a:p>
          <a:p>
            <a:endParaRPr lang="el-GR" dirty="0">
              <a:latin typeface="Times New Roman"/>
              <a:cs typeface="Times New Roman"/>
            </a:endParaRPr>
          </a:p>
        </p:txBody>
      </p:sp>
      <p:sp>
        <p:nvSpPr>
          <p:cNvPr id="3" name="Θέση περιεχομένου 2">
            <a:extLst>
              <a:ext uri="{FF2B5EF4-FFF2-40B4-BE49-F238E27FC236}">
                <a16:creationId xmlns:a16="http://schemas.microsoft.com/office/drawing/2014/main" id="{5D6CA964-5A63-6D5A-7C9D-DE92621F7E09}"/>
              </a:ext>
            </a:extLst>
          </p:cNvPr>
          <p:cNvSpPr>
            <a:spLocks noGrp="1"/>
          </p:cNvSpPr>
          <p:nvPr>
            <p:ph idx="1"/>
          </p:nvPr>
        </p:nvSpPr>
        <p:spPr>
          <a:xfrm>
            <a:off x="6500516" y="2215503"/>
            <a:ext cx="5257804" cy="3929186"/>
          </a:xfrm>
        </p:spPr>
        <p:txBody>
          <a:bodyPr anchor="t">
            <a:normAutofit/>
          </a:bodyPr>
          <a:lstStyle/>
          <a:p>
            <a:r>
              <a:rPr lang="el-GR" sz="2000" dirty="0">
                <a:latin typeface="Times New Roman"/>
                <a:cs typeface="Times New Roman"/>
              </a:rPr>
              <a:t>Η έρευνα έγινε με την χρήση ενός ερωτηματολογίου </a:t>
            </a:r>
            <a:r>
              <a:rPr lang="el-GR" sz="2000" dirty="0">
                <a:latin typeface="Times New Roman"/>
                <a:ea typeface="+mn-lt"/>
                <a:cs typeface="+mn-lt"/>
              </a:rPr>
              <a:t>σε ηλεκτρονική μορφή, που</a:t>
            </a:r>
            <a:r>
              <a:rPr lang="el-GR" sz="2000" dirty="0">
                <a:latin typeface="Times New Roman"/>
                <a:cs typeface="Times New Roman"/>
              </a:rPr>
              <a:t> δόθηκε σε καθηγητές λυκείου,</a:t>
            </a:r>
            <a:r>
              <a:rPr lang="el-GR" sz="2000" dirty="0">
                <a:latin typeface="Times New Roman"/>
                <a:ea typeface="+mn-lt"/>
                <a:cs typeface="+mn-lt"/>
              </a:rPr>
              <a:t> για να συγκεντρωθούν κάποιες βασικές πληροφορίες σχετικά με τις διάφορες απόψεις που έχουν οι καθηγητές πάνω στην χρήση της ρομποτικής στην εκπαίδευση. </a:t>
            </a:r>
          </a:p>
          <a:p>
            <a:r>
              <a:rPr lang="el-GR" sz="2000" dirty="0">
                <a:latin typeface="Times New Roman"/>
                <a:ea typeface="+mn-lt"/>
                <a:cs typeface="+mn-lt"/>
              </a:rPr>
              <a:t>Επιλέχθηκε η ερευνητική στρατηγική της μελέτης περίπτωσης, όπου περίπτωση ονομάζουμε μια ομάδα καθηγητών που διδάσκουν σε σχολείο της δημόσιας δευτεροβάθμιας εκπαίδευσης στην Ελλάδα.</a:t>
            </a:r>
            <a:endParaRPr lang="el-GR" sz="2000">
              <a:latin typeface="Times New Roman"/>
              <a:cs typeface="Times New Roman"/>
            </a:endParaRPr>
          </a:p>
        </p:txBody>
      </p:sp>
      <p:sp>
        <p:nvSpPr>
          <p:cNvPr id="12" name="Freeform: Shape 11">
            <a:extLst>
              <a:ext uri="{FF2B5EF4-FFF2-40B4-BE49-F238E27FC236}">
                <a16:creationId xmlns:a16="http://schemas.microsoft.com/office/drawing/2014/main" id="{C6BFDF0B-6325-416D-926F-7141006D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93668" y="5127460"/>
            <a:ext cx="6498333" cy="1730540"/>
          </a:xfrm>
          <a:custGeom>
            <a:avLst/>
            <a:gdLst>
              <a:gd name="connsiteX0" fmla="*/ 2987112 w 6498333"/>
              <a:gd name="connsiteY0" fmla="*/ 1730384 h 1730540"/>
              <a:gd name="connsiteX1" fmla="*/ 3113423 w 6498333"/>
              <a:gd name="connsiteY1" fmla="*/ 1728494 h 1730540"/>
              <a:gd name="connsiteX2" fmla="*/ 6436159 w 6498333"/>
              <a:gd name="connsiteY2" fmla="*/ 1396018 h 1730540"/>
              <a:gd name="connsiteX3" fmla="*/ 6498333 w 6498333"/>
              <a:gd name="connsiteY3" fmla="*/ 1381988 h 1730540"/>
              <a:gd name="connsiteX4" fmla="*/ 6498333 w 6498333"/>
              <a:gd name="connsiteY4" fmla="*/ 0 h 1730540"/>
              <a:gd name="connsiteX5" fmla="*/ 723703 w 6498333"/>
              <a:gd name="connsiteY5" fmla="*/ 0 h 1730540"/>
              <a:gd name="connsiteX6" fmla="*/ 629735 w 6498333"/>
              <a:gd name="connsiteY6" fmla="*/ 31770 h 1730540"/>
              <a:gd name="connsiteX7" fmla="*/ 127078 w 6498333"/>
              <a:gd name="connsiteY7" fmla="*/ 173371 h 1730540"/>
              <a:gd name="connsiteX8" fmla="*/ 0 w 6498333"/>
              <a:gd name="connsiteY8" fmla="*/ 235577 h 1730540"/>
              <a:gd name="connsiteX9" fmla="*/ 967530 w 6498333"/>
              <a:gd name="connsiteY9" fmla="*/ 225208 h 1730540"/>
              <a:gd name="connsiteX10" fmla="*/ 620954 w 6498333"/>
              <a:gd name="connsiteY10" fmla="*/ 408367 h 1730540"/>
              <a:gd name="connsiteX11" fmla="*/ 542972 w 6498333"/>
              <a:gd name="connsiteY11" fmla="*/ 463661 h 1730540"/>
              <a:gd name="connsiteX12" fmla="*/ 635392 w 6498333"/>
              <a:gd name="connsiteY12" fmla="*/ 515499 h 1730540"/>
              <a:gd name="connsiteX13" fmla="*/ 843339 w 6498333"/>
              <a:gd name="connsiteY13" fmla="*/ 532778 h 1730540"/>
              <a:gd name="connsiteX14" fmla="*/ 297479 w 6498333"/>
              <a:gd name="connsiteY14" fmla="*/ 584615 h 1730540"/>
              <a:gd name="connsiteX15" fmla="*/ 358130 w 6498333"/>
              <a:gd name="connsiteY15" fmla="*/ 688289 h 1730540"/>
              <a:gd name="connsiteX16" fmla="*/ 326361 w 6498333"/>
              <a:gd name="connsiteY16" fmla="*/ 809243 h 1730540"/>
              <a:gd name="connsiteX17" fmla="*/ 649833 w 6498333"/>
              <a:gd name="connsiteY17" fmla="*/ 854169 h 1730540"/>
              <a:gd name="connsiteX18" fmla="*/ 1111937 w 6498333"/>
              <a:gd name="connsiteY18" fmla="*/ 992402 h 1730540"/>
              <a:gd name="connsiteX19" fmla="*/ 1559599 w 6498333"/>
              <a:gd name="connsiteY19" fmla="*/ 1033872 h 1730540"/>
              <a:gd name="connsiteX20" fmla="*/ 1929284 w 6498333"/>
              <a:gd name="connsiteY20" fmla="*/ 1078798 h 1730540"/>
              <a:gd name="connsiteX21" fmla="*/ 1608698 w 6498333"/>
              <a:gd name="connsiteY21" fmla="*/ 1154826 h 1730540"/>
              <a:gd name="connsiteX22" fmla="*/ 2183442 w 6498333"/>
              <a:gd name="connsiteY22" fmla="*/ 1227398 h 1730540"/>
              <a:gd name="connsiteX23" fmla="*/ 2267197 w 6498333"/>
              <a:gd name="connsiteY23" fmla="*/ 1217031 h 1730540"/>
              <a:gd name="connsiteX24" fmla="*/ 3148082 w 6498333"/>
              <a:gd name="connsiteY24" fmla="*/ 1123724 h 1730540"/>
              <a:gd name="connsiteX25" fmla="*/ 3330034 w 6498333"/>
              <a:gd name="connsiteY25" fmla="*/ 1154826 h 1730540"/>
              <a:gd name="connsiteX26" fmla="*/ 3145192 w 6498333"/>
              <a:gd name="connsiteY26" fmla="*/ 1230854 h 1730540"/>
              <a:gd name="connsiteX27" fmla="*/ 2504025 w 6498333"/>
              <a:gd name="connsiteY27" fmla="*/ 1376000 h 1730540"/>
              <a:gd name="connsiteX28" fmla="*/ 2954575 w 6498333"/>
              <a:gd name="connsiteY28" fmla="*/ 1348352 h 1730540"/>
              <a:gd name="connsiteX29" fmla="*/ 2492471 w 6498333"/>
              <a:gd name="connsiteY29" fmla="*/ 1524600 h 1730540"/>
              <a:gd name="connsiteX30" fmla="*/ 2342289 w 6498333"/>
              <a:gd name="connsiteY30" fmla="*/ 1579893 h 1730540"/>
              <a:gd name="connsiteX31" fmla="*/ 2489584 w 6498333"/>
              <a:gd name="connsiteY31" fmla="*/ 1693935 h 1730540"/>
              <a:gd name="connsiteX32" fmla="*/ 2987112 w 6498333"/>
              <a:gd name="connsiteY32" fmla="*/ 1730384 h 173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498333" h="1730540">
                <a:moveTo>
                  <a:pt x="2987112" y="1730384"/>
                </a:moveTo>
                <a:cubicBezTo>
                  <a:pt x="3042664" y="1730870"/>
                  <a:pt x="3088152" y="1730222"/>
                  <a:pt x="3113423" y="1728494"/>
                </a:cubicBezTo>
                <a:cubicBezTo>
                  <a:pt x="3293752" y="1716831"/>
                  <a:pt x="4808270" y="1725943"/>
                  <a:pt x="6436159" y="1396018"/>
                </a:cubicBezTo>
                <a:lnTo>
                  <a:pt x="6498333" y="1381988"/>
                </a:lnTo>
                <a:lnTo>
                  <a:pt x="6498333" y="0"/>
                </a:lnTo>
                <a:lnTo>
                  <a:pt x="723703" y="0"/>
                </a:lnTo>
                <a:lnTo>
                  <a:pt x="629735" y="31770"/>
                </a:lnTo>
                <a:cubicBezTo>
                  <a:pt x="421263" y="101447"/>
                  <a:pt x="228886" y="161708"/>
                  <a:pt x="127078" y="173371"/>
                </a:cubicBezTo>
                <a:cubicBezTo>
                  <a:pt x="86644" y="176827"/>
                  <a:pt x="25993" y="163004"/>
                  <a:pt x="0" y="235577"/>
                </a:cubicBezTo>
                <a:cubicBezTo>
                  <a:pt x="306144" y="346163"/>
                  <a:pt x="641170" y="183739"/>
                  <a:pt x="967530" y="225208"/>
                </a:cubicBezTo>
                <a:cubicBezTo>
                  <a:pt x="866445" y="353075"/>
                  <a:pt x="745142" y="384177"/>
                  <a:pt x="620954" y="408367"/>
                </a:cubicBezTo>
                <a:cubicBezTo>
                  <a:pt x="589182" y="415279"/>
                  <a:pt x="542972" y="422191"/>
                  <a:pt x="542972" y="463661"/>
                </a:cubicBezTo>
                <a:cubicBezTo>
                  <a:pt x="542972" y="515499"/>
                  <a:pt x="594959" y="505130"/>
                  <a:pt x="635392" y="515499"/>
                </a:cubicBezTo>
                <a:cubicBezTo>
                  <a:pt x="693155" y="529321"/>
                  <a:pt x="762471" y="470573"/>
                  <a:pt x="843339" y="532778"/>
                </a:cubicBezTo>
                <a:cubicBezTo>
                  <a:pt x="646945" y="574247"/>
                  <a:pt x="476544" y="588071"/>
                  <a:pt x="297479" y="584615"/>
                </a:cubicBezTo>
                <a:cubicBezTo>
                  <a:pt x="323472" y="629541"/>
                  <a:pt x="378348" y="639908"/>
                  <a:pt x="358130" y="688289"/>
                </a:cubicBezTo>
                <a:cubicBezTo>
                  <a:pt x="343689" y="726304"/>
                  <a:pt x="283038" y="760862"/>
                  <a:pt x="326361" y="809243"/>
                </a:cubicBezTo>
                <a:cubicBezTo>
                  <a:pt x="427447" y="843802"/>
                  <a:pt x="554524" y="788508"/>
                  <a:pt x="649833" y="854169"/>
                </a:cubicBezTo>
                <a:cubicBezTo>
                  <a:pt x="782688" y="947476"/>
                  <a:pt x="961753" y="940565"/>
                  <a:pt x="1111937" y="992402"/>
                </a:cubicBezTo>
                <a:cubicBezTo>
                  <a:pt x="1161035" y="1009682"/>
                  <a:pt x="1472955" y="1023504"/>
                  <a:pt x="1559599" y="1033872"/>
                </a:cubicBezTo>
                <a:cubicBezTo>
                  <a:pt x="1678015" y="1047696"/>
                  <a:pt x="1805093" y="1023504"/>
                  <a:pt x="1929284" y="1078798"/>
                </a:cubicBezTo>
                <a:cubicBezTo>
                  <a:pt x="1828198" y="1130635"/>
                  <a:pt x="1727113" y="1075343"/>
                  <a:pt x="1608698" y="1154826"/>
                </a:cubicBezTo>
                <a:cubicBezTo>
                  <a:pt x="1825309" y="1175561"/>
                  <a:pt x="2015928" y="1158282"/>
                  <a:pt x="2183442" y="1227398"/>
                </a:cubicBezTo>
                <a:cubicBezTo>
                  <a:pt x="2203658" y="1237767"/>
                  <a:pt x="2238314" y="1220487"/>
                  <a:pt x="2267197" y="1217031"/>
                </a:cubicBezTo>
                <a:cubicBezTo>
                  <a:pt x="2561787" y="1179017"/>
                  <a:pt x="2853490" y="1134091"/>
                  <a:pt x="3148082" y="1123724"/>
                </a:cubicBezTo>
                <a:cubicBezTo>
                  <a:pt x="3214508" y="1120268"/>
                  <a:pt x="3327146" y="1092621"/>
                  <a:pt x="3330034" y="1154826"/>
                </a:cubicBezTo>
                <a:cubicBezTo>
                  <a:pt x="3330034" y="1251589"/>
                  <a:pt x="3214508" y="1220487"/>
                  <a:pt x="3145192" y="1230854"/>
                </a:cubicBezTo>
                <a:cubicBezTo>
                  <a:pt x="2931471" y="1268869"/>
                  <a:pt x="2711970" y="1282691"/>
                  <a:pt x="2504025" y="1376000"/>
                </a:cubicBezTo>
                <a:cubicBezTo>
                  <a:pt x="2654207" y="1365632"/>
                  <a:pt x="2804392" y="1358720"/>
                  <a:pt x="2954575" y="1348352"/>
                </a:cubicBezTo>
                <a:cubicBezTo>
                  <a:pt x="2787063" y="1386367"/>
                  <a:pt x="2654207" y="1476218"/>
                  <a:pt x="2492471" y="1524600"/>
                </a:cubicBezTo>
                <a:cubicBezTo>
                  <a:pt x="2408715" y="1548791"/>
                  <a:pt x="2342289" y="1579893"/>
                  <a:pt x="2342289" y="1579893"/>
                </a:cubicBezTo>
                <a:cubicBezTo>
                  <a:pt x="2342289" y="1579893"/>
                  <a:pt x="2356730" y="1655921"/>
                  <a:pt x="2489584" y="1693935"/>
                </a:cubicBezTo>
                <a:cubicBezTo>
                  <a:pt x="2563232" y="1717262"/>
                  <a:pt x="2820457" y="1728925"/>
                  <a:pt x="2987112" y="1730384"/>
                </a:cubicBezTo>
                <a:close/>
              </a:path>
            </a:pathLst>
          </a:custGeom>
          <a:solidFill>
            <a:schemeClr val="accent1">
              <a:alpha val="10000"/>
            </a:schemeClr>
          </a:solidFill>
          <a:ln w="32707" cap="flat">
            <a:noFill/>
            <a:prstDash val="solid"/>
            <a:miter/>
          </a:ln>
        </p:spPr>
        <p:txBody>
          <a:bodyPr wrap="square" rtlCol="0" anchor="ctr">
            <a:noAutofit/>
          </a:bodyPr>
          <a:lstStyle/>
          <a:p>
            <a:endParaRPr lang="en-US">
              <a:solidFill>
                <a:schemeClr val="tx1"/>
              </a:solidFill>
            </a:endParaRPr>
          </a:p>
        </p:txBody>
      </p:sp>
    </p:spTree>
    <p:extLst>
      <p:ext uri="{BB962C8B-B14F-4D97-AF65-F5344CB8AC3E}">
        <p14:creationId xmlns:p14="http://schemas.microsoft.com/office/powerpoint/2010/main" val="2885308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24B04273-AE2A-4676-98D5-85D0D238C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9">
            <a:extLst>
              <a:ext uri="{FF2B5EF4-FFF2-40B4-BE49-F238E27FC236}">
                <a16:creationId xmlns:a16="http://schemas.microsoft.com/office/drawing/2014/main" id="{98A68847-134F-4AF1-B1C6-332344C9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Τίτλος 1">
            <a:extLst>
              <a:ext uri="{FF2B5EF4-FFF2-40B4-BE49-F238E27FC236}">
                <a16:creationId xmlns:a16="http://schemas.microsoft.com/office/drawing/2014/main" id="{B4066CBB-BC87-C682-0A01-A4BF7F88CAF4}"/>
              </a:ext>
            </a:extLst>
          </p:cNvPr>
          <p:cNvSpPr>
            <a:spLocks noGrp="1"/>
          </p:cNvSpPr>
          <p:nvPr>
            <p:ph type="title"/>
          </p:nvPr>
        </p:nvSpPr>
        <p:spPr>
          <a:xfrm>
            <a:off x="838200" y="365125"/>
            <a:ext cx="10515600" cy="1325563"/>
          </a:xfrm>
        </p:spPr>
        <p:txBody>
          <a:bodyPr>
            <a:normAutofit/>
          </a:bodyPr>
          <a:lstStyle/>
          <a:p>
            <a:r>
              <a:rPr lang="el-GR" i="0" dirty="0">
                <a:latin typeface="Times New Roman"/>
                <a:ea typeface="+mj-lt"/>
                <a:cs typeface="+mj-lt"/>
              </a:rPr>
              <a:t>Επιλογή δείγματος</a:t>
            </a:r>
            <a:endParaRPr lang="el-GR">
              <a:latin typeface="Times New Roman"/>
              <a:cs typeface="Times New Roman"/>
            </a:endParaRPr>
          </a:p>
        </p:txBody>
      </p:sp>
      <p:sp>
        <p:nvSpPr>
          <p:cNvPr id="3" name="Θέση περιεχομένου 2">
            <a:extLst>
              <a:ext uri="{FF2B5EF4-FFF2-40B4-BE49-F238E27FC236}">
                <a16:creationId xmlns:a16="http://schemas.microsoft.com/office/drawing/2014/main" id="{6EDCF756-B366-80CB-8736-4129F66073D2}"/>
              </a:ext>
            </a:extLst>
          </p:cNvPr>
          <p:cNvSpPr>
            <a:spLocks noGrp="1"/>
          </p:cNvSpPr>
          <p:nvPr>
            <p:ph idx="1"/>
          </p:nvPr>
        </p:nvSpPr>
        <p:spPr>
          <a:xfrm>
            <a:off x="838200" y="2013625"/>
            <a:ext cx="10515600" cy="4163338"/>
          </a:xfrm>
        </p:spPr>
        <p:txBody>
          <a:bodyPr vert="horz" lIns="91440" tIns="45720" rIns="91440" bIns="45720" rtlCol="0" anchor="t">
            <a:noAutofit/>
          </a:bodyPr>
          <a:lstStyle/>
          <a:p>
            <a:r>
              <a:rPr lang="el-GR" dirty="0">
                <a:latin typeface="Times New Roman"/>
                <a:ea typeface="+mn-lt"/>
                <a:cs typeface="+mn-lt"/>
              </a:rPr>
              <a:t>Το πλαίσιο δειγματοληψίας είναι οι καθηγητές δευτεροβάθμιας εκπαίδευσης, συγκεκριμένου γενικού λυκείου. Συγκεκριμένα πρόκειται για 23 καθηγητές με μεγάλη διαφορά στην ηλικία και στην εμπειρία.</a:t>
            </a:r>
          </a:p>
          <a:p>
            <a:r>
              <a:rPr lang="el-GR" dirty="0">
                <a:latin typeface="Times New Roman"/>
                <a:ea typeface="+mn-lt"/>
                <a:cs typeface="+mn-lt"/>
              </a:rPr>
              <a:t>Το σχολείο αυτό είναι σε σχετικά απομακρυσμένη περιοχή, με την ιδιαιτερότητα ότι οι μαθητές που το απαρτίζουν έχουν την δυνατότητα να μεταφερθούν από το συγκεκριμένο σχολείο, στο οποίο θα γίνει η έρευνα, σε ένα άλλο όχι πιο μακριά από αυτό.</a:t>
            </a:r>
          </a:p>
          <a:p>
            <a:endParaRPr lang="el-GR" dirty="0">
              <a:latin typeface="Times New Roman"/>
              <a:ea typeface="+mn-lt"/>
              <a:cs typeface="+mn-lt"/>
            </a:endParaRPr>
          </a:p>
        </p:txBody>
      </p:sp>
    </p:spTree>
    <p:extLst>
      <p:ext uri="{BB962C8B-B14F-4D97-AF65-F5344CB8AC3E}">
        <p14:creationId xmlns:p14="http://schemas.microsoft.com/office/powerpoint/2010/main" val="2728109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F7C6BF3-BFFC-8B78-763A-29BE8E1ADB84}"/>
              </a:ext>
            </a:extLst>
          </p:cNvPr>
          <p:cNvSpPr>
            <a:spLocks noGrp="1"/>
          </p:cNvSpPr>
          <p:nvPr>
            <p:ph type="title"/>
          </p:nvPr>
        </p:nvSpPr>
        <p:spPr/>
        <p:txBody>
          <a:bodyPr/>
          <a:lstStyle/>
          <a:p>
            <a:r>
              <a:rPr lang="el-GR" i="0" dirty="0">
                <a:latin typeface="Times New Roman"/>
                <a:ea typeface="+mj-lt"/>
                <a:cs typeface="+mj-lt"/>
              </a:rPr>
              <a:t>Επιλογή δείγματος</a:t>
            </a:r>
            <a:endParaRPr lang="el-GR">
              <a:latin typeface="Times New Roman"/>
              <a:ea typeface="+mj-lt"/>
              <a:cs typeface="+mj-lt"/>
            </a:endParaRPr>
          </a:p>
        </p:txBody>
      </p:sp>
      <p:sp>
        <p:nvSpPr>
          <p:cNvPr id="3" name="Θέση περιεχομένου 2">
            <a:extLst>
              <a:ext uri="{FF2B5EF4-FFF2-40B4-BE49-F238E27FC236}">
                <a16:creationId xmlns:a16="http://schemas.microsoft.com/office/drawing/2014/main" id="{69CA25E0-8B76-A60A-321F-5BCA503F23E9}"/>
              </a:ext>
            </a:extLst>
          </p:cNvPr>
          <p:cNvSpPr>
            <a:spLocks noGrp="1"/>
          </p:cNvSpPr>
          <p:nvPr>
            <p:ph idx="1"/>
          </p:nvPr>
        </p:nvSpPr>
        <p:spPr/>
        <p:txBody>
          <a:bodyPr vert="horz" lIns="91440" tIns="45720" rIns="91440" bIns="45720" rtlCol="0" anchor="t">
            <a:normAutofit/>
          </a:bodyPr>
          <a:lstStyle/>
          <a:p>
            <a:r>
              <a:rPr lang="el-GR" dirty="0">
                <a:latin typeface="Times New Roman"/>
                <a:ea typeface="+mn-lt"/>
                <a:cs typeface="+mn-lt"/>
              </a:rPr>
              <a:t>Η πλειοψηφία των καθηγητών δεν έχει μεγάλη επαφή με την καινούρια τεχνολογία και δεν ακολουθούν τις αλλαγές που γίνονται σε αυτήν. Άλλοι καθηγητές, λόγω της νέας τους ηλικίας, είναι πιο ενήμεροι σχετικά με την τεχνολογία. Έτσι, είναι πιο πιθανό να γνωρίζουν και να εφαρμόσουν την ρομποτική στην εκπαίδευση. Το δείγμα μας είναι από διάφορες μεριές της κεντρικής Μακεδονίας και με διαφορετική εμπειρία πάνω στην διδασκαλία. Αυτά είναι που τους κάνουν το κατάλληλο δείγμα για την παρούσα έρευνα.</a:t>
            </a:r>
            <a:endParaRPr lang="el-GR">
              <a:latin typeface="Times New Roman"/>
              <a:cs typeface="Times New Roman"/>
            </a:endParaRPr>
          </a:p>
          <a:p>
            <a:endParaRPr lang="el-GR" dirty="0"/>
          </a:p>
        </p:txBody>
      </p:sp>
    </p:spTree>
    <p:extLst>
      <p:ext uri="{BB962C8B-B14F-4D97-AF65-F5344CB8AC3E}">
        <p14:creationId xmlns:p14="http://schemas.microsoft.com/office/powerpoint/2010/main" val="2126281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F1F5BAF-9764-471B-CF9D-F3C55A492DC9}"/>
              </a:ext>
            </a:extLst>
          </p:cNvPr>
          <p:cNvSpPr>
            <a:spLocks noGrp="1"/>
          </p:cNvSpPr>
          <p:nvPr>
            <p:ph type="title"/>
          </p:nvPr>
        </p:nvSpPr>
        <p:spPr/>
        <p:txBody>
          <a:bodyPr/>
          <a:lstStyle/>
          <a:p>
            <a:r>
              <a:rPr lang="el-GR" i="0" dirty="0">
                <a:latin typeface="Times New Roman"/>
                <a:ea typeface="+mj-lt"/>
                <a:cs typeface="+mj-lt"/>
              </a:rPr>
              <a:t>Επιλογή δείγματος</a:t>
            </a:r>
            <a:endParaRPr lang="el-GR">
              <a:latin typeface="Times New Roman"/>
              <a:cs typeface="Times New Roman"/>
            </a:endParaRPr>
          </a:p>
        </p:txBody>
      </p:sp>
      <p:sp>
        <p:nvSpPr>
          <p:cNvPr id="3" name="Θέση περιεχομένου 2">
            <a:extLst>
              <a:ext uri="{FF2B5EF4-FFF2-40B4-BE49-F238E27FC236}">
                <a16:creationId xmlns:a16="http://schemas.microsoft.com/office/drawing/2014/main" id="{A59634E4-D6CB-AD03-7A9D-50DFB615BE48}"/>
              </a:ext>
            </a:extLst>
          </p:cNvPr>
          <p:cNvSpPr>
            <a:spLocks noGrp="1"/>
          </p:cNvSpPr>
          <p:nvPr>
            <p:ph idx="1"/>
          </p:nvPr>
        </p:nvSpPr>
        <p:spPr/>
        <p:txBody>
          <a:bodyPr vert="horz" lIns="91440" tIns="45720" rIns="91440" bIns="45720" rtlCol="0" anchor="t">
            <a:normAutofit lnSpcReduction="10000"/>
          </a:bodyPr>
          <a:lstStyle/>
          <a:p>
            <a:r>
              <a:rPr lang="el-GR" dirty="0">
                <a:latin typeface="Times New Roman"/>
                <a:ea typeface="+mn-lt"/>
                <a:cs typeface="+mn-lt"/>
              </a:rPr>
              <a:t>Το δείγμα σε αυτή την έρευνα επιλέχθηκε με βάση τη μέθοδο της βολικής δειγματοληψίας (</a:t>
            </a:r>
            <a:r>
              <a:rPr lang="el-GR" dirty="0" err="1">
                <a:latin typeface="Times New Roman"/>
                <a:ea typeface="+mn-lt"/>
                <a:cs typeface="+mn-lt"/>
              </a:rPr>
              <a:t>Creswell</a:t>
            </a:r>
            <a:r>
              <a:rPr lang="el-GR" dirty="0">
                <a:latin typeface="Times New Roman"/>
                <a:ea typeface="+mn-lt"/>
                <a:cs typeface="+mn-lt"/>
              </a:rPr>
              <a:t>, 2011, </a:t>
            </a:r>
            <a:r>
              <a:rPr lang="el-GR" dirty="0" err="1">
                <a:latin typeface="Times New Roman"/>
                <a:ea typeface="+mn-lt"/>
                <a:cs typeface="+mn-lt"/>
              </a:rPr>
              <a:t>Mertens</a:t>
            </a:r>
            <a:r>
              <a:rPr lang="el-GR" dirty="0">
                <a:latin typeface="Times New Roman"/>
                <a:ea typeface="+mn-lt"/>
                <a:cs typeface="+mn-lt"/>
              </a:rPr>
              <a:t>, 2009). Στη βολική δειγματοληψία (</a:t>
            </a:r>
            <a:r>
              <a:rPr lang="el-GR" dirty="0" err="1">
                <a:latin typeface="Times New Roman"/>
                <a:ea typeface="+mn-lt"/>
                <a:cs typeface="+mn-lt"/>
              </a:rPr>
              <a:t>convenience</a:t>
            </a:r>
            <a:r>
              <a:rPr lang="el-GR" dirty="0">
                <a:latin typeface="Times New Roman"/>
                <a:ea typeface="+mn-lt"/>
                <a:cs typeface="+mn-lt"/>
              </a:rPr>
              <a:t> </a:t>
            </a:r>
            <a:r>
              <a:rPr lang="el-GR" dirty="0" err="1">
                <a:latin typeface="Times New Roman"/>
                <a:ea typeface="+mn-lt"/>
                <a:cs typeface="+mn-lt"/>
              </a:rPr>
              <a:t>sampling</a:t>
            </a:r>
            <a:r>
              <a:rPr lang="el-GR" dirty="0">
                <a:latin typeface="Times New Roman"/>
                <a:ea typeface="+mn-lt"/>
                <a:cs typeface="+mn-lt"/>
              </a:rPr>
              <a:t>) ο ερευνητής επιλέγει τους συμμετέχοντες επειδή είναι πρόθυμοι και διαθέσιμοι να συμμετάσχουν στη μελέτη (</a:t>
            </a:r>
            <a:r>
              <a:rPr lang="el-GR" dirty="0" err="1">
                <a:latin typeface="Times New Roman"/>
                <a:ea typeface="+mn-lt"/>
                <a:cs typeface="+mn-lt"/>
              </a:rPr>
              <a:t>Creswell</a:t>
            </a:r>
            <a:r>
              <a:rPr lang="el-GR" dirty="0">
                <a:latin typeface="Times New Roman"/>
                <a:ea typeface="+mn-lt"/>
                <a:cs typeface="+mn-lt"/>
              </a:rPr>
              <a:t>, 2011). Ο ερευνητής, βέβαια, δεν μπορεί να πει με σιγουριά ότι τα άτομα αυτά είναι αντιπροσωπευτικά του πληθυσμού και δεν πρέπει να προσπαθήσει να γενικεύσει τα αποτελέσματα στον γενικότερο πληθυσμό, παρόλα αυτά το δείγμα μπορεί να δώσει χρήσιμες πληροφορίες και να απαντηθούν ερωτήματα και υποθέσεις</a:t>
            </a:r>
            <a:endParaRPr lang="el-GR">
              <a:latin typeface="Times New Roman"/>
              <a:cs typeface="Times New Roman"/>
            </a:endParaRPr>
          </a:p>
        </p:txBody>
      </p:sp>
    </p:spTree>
    <p:extLst>
      <p:ext uri="{BB962C8B-B14F-4D97-AF65-F5344CB8AC3E}">
        <p14:creationId xmlns:p14="http://schemas.microsoft.com/office/powerpoint/2010/main" val="501731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0FB1923-ADF4-9755-726D-04E33D93F599}"/>
              </a:ext>
            </a:extLst>
          </p:cNvPr>
          <p:cNvSpPr>
            <a:spLocks noGrp="1"/>
          </p:cNvSpPr>
          <p:nvPr>
            <p:ph type="title"/>
          </p:nvPr>
        </p:nvSpPr>
        <p:spPr/>
        <p:txBody>
          <a:bodyPr/>
          <a:lstStyle/>
          <a:p>
            <a:r>
              <a:rPr lang="el-GR" dirty="0">
                <a:latin typeface="Times New Roman"/>
                <a:cs typeface="Times New Roman"/>
              </a:rPr>
              <a:t>Περιορισμοί</a:t>
            </a:r>
          </a:p>
        </p:txBody>
      </p:sp>
      <p:sp>
        <p:nvSpPr>
          <p:cNvPr id="3" name="Θέση περιεχομένου 2">
            <a:extLst>
              <a:ext uri="{FF2B5EF4-FFF2-40B4-BE49-F238E27FC236}">
                <a16:creationId xmlns:a16="http://schemas.microsoft.com/office/drawing/2014/main" id="{3D9F457D-1F9F-C55F-1F73-03937F4CE95C}"/>
              </a:ext>
            </a:extLst>
          </p:cNvPr>
          <p:cNvSpPr>
            <a:spLocks noGrp="1"/>
          </p:cNvSpPr>
          <p:nvPr>
            <p:ph idx="1"/>
          </p:nvPr>
        </p:nvSpPr>
        <p:spPr/>
        <p:txBody>
          <a:bodyPr vert="horz" lIns="91440" tIns="45720" rIns="91440" bIns="45720" rtlCol="0" anchor="t">
            <a:normAutofit/>
          </a:bodyPr>
          <a:lstStyle/>
          <a:p>
            <a:r>
              <a:rPr lang="el-GR" dirty="0">
                <a:latin typeface="Times New Roman"/>
                <a:ea typeface="+mn-lt"/>
                <a:cs typeface="+mn-lt"/>
              </a:rPr>
              <a:t>Από τους 23 καθηγητές, που ήταν να ερωτηθούν, οι 5 απουσίαζαν εκείνη την μέρα </a:t>
            </a:r>
          </a:p>
          <a:p>
            <a:r>
              <a:rPr lang="el-GR" dirty="0">
                <a:latin typeface="Times New Roman"/>
                <a:ea typeface="+mn-lt"/>
                <a:cs typeface="+mn-lt"/>
              </a:rPr>
              <a:t>Από τους υπόλοιπους 18 καθηγητές, 2 από αυτούς δεν γνώριζαν κάποιες έννοιες που παρουσιάζονταν στο ερωτηματολόγιο, με αποτέλεσμα να μην ρωτήσουν πριν απαντήσουν και έτσι υπάρχουν 2 μη αληθής απαντήσεις</a:t>
            </a:r>
            <a:endParaRPr lang="el-GR" dirty="0">
              <a:latin typeface="Times New Roman"/>
            </a:endParaRPr>
          </a:p>
        </p:txBody>
      </p:sp>
    </p:spTree>
    <p:extLst>
      <p:ext uri="{BB962C8B-B14F-4D97-AF65-F5344CB8AC3E}">
        <p14:creationId xmlns:p14="http://schemas.microsoft.com/office/powerpoint/2010/main" val="3003321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7">
            <a:extLst>
              <a:ext uri="{FF2B5EF4-FFF2-40B4-BE49-F238E27FC236}">
                <a16:creationId xmlns:a16="http://schemas.microsoft.com/office/drawing/2014/main" id="{B20EED73-1494-4E89-869B-E501A02B24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9">
            <a:extLst>
              <a:ext uri="{FF2B5EF4-FFF2-40B4-BE49-F238E27FC236}">
                <a16:creationId xmlns:a16="http://schemas.microsoft.com/office/drawing/2014/main" id="{E9D7A3A2-205A-4FD7-89D2-24FA8A54EA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934" y="0"/>
            <a:ext cx="11377066" cy="4001047"/>
          </a:xfrm>
          <a:custGeom>
            <a:avLst/>
            <a:gdLst>
              <a:gd name="connsiteX0" fmla="*/ 914840 w 11377066"/>
              <a:gd name="connsiteY0" fmla="*/ 0 h 3343806"/>
              <a:gd name="connsiteX1" fmla="*/ 11365513 w 11377066"/>
              <a:gd name="connsiteY1" fmla="*/ 0 h 3343806"/>
              <a:gd name="connsiteX2" fmla="*/ 11365513 w 11377066"/>
              <a:gd name="connsiteY2" fmla="*/ 846735 h 3343806"/>
              <a:gd name="connsiteX3" fmla="*/ 11050704 w 11377066"/>
              <a:gd name="connsiteY3" fmla="*/ 1046017 h 3343806"/>
              <a:gd name="connsiteX4" fmla="*/ 11195112 w 11377066"/>
              <a:gd name="connsiteY4" fmla="*/ 1103780 h 3343806"/>
              <a:gd name="connsiteX5" fmla="*/ 10553944 w 11377066"/>
              <a:gd name="connsiteY5" fmla="*/ 1441695 h 3343806"/>
              <a:gd name="connsiteX6" fmla="*/ 11148902 w 11377066"/>
              <a:gd name="connsiteY6" fmla="*/ 1383932 h 3343806"/>
              <a:gd name="connsiteX7" fmla="*/ 11117132 w 11377066"/>
              <a:gd name="connsiteY7" fmla="*/ 1430142 h 3343806"/>
              <a:gd name="connsiteX8" fmla="*/ 11085363 w 11377066"/>
              <a:gd name="connsiteY8" fmla="*/ 1476352 h 3343806"/>
              <a:gd name="connsiteX9" fmla="*/ 11365513 w 11377066"/>
              <a:gd name="connsiteY9" fmla="*/ 1447471 h 3343806"/>
              <a:gd name="connsiteX10" fmla="*/ 11365513 w 11377066"/>
              <a:gd name="connsiteY10" fmla="*/ 1496569 h 3343806"/>
              <a:gd name="connsiteX11" fmla="*/ 11278869 w 11377066"/>
              <a:gd name="connsiteY11" fmla="*/ 1554332 h 3343806"/>
              <a:gd name="connsiteX12" fmla="*/ 11365513 w 11377066"/>
              <a:gd name="connsiteY12" fmla="*/ 1539891 h 3343806"/>
              <a:gd name="connsiteX13" fmla="*/ 11377066 w 11377066"/>
              <a:gd name="connsiteY13" fmla="*/ 1539891 h 3343806"/>
              <a:gd name="connsiteX14" fmla="*/ 11377066 w 11377066"/>
              <a:gd name="connsiteY14" fmla="*/ 1765167 h 3343806"/>
              <a:gd name="connsiteX15" fmla="*/ 4624577 w 11377066"/>
              <a:gd name="connsiteY15" fmla="*/ 3342096 h 3343806"/>
              <a:gd name="connsiteX16" fmla="*/ 4000738 w 11377066"/>
              <a:gd name="connsiteY16" fmla="*/ 3313214 h 3343806"/>
              <a:gd name="connsiteX17" fmla="*/ 3853443 w 11377066"/>
              <a:gd name="connsiteY17" fmla="*/ 3217905 h 3343806"/>
              <a:gd name="connsiteX18" fmla="*/ 4003625 w 11377066"/>
              <a:gd name="connsiteY18" fmla="*/ 3171695 h 3343806"/>
              <a:gd name="connsiteX19" fmla="*/ 4465729 w 11377066"/>
              <a:gd name="connsiteY19" fmla="*/ 3024399 h 3343806"/>
              <a:gd name="connsiteX20" fmla="*/ 4015179 w 11377066"/>
              <a:gd name="connsiteY20" fmla="*/ 3047505 h 3343806"/>
              <a:gd name="connsiteX21" fmla="*/ 4656346 w 11377066"/>
              <a:gd name="connsiteY21" fmla="*/ 2926202 h 3343806"/>
              <a:gd name="connsiteX22" fmla="*/ 4841188 w 11377066"/>
              <a:gd name="connsiteY22" fmla="*/ 2862663 h 3343806"/>
              <a:gd name="connsiteX23" fmla="*/ 4659236 w 11377066"/>
              <a:gd name="connsiteY23" fmla="*/ 2836670 h 3343806"/>
              <a:gd name="connsiteX24" fmla="*/ 3778351 w 11377066"/>
              <a:gd name="connsiteY24" fmla="*/ 2914650 h 3343806"/>
              <a:gd name="connsiteX25" fmla="*/ 3694595 w 11377066"/>
              <a:gd name="connsiteY25" fmla="*/ 2923314 h 3343806"/>
              <a:gd name="connsiteX26" fmla="*/ 3119852 w 11377066"/>
              <a:gd name="connsiteY26" fmla="*/ 2862663 h 3343806"/>
              <a:gd name="connsiteX27" fmla="*/ 3440437 w 11377066"/>
              <a:gd name="connsiteY27" fmla="*/ 2799124 h 3343806"/>
              <a:gd name="connsiteX28" fmla="*/ 3070753 w 11377066"/>
              <a:gd name="connsiteY28" fmla="*/ 2761578 h 3343806"/>
              <a:gd name="connsiteX29" fmla="*/ 2623091 w 11377066"/>
              <a:gd name="connsiteY29" fmla="*/ 2726920 h 3343806"/>
              <a:gd name="connsiteX30" fmla="*/ 2160987 w 11377066"/>
              <a:gd name="connsiteY30" fmla="*/ 2611394 h 3343806"/>
              <a:gd name="connsiteX31" fmla="*/ 1837515 w 11377066"/>
              <a:gd name="connsiteY31" fmla="*/ 2573848 h 3343806"/>
              <a:gd name="connsiteX32" fmla="*/ 1869284 w 11377066"/>
              <a:gd name="connsiteY32" fmla="*/ 2472763 h 3343806"/>
              <a:gd name="connsiteX33" fmla="*/ 1808633 w 11377066"/>
              <a:gd name="connsiteY33" fmla="*/ 2386119 h 3343806"/>
              <a:gd name="connsiteX34" fmla="*/ 2354493 w 11377066"/>
              <a:gd name="connsiteY34" fmla="*/ 2342797 h 3343806"/>
              <a:gd name="connsiteX35" fmla="*/ 2146546 w 11377066"/>
              <a:gd name="connsiteY35" fmla="*/ 2328356 h 3343806"/>
              <a:gd name="connsiteX36" fmla="*/ 2054126 w 11377066"/>
              <a:gd name="connsiteY36" fmla="*/ 2285034 h 3343806"/>
              <a:gd name="connsiteX37" fmla="*/ 2132106 w 11377066"/>
              <a:gd name="connsiteY37" fmla="*/ 2238823 h 3343806"/>
              <a:gd name="connsiteX38" fmla="*/ 2478684 w 11377066"/>
              <a:gd name="connsiteY38" fmla="*/ 2085751 h 3343806"/>
              <a:gd name="connsiteX39" fmla="*/ 1511154 w 11377066"/>
              <a:gd name="connsiteY39" fmla="*/ 2094416 h 3343806"/>
              <a:gd name="connsiteX40" fmla="*/ 1638232 w 11377066"/>
              <a:gd name="connsiteY40" fmla="*/ 2042429 h 3343806"/>
              <a:gd name="connsiteX41" fmla="*/ 2972556 w 11377066"/>
              <a:gd name="connsiteY41" fmla="*/ 1718957 h 3343806"/>
              <a:gd name="connsiteX42" fmla="*/ 3238266 w 11377066"/>
              <a:gd name="connsiteY42" fmla="*/ 1678523 h 3343806"/>
              <a:gd name="connsiteX43" fmla="*/ 2522005 w 11377066"/>
              <a:gd name="connsiteY43" fmla="*/ 1664082 h 3343806"/>
              <a:gd name="connsiteX44" fmla="*/ 1421621 w 11377066"/>
              <a:gd name="connsiteY44" fmla="*/ 1522563 h 3343806"/>
              <a:gd name="connsiteX45" fmla="*/ 1525595 w 11377066"/>
              <a:gd name="connsiteY45" fmla="*/ 1392596 h 3343806"/>
              <a:gd name="connsiteX46" fmla="*/ 982623 w 11377066"/>
              <a:gd name="connsiteY46" fmla="*/ 1415701 h 3343806"/>
              <a:gd name="connsiteX47" fmla="*/ 1231003 w 11377066"/>
              <a:gd name="connsiteY47" fmla="*/ 1314616 h 3343806"/>
              <a:gd name="connsiteX48" fmla="*/ 1025945 w 11377066"/>
              <a:gd name="connsiteY48" fmla="*/ 1297287 h 3343806"/>
              <a:gd name="connsiteX49" fmla="*/ 841104 w 11377066"/>
              <a:gd name="connsiteY49" fmla="*/ 1225083 h 3343806"/>
              <a:gd name="connsiteX50" fmla="*/ 1612239 w 11377066"/>
              <a:gd name="connsiteY50" fmla="*/ 1112445 h 3343806"/>
              <a:gd name="connsiteX51" fmla="*/ 1814409 w 11377066"/>
              <a:gd name="connsiteY51" fmla="*/ 1008471 h 3343806"/>
              <a:gd name="connsiteX52" fmla="*/ 1932824 w 11377066"/>
              <a:gd name="connsiteY52" fmla="*/ 979590 h 3343806"/>
              <a:gd name="connsiteX53" fmla="*/ 2083007 w 11377066"/>
              <a:gd name="connsiteY53" fmla="*/ 936268 h 3343806"/>
              <a:gd name="connsiteX54" fmla="*/ 1947265 w 11377066"/>
              <a:gd name="connsiteY54" fmla="*/ 924715 h 3343806"/>
              <a:gd name="connsiteX55" fmla="*/ 1271438 w 11377066"/>
              <a:gd name="connsiteY55" fmla="*/ 895834 h 3343806"/>
              <a:gd name="connsiteX56" fmla="*/ 659150 w 11377066"/>
              <a:gd name="connsiteY56" fmla="*/ 907386 h 3343806"/>
              <a:gd name="connsiteX57" fmla="*/ 780453 w 11377066"/>
              <a:gd name="connsiteY57" fmla="*/ 846735 h 3343806"/>
              <a:gd name="connsiteX58" fmla="*/ 841104 w 11377066"/>
              <a:gd name="connsiteY58" fmla="*/ 788972 h 3343806"/>
              <a:gd name="connsiteX59" fmla="*/ 448316 w 11377066"/>
              <a:gd name="connsiteY59" fmla="*/ 659006 h 3343806"/>
              <a:gd name="connsiteX60" fmla="*/ 910419 w 11377066"/>
              <a:gd name="connsiteY60" fmla="*/ 569473 h 3343806"/>
              <a:gd name="connsiteX61" fmla="*/ 604275 w 11377066"/>
              <a:gd name="connsiteY61" fmla="*/ 514598 h 3343806"/>
              <a:gd name="connsiteX62" fmla="*/ 15093 w 11377066"/>
              <a:gd name="connsiteY62" fmla="*/ 352862 h 3343806"/>
              <a:gd name="connsiteX63" fmla="*/ 430987 w 11377066"/>
              <a:gd name="connsiteY63" fmla="*/ 136251 h 3343806"/>
              <a:gd name="connsiteX64" fmla="*/ 874092 w 11377066"/>
              <a:gd name="connsiteY64" fmla="*/ 17656 h 334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1377066" h="3343806">
                <a:moveTo>
                  <a:pt x="914840" y="0"/>
                </a:moveTo>
                <a:lnTo>
                  <a:pt x="11365513" y="0"/>
                </a:lnTo>
                <a:lnTo>
                  <a:pt x="11365513" y="846735"/>
                </a:lnTo>
                <a:cubicBezTo>
                  <a:pt x="11273092" y="924715"/>
                  <a:pt x="11163343" y="985366"/>
                  <a:pt x="11050704" y="1046017"/>
                </a:cubicBezTo>
                <a:cubicBezTo>
                  <a:pt x="11088251" y="1089339"/>
                  <a:pt x="11169119" y="1037353"/>
                  <a:pt x="11195112" y="1103780"/>
                </a:cubicBezTo>
                <a:cubicBezTo>
                  <a:pt x="10987166" y="1216419"/>
                  <a:pt x="10796548" y="1357938"/>
                  <a:pt x="10553944" y="1441695"/>
                </a:cubicBezTo>
                <a:cubicBezTo>
                  <a:pt x="10753226" y="1381043"/>
                  <a:pt x="10952508" y="1409925"/>
                  <a:pt x="11148902" y="1383932"/>
                </a:cubicBezTo>
                <a:cubicBezTo>
                  <a:pt x="11174895" y="1418589"/>
                  <a:pt x="11131573" y="1418589"/>
                  <a:pt x="11117132" y="1430142"/>
                </a:cubicBezTo>
                <a:cubicBezTo>
                  <a:pt x="11102692" y="1441695"/>
                  <a:pt x="11082474" y="1450359"/>
                  <a:pt x="11085363" y="1476352"/>
                </a:cubicBezTo>
                <a:cubicBezTo>
                  <a:pt x="11174895" y="1487905"/>
                  <a:pt x="11273092" y="1447471"/>
                  <a:pt x="11365513" y="1447471"/>
                </a:cubicBezTo>
                <a:lnTo>
                  <a:pt x="11365513" y="1496569"/>
                </a:lnTo>
                <a:cubicBezTo>
                  <a:pt x="11333743" y="1513898"/>
                  <a:pt x="11293310" y="1519674"/>
                  <a:pt x="11278869" y="1554332"/>
                </a:cubicBezTo>
                <a:cubicBezTo>
                  <a:pt x="11307750" y="1548556"/>
                  <a:pt x="11336632" y="1545668"/>
                  <a:pt x="11365513" y="1539891"/>
                </a:cubicBezTo>
                <a:lnTo>
                  <a:pt x="11377066" y="1539891"/>
                </a:lnTo>
                <a:lnTo>
                  <a:pt x="11377066" y="1765167"/>
                </a:lnTo>
                <a:cubicBezTo>
                  <a:pt x="9482441" y="3362313"/>
                  <a:pt x="4945162" y="3324767"/>
                  <a:pt x="4624577" y="3342096"/>
                </a:cubicBezTo>
                <a:cubicBezTo>
                  <a:pt x="4523492" y="3347872"/>
                  <a:pt x="4098935" y="3339207"/>
                  <a:pt x="4000738" y="3313214"/>
                </a:cubicBezTo>
                <a:cubicBezTo>
                  <a:pt x="3867883" y="3281444"/>
                  <a:pt x="3853443" y="3217905"/>
                  <a:pt x="3853443" y="3217905"/>
                </a:cubicBezTo>
                <a:cubicBezTo>
                  <a:pt x="3853443" y="3217905"/>
                  <a:pt x="3919869" y="3191912"/>
                  <a:pt x="4003625" y="3171695"/>
                </a:cubicBezTo>
                <a:cubicBezTo>
                  <a:pt x="4165361" y="3131261"/>
                  <a:pt x="4298217" y="3056169"/>
                  <a:pt x="4465729" y="3024399"/>
                </a:cubicBezTo>
                <a:cubicBezTo>
                  <a:pt x="4315546" y="3033064"/>
                  <a:pt x="4165361" y="3038840"/>
                  <a:pt x="4015179" y="3047505"/>
                </a:cubicBezTo>
                <a:cubicBezTo>
                  <a:pt x="4223124" y="2969524"/>
                  <a:pt x="4442625" y="2957972"/>
                  <a:pt x="4656346" y="2926202"/>
                </a:cubicBezTo>
                <a:cubicBezTo>
                  <a:pt x="4725662" y="2917538"/>
                  <a:pt x="4841188" y="2943531"/>
                  <a:pt x="4841188" y="2862663"/>
                </a:cubicBezTo>
                <a:cubicBezTo>
                  <a:pt x="4838300" y="2810676"/>
                  <a:pt x="4725662" y="2833782"/>
                  <a:pt x="4659236" y="2836670"/>
                </a:cubicBezTo>
                <a:cubicBezTo>
                  <a:pt x="4364644" y="2845334"/>
                  <a:pt x="4072941" y="2882880"/>
                  <a:pt x="3778351" y="2914650"/>
                </a:cubicBezTo>
                <a:cubicBezTo>
                  <a:pt x="3749468" y="2917538"/>
                  <a:pt x="3714811" y="2931979"/>
                  <a:pt x="3694595" y="2923314"/>
                </a:cubicBezTo>
                <a:cubicBezTo>
                  <a:pt x="3527082" y="2865551"/>
                  <a:pt x="3336463" y="2879992"/>
                  <a:pt x="3119852" y="2862663"/>
                </a:cubicBezTo>
                <a:cubicBezTo>
                  <a:pt x="3238266" y="2796236"/>
                  <a:pt x="3339351" y="2842446"/>
                  <a:pt x="3440437" y="2799124"/>
                </a:cubicBezTo>
                <a:cubicBezTo>
                  <a:pt x="3316246" y="2752913"/>
                  <a:pt x="3189168" y="2773131"/>
                  <a:pt x="3070753" y="2761578"/>
                </a:cubicBezTo>
                <a:cubicBezTo>
                  <a:pt x="2984109" y="2752913"/>
                  <a:pt x="2672189" y="2741361"/>
                  <a:pt x="2623091" y="2726920"/>
                </a:cubicBezTo>
                <a:cubicBezTo>
                  <a:pt x="2472907" y="2683598"/>
                  <a:pt x="2293842" y="2689374"/>
                  <a:pt x="2160987" y="2611394"/>
                </a:cubicBezTo>
                <a:cubicBezTo>
                  <a:pt x="2065678" y="2556519"/>
                  <a:pt x="1938600" y="2602730"/>
                  <a:pt x="1837515" y="2573848"/>
                </a:cubicBezTo>
                <a:cubicBezTo>
                  <a:pt x="1794192" y="2533414"/>
                  <a:pt x="1854843" y="2504533"/>
                  <a:pt x="1869284" y="2472763"/>
                </a:cubicBezTo>
                <a:cubicBezTo>
                  <a:pt x="1889502" y="2432329"/>
                  <a:pt x="1834626" y="2423665"/>
                  <a:pt x="1808633" y="2386119"/>
                </a:cubicBezTo>
                <a:cubicBezTo>
                  <a:pt x="1987698" y="2389007"/>
                  <a:pt x="2158099" y="2377454"/>
                  <a:pt x="2354493" y="2342797"/>
                </a:cubicBezTo>
                <a:cubicBezTo>
                  <a:pt x="2273625" y="2290810"/>
                  <a:pt x="2204309" y="2339908"/>
                  <a:pt x="2146546" y="2328356"/>
                </a:cubicBezTo>
                <a:cubicBezTo>
                  <a:pt x="2106113" y="2319691"/>
                  <a:pt x="2054126" y="2328356"/>
                  <a:pt x="2054126" y="2285034"/>
                </a:cubicBezTo>
                <a:cubicBezTo>
                  <a:pt x="2054126" y="2250376"/>
                  <a:pt x="2100336" y="2244599"/>
                  <a:pt x="2132106" y="2238823"/>
                </a:cubicBezTo>
                <a:cubicBezTo>
                  <a:pt x="2256296" y="2218606"/>
                  <a:pt x="2377599" y="2192613"/>
                  <a:pt x="2478684" y="2085751"/>
                </a:cubicBezTo>
                <a:cubicBezTo>
                  <a:pt x="2152323" y="2051094"/>
                  <a:pt x="1817297" y="2186837"/>
                  <a:pt x="1511154" y="2094416"/>
                </a:cubicBezTo>
                <a:cubicBezTo>
                  <a:pt x="1537147" y="2033765"/>
                  <a:pt x="1597798" y="2045317"/>
                  <a:pt x="1638232" y="2042429"/>
                </a:cubicBezTo>
                <a:cubicBezTo>
                  <a:pt x="1909718" y="2016436"/>
                  <a:pt x="2825261" y="1701628"/>
                  <a:pt x="2972556" y="1718957"/>
                </a:cubicBezTo>
                <a:cubicBezTo>
                  <a:pt x="3062089" y="1727621"/>
                  <a:pt x="3154510" y="1721845"/>
                  <a:pt x="3238266" y="1678523"/>
                </a:cubicBezTo>
                <a:cubicBezTo>
                  <a:pt x="3339351" y="1626536"/>
                  <a:pt x="2695295" y="1736286"/>
                  <a:pt x="2522005" y="1664082"/>
                </a:cubicBezTo>
                <a:cubicBezTo>
                  <a:pt x="2438249" y="1629424"/>
                  <a:pt x="1730654" y="1528339"/>
                  <a:pt x="1421621" y="1522563"/>
                </a:cubicBezTo>
                <a:cubicBezTo>
                  <a:pt x="1450503" y="1467688"/>
                  <a:pt x="1557364" y="1470576"/>
                  <a:pt x="1525595" y="1392596"/>
                </a:cubicBezTo>
                <a:cubicBezTo>
                  <a:pt x="1358082" y="1386820"/>
                  <a:pt x="1179017" y="1435918"/>
                  <a:pt x="982623" y="1415701"/>
                </a:cubicBezTo>
                <a:cubicBezTo>
                  <a:pt x="1051938" y="1346386"/>
                  <a:pt x="1153023" y="1352162"/>
                  <a:pt x="1231003" y="1314616"/>
                </a:cubicBezTo>
                <a:cubicBezTo>
                  <a:pt x="1170352" y="1262629"/>
                  <a:pt x="1095261" y="1294399"/>
                  <a:pt x="1025945" y="1297287"/>
                </a:cubicBezTo>
                <a:cubicBezTo>
                  <a:pt x="965294" y="1300175"/>
                  <a:pt x="812222" y="1227972"/>
                  <a:pt x="841104" y="1225083"/>
                </a:cubicBezTo>
                <a:cubicBezTo>
                  <a:pt x="1101037" y="1207755"/>
                  <a:pt x="1352306" y="1129775"/>
                  <a:pt x="1612239" y="1112445"/>
                </a:cubicBezTo>
                <a:cubicBezTo>
                  <a:pt x="1698883" y="1106668"/>
                  <a:pt x="1797081" y="1112445"/>
                  <a:pt x="1814409" y="1008471"/>
                </a:cubicBezTo>
                <a:cubicBezTo>
                  <a:pt x="1817297" y="979590"/>
                  <a:pt x="1808633" y="973814"/>
                  <a:pt x="1932824" y="979590"/>
                </a:cubicBezTo>
                <a:cubicBezTo>
                  <a:pt x="1981922" y="982478"/>
                  <a:pt x="2045461" y="982478"/>
                  <a:pt x="2083007" y="936268"/>
                </a:cubicBezTo>
                <a:cubicBezTo>
                  <a:pt x="2045461" y="898722"/>
                  <a:pt x="1990587" y="927603"/>
                  <a:pt x="1947265" y="924715"/>
                </a:cubicBezTo>
                <a:cubicBezTo>
                  <a:pt x="1828850" y="921827"/>
                  <a:pt x="1386963" y="904498"/>
                  <a:pt x="1271438" y="895834"/>
                </a:cubicBezTo>
                <a:cubicBezTo>
                  <a:pt x="1031721" y="875617"/>
                  <a:pt x="901755" y="933380"/>
                  <a:pt x="659150" y="907386"/>
                </a:cubicBezTo>
                <a:cubicBezTo>
                  <a:pt x="734242" y="890057"/>
                  <a:pt x="705361" y="866952"/>
                  <a:pt x="780453" y="846735"/>
                </a:cubicBezTo>
                <a:cubicBezTo>
                  <a:pt x="815110" y="838071"/>
                  <a:pt x="849768" y="820742"/>
                  <a:pt x="841104" y="788972"/>
                </a:cubicBezTo>
                <a:cubicBezTo>
                  <a:pt x="835327" y="757202"/>
                  <a:pt x="396329" y="690775"/>
                  <a:pt x="448316" y="659006"/>
                </a:cubicBezTo>
                <a:cubicBezTo>
                  <a:pt x="592723" y="575249"/>
                  <a:pt x="1020169" y="607019"/>
                  <a:pt x="910419" y="569473"/>
                </a:cubicBezTo>
                <a:cubicBezTo>
                  <a:pt x="742907" y="511710"/>
                  <a:pt x="716913" y="500157"/>
                  <a:pt x="604275" y="514598"/>
                </a:cubicBezTo>
                <a:cubicBezTo>
                  <a:pt x="506079" y="529039"/>
                  <a:pt x="113290" y="349974"/>
                  <a:pt x="15093" y="352862"/>
                </a:cubicBezTo>
                <a:cubicBezTo>
                  <a:pt x="-71551" y="352862"/>
                  <a:pt x="234593" y="211343"/>
                  <a:pt x="430987" y="136251"/>
                </a:cubicBezTo>
                <a:cubicBezTo>
                  <a:pt x="571784" y="82098"/>
                  <a:pt x="732076" y="70184"/>
                  <a:pt x="874092" y="17656"/>
                </a:cubicBezTo>
                <a:close/>
              </a:path>
            </a:pathLst>
          </a:custGeom>
          <a:solidFill>
            <a:schemeClr val="accent1">
              <a:alpha val="15000"/>
            </a:schemeClr>
          </a:solidFill>
          <a:ln w="32707" cap="flat">
            <a:noFill/>
            <a:prstDash val="solid"/>
            <a:miter/>
          </a:ln>
        </p:spPr>
        <p:txBody>
          <a:bodyPr wrap="square" rtlCol="0" anchor="ctr">
            <a:noAutofit/>
          </a:bodyPr>
          <a:lstStyle/>
          <a:p>
            <a:endParaRPr lang="en-US">
              <a:solidFill>
                <a:schemeClr val="tx1"/>
              </a:solidFill>
            </a:endParaRPr>
          </a:p>
        </p:txBody>
      </p:sp>
      <p:sp>
        <p:nvSpPr>
          <p:cNvPr id="3" name="Θέση περιεχομένου 2">
            <a:extLst>
              <a:ext uri="{FF2B5EF4-FFF2-40B4-BE49-F238E27FC236}">
                <a16:creationId xmlns:a16="http://schemas.microsoft.com/office/drawing/2014/main" id="{A3645CAB-FF68-D88C-69DD-679E896AC45E}"/>
              </a:ext>
            </a:extLst>
          </p:cNvPr>
          <p:cNvSpPr>
            <a:spLocks noGrp="1"/>
          </p:cNvSpPr>
          <p:nvPr>
            <p:ph idx="1"/>
          </p:nvPr>
        </p:nvSpPr>
        <p:spPr>
          <a:xfrm>
            <a:off x="2150299" y="1463941"/>
            <a:ext cx="7888269" cy="3929186"/>
          </a:xfrm>
        </p:spPr>
        <p:txBody>
          <a:bodyPr vert="horz" lIns="91440" tIns="45720" rIns="91440" bIns="45720" rtlCol="0" anchor="t">
            <a:normAutofit/>
          </a:bodyPr>
          <a:lstStyle/>
          <a:p>
            <a:pPr marL="0" indent="0">
              <a:buNone/>
            </a:pPr>
            <a:r>
              <a:rPr lang="el-GR" sz="5400" dirty="0">
                <a:latin typeface="Times New Roman"/>
                <a:cs typeface="Times New Roman"/>
              </a:rPr>
              <a:t>Σας ευχαριστούμε πολύ που μας παρακολουθήσατε!</a:t>
            </a:r>
            <a:endParaRPr lang="el-GR" sz="5400" dirty="0"/>
          </a:p>
        </p:txBody>
      </p:sp>
      <p:sp>
        <p:nvSpPr>
          <p:cNvPr id="23" name="Freeform: Shape 11">
            <a:extLst>
              <a:ext uri="{FF2B5EF4-FFF2-40B4-BE49-F238E27FC236}">
                <a16:creationId xmlns:a16="http://schemas.microsoft.com/office/drawing/2014/main" id="{C6BFDF0B-6325-416D-926F-7141006D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93668" y="5127460"/>
            <a:ext cx="6498333" cy="1730540"/>
          </a:xfrm>
          <a:custGeom>
            <a:avLst/>
            <a:gdLst>
              <a:gd name="connsiteX0" fmla="*/ 2987112 w 6498333"/>
              <a:gd name="connsiteY0" fmla="*/ 1730384 h 1730540"/>
              <a:gd name="connsiteX1" fmla="*/ 3113423 w 6498333"/>
              <a:gd name="connsiteY1" fmla="*/ 1728494 h 1730540"/>
              <a:gd name="connsiteX2" fmla="*/ 6436159 w 6498333"/>
              <a:gd name="connsiteY2" fmla="*/ 1396018 h 1730540"/>
              <a:gd name="connsiteX3" fmla="*/ 6498333 w 6498333"/>
              <a:gd name="connsiteY3" fmla="*/ 1381988 h 1730540"/>
              <a:gd name="connsiteX4" fmla="*/ 6498333 w 6498333"/>
              <a:gd name="connsiteY4" fmla="*/ 0 h 1730540"/>
              <a:gd name="connsiteX5" fmla="*/ 723703 w 6498333"/>
              <a:gd name="connsiteY5" fmla="*/ 0 h 1730540"/>
              <a:gd name="connsiteX6" fmla="*/ 629735 w 6498333"/>
              <a:gd name="connsiteY6" fmla="*/ 31770 h 1730540"/>
              <a:gd name="connsiteX7" fmla="*/ 127078 w 6498333"/>
              <a:gd name="connsiteY7" fmla="*/ 173371 h 1730540"/>
              <a:gd name="connsiteX8" fmla="*/ 0 w 6498333"/>
              <a:gd name="connsiteY8" fmla="*/ 235577 h 1730540"/>
              <a:gd name="connsiteX9" fmla="*/ 967530 w 6498333"/>
              <a:gd name="connsiteY9" fmla="*/ 225208 h 1730540"/>
              <a:gd name="connsiteX10" fmla="*/ 620954 w 6498333"/>
              <a:gd name="connsiteY10" fmla="*/ 408367 h 1730540"/>
              <a:gd name="connsiteX11" fmla="*/ 542972 w 6498333"/>
              <a:gd name="connsiteY11" fmla="*/ 463661 h 1730540"/>
              <a:gd name="connsiteX12" fmla="*/ 635392 w 6498333"/>
              <a:gd name="connsiteY12" fmla="*/ 515499 h 1730540"/>
              <a:gd name="connsiteX13" fmla="*/ 843339 w 6498333"/>
              <a:gd name="connsiteY13" fmla="*/ 532778 h 1730540"/>
              <a:gd name="connsiteX14" fmla="*/ 297479 w 6498333"/>
              <a:gd name="connsiteY14" fmla="*/ 584615 h 1730540"/>
              <a:gd name="connsiteX15" fmla="*/ 358130 w 6498333"/>
              <a:gd name="connsiteY15" fmla="*/ 688289 h 1730540"/>
              <a:gd name="connsiteX16" fmla="*/ 326361 w 6498333"/>
              <a:gd name="connsiteY16" fmla="*/ 809243 h 1730540"/>
              <a:gd name="connsiteX17" fmla="*/ 649833 w 6498333"/>
              <a:gd name="connsiteY17" fmla="*/ 854169 h 1730540"/>
              <a:gd name="connsiteX18" fmla="*/ 1111937 w 6498333"/>
              <a:gd name="connsiteY18" fmla="*/ 992402 h 1730540"/>
              <a:gd name="connsiteX19" fmla="*/ 1559599 w 6498333"/>
              <a:gd name="connsiteY19" fmla="*/ 1033872 h 1730540"/>
              <a:gd name="connsiteX20" fmla="*/ 1929284 w 6498333"/>
              <a:gd name="connsiteY20" fmla="*/ 1078798 h 1730540"/>
              <a:gd name="connsiteX21" fmla="*/ 1608698 w 6498333"/>
              <a:gd name="connsiteY21" fmla="*/ 1154826 h 1730540"/>
              <a:gd name="connsiteX22" fmla="*/ 2183442 w 6498333"/>
              <a:gd name="connsiteY22" fmla="*/ 1227398 h 1730540"/>
              <a:gd name="connsiteX23" fmla="*/ 2267197 w 6498333"/>
              <a:gd name="connsiteY23" fmla="*/ 1217031 h 1730540"/>
              <a:gd name="connsiteX24" fmla="*/ 3148082 w 6498333"/>
              <a:gd name="connsiteY24" fmla="*/ 1123724 h 1730540"/>
              <a:gd name="connsiteX25" fmla="*/ 3330034 w 6498333"/>
              <a:gd name="connsiteY25" fmla="*/ 1154826 h 1730540"/>
              <a:gd name="connsiteX26" fmla="*/ 3145192 w 6498333"/>
              <a:gd name="connsiteY26" fmla="*/ 1230854 h 1730540"/>
              <a:gd name="connsiteX27" fmla="*/ 2504025 w 6498333"/>
              <a:gd name="connsiteY27" fmla="*/ 1376000 h 1730540"/>
              <a:gd name="connsiteX28" fmla="*/ 2954575 w 6498333"/>
              <a:gd name="connsiteY28" fmla="*/ 1348352 h 1730540"/>
              <a:gd name="connsiteX29" fmla="*/ 2492471 w 6498333"/>
              <a:gd name="connsiteY29" fmla="*/ 1524600 h 1730540"/>
              <a:gd name="connsiteX30" fmla="*/ 2342289 w 6498333"/>
              <a:gd name="connsiteY30" fmla="*/ 1579893 h 1730540"/>
              <a:gd name="connsiteX31" fmla="*/ 2489584 w 6498333"/>
              <a:gd name="connsiteY31" fmla="*/ 1693935 h 1730540"/>
              <a:gd name="connsiteX32" fmla="*/ 2987112 w 6498333"/>
              <a:gd name="connsiteY32" fmla="*/ 1730384 h 173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498333" h="1730540">
                <a:moveTo>
                  <a:pt x="2987112" y="1730384"/>
                </a:moveTo>
                <a:cubicBezTo>
                  <a:pt x="3042664" y="1730870"/>
                  <a:pt x="3088152" y="1730222"/>
                  <a:pt x="3113423" y="1728494"/>
                </a:cubicBezTo>
                <a:cubicBezTo>
                  <a:pt x="3293752" y="1716831"/>
                  <a:pt x="4808270" y="1725943"/>
                  <a:pt x="6436159" y="1396018"/>
                </a:cubicBezTo>
                <a:lnTo>
                  <a:pt x="6498333" y="1381988"/>
                </a:lnTo>
                <a:lnTo>
                  <a:pt x="6498333" y="0"/>
                </a:lnTo>
                <a:lnTo>
                  <a:pt x="723703" y="0"/>
                </a:lnTo>
                <a:lnTo>
                  <a:pt x="629735" y="31770"/>
                </a:lnTo>
                <a:cubicBezTo>
                  <a:pt x="421263" y="101447"/>
                  <a:pt x="228886" y="161708"/>
                  <a:pt x="127078" y="173371"/>
                </a:cubicBezTo>
                <a:cubicBezTo>
                  <a:pt x="86644" y="176827"/>
                  <a:pt x="25993" y="163004"/>
                  <a:pt x="0" y="235577"/>
                </a:cubicBezTo>
                <a:cubicBezTo>
                  <a:pt x="306144" y="346163"/>
                  <a:pt x="641170" y="183739"/>
                  <a:pt x="967530" y="225208"/>
                </a:cubicBezTo>
                <a:cubicBezTo>
                  <a:pt x="866445" y="353075"/>
                  <a:pt x="745142" y="384177"/>
                  <a:pt x="620954" y="408367"/>
                </a:cubicBezTo>
                <a:cubicBezTo>
                  <a:pt x="589182" y="415279"/>
                  <a:pt x="542972" y="422191"/>
                  <a:pt x="542972" y="463661"/>
                </a:cubicBezTo>
                <a:cubicBezTo>
                  <a:pt x="542972" y="515499"/>
                  <a:pt x="594959" y="505130"/>
                  <a:pt x="635392" y="515499"/>
                </a:cubicBezTo>
                <a:cubicBezTo>
                  <a:pt x="693155" y="529321"/>
                  <a:pt x="762471" y="470573"/>
                  <a:pt x="843339" y="532778"/>
                </a:cubicBezTo>
                <a:cubicBezTo>
                  <a:pt x="646945" y="574247"/>
                  <a:pt x="476544" y="588071"/>
                  <a:pt x="297479" y="584615"/>
                </a:cubicBezTo>
                <a:cubicBezTo>
                  <a:pt x="323472" y="629541"/>
                  <a:pt x="378348" y="639908"/>
                  <a:pt x="358130" y="688289"/>
                </a:cubicBezTo>
                <a:cubicBezTo>
                  <a:pt x="343689" y="726304"/>
                  <a:pt x="283038" y="760862"/>
                  <a:pt x="326361" y="809243"/>
                </a:cubicBezTo>
                <a:cubicBezTo>
                  <a:pt x="427447" y="843802"/>
                  <a:pt x="554524" y="788508"/>
                  <a:pt x="649833" y="854169"/>
                </a:cubicBezTo>
                <a:cubicBezTo>
                  <a:pt x="782688" y="947476"/>
                  <a:pt x="961753" y="940565"/>
                  <a:pt x="1111937" y="992402"/>
                </a:cubicBezTo>
                <a:cubicBezTo>
                  <a:pt x="1161035" y="1009682"/>
                  <a:pt x="1472955" y="1023504"/>
                  <a:pt x="1559599" y="1033872"/>
                </a:cubicBezTo>
                <a:cubicBezTo>
                  <a:pt x="1678015" y="1047696"/>
                  <a:pt x="1805093" y="1023504"/>
                  <a:pt x="1929284" y="1078798"/>
                </a:cubicBezTo>
                <a:cubicBezTo>
                  <a:pt x="1828198" y="1130635"/>
                  <a:pt x="1727113" y="1075343"/>
                  <a:pt x="1608698" y="1154826"/>
                </a:cubicBezTo>
                <a:cubicBezTo>
                  <a:pt x="1825309" y="1175561"/>
                  <a:pt x="2015928" y="1158282"/>
                  <a:pt x="2183442" y="1227398"/>
                </a:cubicBezTo>
                <a:cubicBezTo>
                  <a:pt x="2203658" y="1237767"/>
                  <a:pt x="2238314" y="1220487"/>
                  <a:pt x="2267197" y="1217031"/>
                </a:cubicBezTo>
                <a:cubicBezTo>
                  <a:pt x="2561787" y="1179017"/>
                  <a:pt x="2853490" y="1134091"/>
                  <a:pt x="3148082" y="1123724"/>
                </a:cubicBezTo>
                <a:cubicBezTo>
                  <a:pt x="3214508" y="1120268"/>
                  <a:pt x="3327146" y="1092621"/>
                  <a:pt x="3330034" y="1154826"/>
                </a:cubicBezTo>
                <a:cubicBezTo>
                  <a:pt x="3330034" y="1251589"/>
                  <a:pt x="3214508" y="1220487"/>
                  <a:pt x="3145192" y="1230854"/>
                </a:cubicBezTo>
                <a:cubicBezTo>
                  <a:pt x="2931471" y="1268869"/>
                  <a:pt x="2711970" y="1282691"/>
                  <a:pt x="2504025" y="1376000"/>
                </a:cubicBezTo>
                <a:cubicBezTo>
                  <a:pt x="2654207" y="1365632"/>
                  <a:pt x="2804392" y="1358720"/>
                  <a:pt x="2954575" y="1348352"/>
                </a:cubicBezTo>
                <a:cubicBezTo>
                  <a:pt x="2787063" y="1386367"/>
                  <a:pt x="2654207" y="1476218"/>
                  <a:pt x="2492471" y="1524600"/>
                </a:cubicBezTo>
                <a:cubicBezTo>
                  <a:pt x="2408715" y="1548791"/>
                  <a:pt x="2342289" y="1579893"/>
                  <a:pt x="2342289" y="1579893"/>
                </a:cubicBezTo>
                <a:cubicBezTo>
                  <a:pt x="2342289" y="1579893"/>
                  <a:pt x="2356730" y="1655921"/>
                  <a:pt x="2489584" y="1693935"/>
                </a:cubicBezTo>
                <a:cubicBezTo>
                  <a:pt x="2563232" y="1717262"/>
                  <a:pt x="2820457" y="1728925"/>
                  <a:pt x="2987112" y="1730384"/>
                </a:cubicBezTo>
                <a:close/>
              </a:path>
            </a:pathLst>
          </a:custGeom>
          <a:solidFill>
            <a:schemeClr val="accent1">
              <a:alpha val="10000"/>
            </a:schemeClr>
          </a:solidFill>
          <a:ln w="32707" cap="flat">
            <a:noFill/>
            <a:prstDash val="solid"/>
            <a:miter/>
          </a:ln>
        </p:spPr>
        <p:txBody>
          <a:bodyPr wrap="square" rtlCol="0" anchor="ctr">
            <a:noAutofit/>
          </a:bodyPr>
          <a:lstStyle/>
          <a:p>
            <a:endParaRPr lang="en-US">
              <a:solidFill>
                <a:schemeClr val="tx1"/>
              </a:solidFill>
            </a:endParaRPr>
          </a:p>
        </p:txBody>
      </p:sp>
    </p:spTree>
    <p:extLst>
      <p:ext uri="{BB962C8B-B14F-4D97-AF65-F5344CB8AC3E}">
        <p14:creationId xmlns:p14="http://schemas.microsoft.com/office/powerpoint/2010/main" val="692291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306CD76-BFB3-35D9-C35F-16752984A57C}"/>
              </a:ext>
            </a:extLst>
          </p:cNvPr>
          <p:cNvSpPr>
            <a:spLocks noGrp="1"/>
          </p:cNvSpPr>
          <p:nvPr>
            <p:ph type="title"/>
          </p:nvPr>
        </p:nvSpPr>
        <p:spPr/>
        <p:txBody>
          <a:bodyPr/>
          <a:lstStyle/>
          <a:p>
            <a:r>
              <a:rPr lang="el-GR" i="0" dirty="0">
                <a:latin typeface="Times New Roman"/>
                <a:cs typeface="Times New Roman"/>
              </a:rPr>
              <a:t>Ενδεικτική Βιβλιογραφία</a:t>
            </a:r>
            <a:endParaRPr lang="en-US" i="0">
              <a:latin typeface="Times New Roman"/>
              <a:ea typeface="+mj-lt"/>
              <a:cs typeface="+mj-lt"/>
            </a:endParaRPr>
          </a:p>
        </p:txBody>
      </p:sp>
      <p:sp>
        <p:nvSpPr>
          <p:cNvPr id="3" name="Θέση περιεχομένου 2">
            <a:extLst>
              <a:ext uri="{FF2B5EF4-FFF2-40B4-BE49-F238E27FC236}">
                <a16:creationId xmlns:a16="http://schemas.microsoft.com/office/drawing/2014/main" id="{99E9AC55-401E-E5E7-823E-3300B10B4F0E}"/>
              </a:ext>
            </a:extLst>
          </p:cNvPr>
          <p:cNvSpPr>
            <a:spLocks noGrp="1"/>
          </p:cNvSpPr>
          <p:nvPr>
            <p:ph idx="1"/>
          </p:nvPr>
        </p:nvSpPr>
        <p:spPr/>
        <p:txBody>
          <a:bodyPr vert="horz" lIns="91440" tIns="45720" rIns="91440" bIns="45720" rtlCol="0" anchor="t">
            <a:normAutofit/>
          </a:bodyPr>
          <a:lstStyle/>
          <a:p>
            <a:r>
              <a:rPr lang="el-GR" dirty="0">
                <a:latin typeface="Times New Roman"/>
                <a:cs typeface="Times New Roman"/>
              </a:rPr>
              <a:t>European </a:t>
            </a:r>
            <a:r>
              <a:rPr lang="el-GR" dirty="0" err="1">
                <a:latin typeface="Times New Roman"/>
                <a:cs typeface="Times New Roman"/>
              </a:rPr>
              <a:t>Comission</a:t>
            </a:r>
            <a:r>
              <a:rPr lang="el-GR" dirty="0">
                <a:latin typeface="Times New Roman"/>
                <a:cs typeface="Times New Roman"/>
              </a:rPr>
              <a:t> (2014). </a:t>
            </a:r>
            <a:r>
              <a:rPr lang="el-GR" dirty="0" err="1">
                <a:latin typeface="Times New Roman"/>
                <a:cs typeface="Times New Roman"/>
              </a:rPr>
              <a:t>Survey</a:t>
            </a:r>
            <a:r>
              <a:rPr lang="el-GR" dirty="0">
                <a:latin typeface="Times New Roman"/>
                <a:cs typeface="Times New Roman"/>
              </a:rPr>
              <a:t> of </a:t>
            </a:r>
            <a:r>
              <a:rPr lang="el-GR" dirty="0" err="1">
                <a:latin typeface="Times New Roman"/>
                <a:cs typeface="Times New Roman"/>
              </a:rPr>
              <a:t>Schools</a:t>
            </a:r>
            <a:r>
              <a:rPr lang="el-GR" dirty="0">
                <a:latin typeface="Times New Roman"/>
                <a:cs typeface="Times New Roman"/>
              </a:rPr>
              <a:t>: ICT in </a:t>
            </a:r>
            <a:r>
              <a:rPr lang="el-GR" dirty="0" err="1">
                <a:latin typeface="Times New Roman"/>
                <a:cs typeface="Times New Roman"/>
              </a:rPr>
              <a:t>Education</a:t>
            </a:r>
            <a:r>
              <a:rPr lang="el-GR" dirty="0">
                <a:latin typeface="Times New Roman"/>
                <a:cs typeface="Times New Roman"/>
              </a:rPr>
              <a:t>.</a:t>
            </a:r>
            <a:endParaRPr lang="el-GR">
              <a:latin typeface="Times New Roman"/>
              <a:ea typeface="+mn-lt"/>
              <a:cs typeface="+mn-lt"/>
            </a:endParaRPr>
          </a:p>
          <a:p>
            <a:r>
              <a:rPr lang="el-GR" dirty="0">
                <a:latin typeface="Times New Roman"/>
                <a:cs typeface="Times New Roman"/>
              </a:rPr>
              <a:t>Johnson, J. (2003). Children, </a:t>
            </a:r>
            <a:r>
              <a:rPr lang="el-GR" dirty="0" err="1">
                <a:latin typeface="Times New Roman"/>
                <a:cs typeface="Times New Roman"/>
              </a:rPr>
              <a:t>robotics</a:t>
            </a:r>
            <a:r>
              <a:rPr lang="el-GR" dirty="0">
                <a:latin typeface="Times New Roman"/>
                <a:cs typeface="Times New Roman"/>
              </a:rPr>
              <a:t>, and </a:t>
            </a:r>
            <a:r>
              <a:rPr lang="el-GR" dirty="0" err="1">
                <a:latin typeface="Times New Roman"/>
                <a:cs typeface="Times New Roman"/>
              </a:rPr>
              <a:t>Education</a:t>
            </a:r>
            <a:r>
              <a:rPr lang="el-GR" dirty="0">
                <a:latin typeface="Times New Roman"/>
                <a:cs typeface="Times New Roman"/>
              </a:rPr>
              <a:t>. </a:t>
            </a:r>
            <a:r>
              <a:rPr lang="el-GR" i="1" dirty="0" err="1">
                <a:latin typeface="Times New Roman"/>
                <a:cs typeface="Times New Roman"/>
              </a:rPr>
              <a:t>Artificial</a:t>
            </a:r>
            <a:r>
              <a:rPr lang="el-GR" i="1" dirty="0">
                <a:latin typeface="Times New Roman"/>
                <a:cs typeface="Times New Roman"/>
              </a:rPr>
              <a:t> </a:t>
            </a:r>
            <a:r>
              <a:rPr lang="el-GR" i="1" dirty="0" err="1">
                <a:latin typeface="Times New Roman"/>
                <a:cs typeface="Times New Roman"/>
              </a:rPr>
              <a:t>Life</a:t>
            </a:r>
            <a:r>
              <a:rPr lang="el-GR" i="1" dirty="0">
                <a:latin typeface="Times New Roman"/>
                <a:cs typeface="Times New Roman"/>
              </a:rPr>
              <a:t> and </a:t>
            </a:r>
            <a:r>
              <a:rPr lang="el-GR" i="1" dirty="0" err="1">
                <a:latin typeface="Times New Roman"/>
                <a:cs typeface="Times New Roman"/>
              </a:rPr>
              <a:t>Robotics</a:t>
            </a:r>
            <a:r>
              <a:rPr lang="el-GR" dirty="0">
                <a:latin typeface="Times New Roman"/>
                <a:cs typeface="Times New Roman"/>
              </a:rPr>
              <a:t>, </a:t>
            </a:r>
            <a:r>
              <a:rPr lang="el-GR" i="1" dirty="0">
                <a:latin typeface="Times New Roman"/>
                <a:cs typeface="Times New Roman"/>
              </a:rPr>
              <a:t>7</a:t>
            </a:r>
            <a:r>
              <a:rPr lang="el-GR" dirty="0">
                <a:latin typeface="Times New Roman"/>
                <a:cs typeface="Times New Roman"/>
              </a:rPr>
              <a:t>(1-2), 16–21.</a:t>
            </a:r>
            <a:endParaRPr lang="el-GR">
              <a:latin typeface="Times New Roman"/>
              <a:ea typeface="+mn-lt"/>
              <a:cs typeface="+mn-lt"/>
            </a:endParaRPr>
          </a:p>
          <a:p>
            <a:r>
              <a:rPr lang="el-GR" dirty="0" err="1">
                <a:latin typeface="Times New Roman"/>
                <a:cs typeface="Times New Roman"/>
              </a:rPr>
              <a:t>Miller</a:t>
            </a:r>
            <a:r>
              <a:rPr lang="el-GR" dirty="0">
                <a:latin typeface="Times New Roman"/>
                <a:cs typeface="Times New Roman"/>
              </a:rPr>
              <a:t>, D. P., &amp; </a:t>
            </a:r>
            <a:r>
              <a:rPr lang="el-GR" dirty="0" err="1">
                <a:latin typeface="Times New Roman"/>
                <a:cs typeface="Times New Roman"/>
              </a:rPr>
              <a:t>Nourbakhsh</a:t>
            </a:r>
            <a:r>
              <a:rPr lang="el-GR" dirty="0">
                <a:latin typeface="Times New Roman"/>
                <a:cs typeface="Times New Roman"/>
              </a:rPr>
              <a:t>, I. (2016). </a:t>
            </a:r>
            <a:r>
              <a:rPr lang="el-GR" dirty="0" err="1">
                <a:latin typeface="Times New Roman"/>
                <a:cs typeface="Times New Roman"/>
              </a:rPr>
              <a:t>Robotics</a:t>
            </a:r>
            <a:r>
              <a:rPr lang="el-GR" dirty="0">
                <a:latin typeface="Times New Roman"/>
                <a:cs typeface="Times New Roman"/>
              </a:rPr>
              <a:t> for </a:t>
            </a:r>
            <a:r>
              <a:rPr lang="el-GR" dirty="0" err="1">
                <a:latin typeface="Times New Roman"/>
                <a:cs typeface="Times New Roman"/>
              </a:rPr>
              <a:t>education</a:t>
            </a:r>
            <a:r>
              <a:rPr lang="el-GR" dirty="0">
                <a:latin typeface="Times New Roman"/>
                <a:cs typeface="Times New Roman"/>
              </a:rPr>
              <a:t>. </a:t>
            </a:r>
            <a:r>
              <a:rPr lang="el-GR" i="1" dirty="0" err="1">
                <a:latin typeface="Times New Roman"/>
                <a:cs typeface="Times New Roman"/>
              </a:rPr>
              <a:t>Springer</a:t>
            </a:r>
            <a:r>
              <a:rPr lang="el-GR" i="1" dirty="0">
                <a:latin typeface="Times New Roman"/>
                <a:cs typeface="Times New Roman"/>
              </a:rPr>
              <a:t> </a:t>
            </a:r>
            <a:r>
              <a:rPr lang="el-GR" i="1" dirty="0" err="1">
                <a:latin typeface="Times New Roman"/>
                <a:cs typeface="Times New Roman"/>
              </a:rPr>
              <a:t>Handbook</a:t>
            </a:r>
            <a:r>
              <a:rPr lang="el-GR" i="1" dirty="0">
                <a:latin typeface="Times New Roman"/>
                <a:cs typeface="Times New Roman"/>
              </a:rPr>
              <a:t> of </a:t>
            </a:r>
            <a:r>
              <a:rPr lang="el-GR" i="1" dirty="0" err="1">
                <a:latin typeface="Times New Roman"/>
                <a:cs typeface="Times New Roman"/>
              </a:rPr>
              <a:t>Robotics</a:t>
            </a:r>
            <a:r>
              <a:rPr lang="el-GR" dirty="0">
                <a:latin typeface="Times New Roman"/>
                <a:cs typeface="Times New Roman"/>
              </a:rPr>
              <a:t>, 2115–2134. </a:t>
            </a:r>
            <a:endParaRPr lang="el-GR">
              <a:latin typeface="Times New Roman"/>
              <a:ea typeface="+mn-lt"/>
              <a:cs typeface="+mn-lt"/>
            </a:endParaRPr>
          </a:p>
          <a:p>
            <a:r>
              <a:rPr lang="el-GR" dirty="0" err="1">
                <a:latin typeface="Times New Roman"/>
                <a:cs typeface="Times New Roman"/>
              </a:rPr>
              <a:t>Robotics</a:t>
            </a:r>
            <a:r>
              <a:rPr lang="el-GR" dirty="0">
                <a:latin typeface="Times New Roman"/>
                <a:cs typeface="Times New Roman"/>
              </a:rPr>
              <a:t> in </a:t>
            </a:r>
            <a:r>
              <a:rPr lang="el-GR" dirty="0" err="1">
                <a:latin typeface="Times New Roman"/>
                <a:cs typeface="Times New Roman"/>
              </a:rPr>
              <a:t>education</a:t>
            </a:r>
            <a:r>
              <a:rPr lang="el-GR" dirty="0">
                <a:latin typeface="Times New Roman"/>
                <a:cs typeface="Times New Roman"/>
              </a:rPr>
              <a:t>: </a:t>
            </a:r>
            <a:r>
              <a:rPr lang="el-GR" dirty="0" err="1">
                <a:latin typeface="Times New Roman"/>
                <a:cs typeface="Times New Roman"/>
              </a:rPr>
              <a:t>Constructing</a:t>
            </a:r>
            <a:r>
              <a:rPr lang="el-GR" dirty="0">
                <a:latin typeface="Times New Roman"/>
                <a:cs typeface="Times New Roman"/>
              </a:rPr>
              <a:t>, </a:t>
            </a:r>
            <a:r>
              <a:rPr lang="el-GR" dirty="0" err="1">
                <a:latin typeface="Times New Roman"/>
                <a:cs typeface="Times New Roman"/>
              </a:rPr>
              <a:t>coding</a:t>
            </a:r>
            <a:r>
              <a:rPr lang="el-GR" dirty="0">
                <a:latin typeface="Times New Roman"/>
                <a:cs typeface="Times New Roman"/>
              </a:rPr>
              <a:t>, and </a:t>
            </a:r>
            <a:r>
              <a:rPr lang="el-GR" dirty="0" err="1">
                <a:latin typeface="Times New Roman"/>
                <a:cs typeface="Times New Roman"/>
              </a:rPr>
              <a:t>competing</a:t>
            </a:r>
            <a:r>
              <a:rPr lang="el-GR" dirty="0">
                <a:latin typeface="Times New Roman"/>
                <a:cs typeface="Times New Roman"/>
              </a:rPr>
              <a:t>. </a:t>
            </a:r>
            <a:r>
              <a:rPr lang="el-GR" dirty="0" err="1">
                <a:latin typeface="Times New Roman"/>
                <a:cs typeface="Times New Roman"/>
              </a:rPr>
              <a:t>Robotics</a:t>
            </a:r>
            <a:r>
              <a:rPr lang="el-GR" dirty="0">
                <a:latin typeface="Times New Roman"/>
                <a:cs typeface="Times New Roman"/>
              </a:rPr>
              <a:t> in </a:t>
            </a:r>
            <a:r>
              <a:rPr lang="el-GR" dirty="0" err="1">
                <a:latin typeface="Times New Roman"/>
                <a:cs typeface="Times New Roman"/>
              </a:rPr>
              <a:t>Education</a:t>
            </a:r>
            <a:r>
              <a:rPr lang="el-GR" dirty="0">
                <a:latin typeface="Times New Roman"/>
                <a:cs typeface="Times New Roman"/>
              </a:rPr>
              <a:t>: </a:t>
            </a:r>
            <a:r>
              <a:rPr lang="el-GR" dirty="0" err="1">
                <a:latin typeface="Times New Roman"/>
                <a:cs typeface="Times New Roman"/>
              </a:rPr>
              <a:t>Constructing</a:t>
            </a:r>
            <a:r>
              <a:rPr lang="el-GR" dirty="0">
                <a:latin typeface="Times New Roman"/>
                <a:cs typeface="Times New Roman"/>
              </a:rPr>
              <a:t>, </a:t>
            </a:r>
            <a:r>
              <a:rPr lang="el-GR" dirty="0" err="1">
                <a:latin typeface="Times New Roman"/>
                <a:cs typeface="Times New Roman"/>
              </a:rPr>
              <a:t>Coding</a:t>
            </a:r>
            <a:r>
              <a:rPr lang="el-GR" dirty="0">
                <a:latin typeface="Times New Roman"/>
                <a:cs typeface="Times New Roman"/>
              </a:rPr>
              <a:t>, and </a:t>
            </a:r>
            <a:r>
              <a:rPr lang="el-GR" dirty="0" err="1">
                <a:latin typeface="Times New Roman"/>
                <a:cs typeface="Times New Roman"/>
              </a:rPr>
              <a:t>Competing</a:t>
            </a:r>
            <a:r>
              <a:rPr lang="el-GR" dirty="0">
                <a:latin typeface="Times New Roman"/>
                <a:cs typeface="Times New Roman"/>
              </a:rPr>
              <a:t> | </a:t>
            </a:r>
            <a:r>
              <a:rPr lang="el-GR" dirty="0" err="1">
                <a:latin typeface="Times New Roman"/>
                <a:cs typeface="Times New Roman"/>
              </a:rPr>
              <a:t>Education</a:t>
            </a:r>
            <a:r>
              <a:rPr lang="el-GR" dirty="0">
                <a:latin typeface="Times New Roman"/>
                <a:cs typeface="Times New Roman"/>
              </a:rPr>
              <a:t> World. (</a:t>
            </a:r>
            <a:r>
              <a:rPr lang="el-GR" dirty="0" err="1">
                <a:latin typeface="Times New Roman"/>
                <a:cs typeface="Times New Roman"/>
              </a:rPr>
              <a:t>n.d</a:t>
            </a:r>
            <a:r>
              <a:rPr lang="el-GR" dirty="0">
                <a:latin typeface="Times New Roman"/>
                <a:cs typeface="Times New Roman"/>
              </a:rPr>
              <a:t>.). </a:t>
            </a:r>
            <a:r>
              <a:rPr lang="el-GR" dirty="0" err="1">
                <a:latin typeface="Times New Roman"/>
                <a:cs typeface="Times New Roman"/>
              </a:rPr>
              <a:t>Retrieved</a:t>
            </a:r>
            <a:r>
              <a:rPr lang="el-GR" dirty="0">
                <a:latin typeface="Times New Roman"/>
                <a:cs typeface="Times New Roman"/>
              </a:rPr>
              <a:t> </a:t>
            </a:r>
            <a:r>
              <a:rPr lang="el-GR" dirty="0" err="1">
                <a:latin typeface="Times New Roman"/>
                <a:cs typeface="Times New Roman"/>
              </a:rPr>
              <a:t>May</a:t>
            </a:r>
            <a:r>
              <a:rPr lang="el-GR" dirty="0">
                <a:latin typeface="Times New Roman"/>
                <a:cs typeface="Times New Roman"/>
              </a:rPr>
              <a:t> 26, 2022</a:t>
            </a:r>
            <a:endParaRPr lang="el-GR">
              <a:latin typeface="Times New Roman"/>
              <a:ea typeface="+mn-lt"/>
              <a:cs typeface="+mn-lt"/>
            </a:endParaRPr>
          </a:p>
          <a:p>
            <a:endParaRPr lang="el-GR" dirty="0">
              <a:latin typeface="Times New Roman"/>
              <a:ea typeface="+mn-lt"/>
              <a:cs typeface="+mn-lt"/>
            </a:endParaRPr>
          </a:p>
          <a:p>
            <a:endParaRPr lang="el-GR" dirty="0">
              <a:latin typeface="Times New Roman"/>
              <a:ea typeface="+mn-lt"/>
              <a:cs typeface="+mn-lt"/>
            </a:endParaRPr>
          </a:p>
          <a:p>
            <a:endParaRPr lang="el-GR" dirty="0">
              <a:latin typeface="Times New Roman"/>
              <a:cs typeface="Times New Roman"/>
            </a:endParaRPr>
          </a:p>
        </p:txBody>
      </p:sp>
    </p:spTree>
    <p:extLst>
      <p:ext uri="{BB962C8B-B14F-4D97-AF65-F5344CB8AC3E}">
        <p14:creationId xmlns:p14="http://schemas.microsoft.com/office/powerpoint/2010/main" val="1442693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295F6F8-7914-22D3-5B2B-3DCEC63E8BA3}"/>
              </a:ext>
            </a:extLst>
          </p:cNvPr>
          <p:cNvSpPr>
            <a:spLocks noGrp="1"/>
          </p:cNvSpPr>
          <p:nvPr>
            <p:ph type="title"/>
          </p:nvPr>
        </p:nvSpPr>
        <p:spPr/>
        <p:txBody>
          <a:bodyPr/>
          <a:lstStyle/>
          <a:p>
            <a:r>
              <a:rPr lang="el-GR" i="0" dirty="0">
                <a:latin typeface="Times New Roman"/>
                <a:cs typeface="Times New Roman"/>
              </a:rPr>
              <a:t>Ενδεικτική Βιβλιογραφία</a:t>
            </a:r>
            <a:endParaRPr lang="en-US" i="0" dirty="0">
              <a:ea typeface="+mj-lt"/>
              <a:cs typeface="+mj-lt"/>
            </a:endParaRPr>
          </a:p>
        </p:txBody>
      </p:sp>
      <p:sp>
        <p:nvSpPr>
          <p:cNvPr id="3" name="Θέση περιεχομένου 2">
            <a:extLst>
              <a:ext uri="{FF2B5EF4-FFF2-40B4-BE49-F238E27FC236}">
                <a16:creationId xmlns:a16="http://schemas.microsoft.com/office/drawing/2014/main" id="{C96A815E-D962-6C35-5F0B-46A09DC2862F}"/>
              </a:ext>
            </a:extLst>
          </p:cNvPr>
          <p:cNvSpPr>
            <a:spLocks noGrp="1"/>
          </p:cNvSpPr>
          <p:nvPr>
            <p:ph idx="1"/>
          </p:nvPr>
        </p:nvSpPr>
        <p:spPr/>
        <p:txBody>
          <a:bodyPr vert="horz" lIns="91440" tIns="45720" rIns="91440" bIns="45720" rtlCol="0" anchor="t">
            <a:normAutofit/>
          </a:bodyPr>
          <a:lstStyle/>
          <a:p>
            <a:r>
              <a:rPr lang="el-GR" dirty="0">
                <a:latin typeface="Times New Roman"/>
                <a:cs typeface="Times New Roman"/>
              </a:rPr>
              <a:t>Αντωνίου Α. (2020). </a:t>
            </a:r>
            <a:r>
              <a:rPr lang="el-GR" i="1" dirty="0">
                <a:latin typeface="Times New Roman"/>
                <a:cs typeface="Times New Roman"/>
              </a:rPr>
              <a:t>Η χρήση της Ρομποτικής στην Πρωτοβάθμια Εκπαίδευση.</a:t>
            </a:r>
            <a:endParaRPr lang="el-GR">
              <a:latin typeface="Times New Roman"/>
              <a:ea typeface="+mn-lt"/>
              <a:cs typeface="+mn-lt"/>
            </a:endParaRPr>
          </a:p>
          <a:p>
            <a:r>
              <a:rPr lang="el-GR" dirty="0" err="1">
                <a:latin typeface="Times New Roman"/>
                <a:cs typeface="Times New Roman"/>
              </a:rPr>
              <a:t>Γκούρλης</a:t>
            </a:r>
            <a:r>
              <a:rPr lang="el-GR" dirty="0">
                <a:latin typeface="Times New Roman"/>
                <a:cs typeface="Times New Roman"/>
              </a:rPr>
              <a:t> Ν. (2018). </a:t>
            </a:r>
            <a:r>
              <a:rPr lang="el-GR" i="1" dirty="0">
                <a:latin typeface="Times New Roman"/>
                <a:cs typeface="Times New Roman"/>
              </a:rPr>
              <a:t>Εκπαιδευτική Ρομποτική Στην Πρωτοβάθμια Εκπαίδευση. Σχεδιασμός – Υλοποίηση - Αξιολόγηση.</a:t>
            </a:r>
            <a:endParaRPr lang="el-GR">
              <a:latin typeface="Times New Roman"/>
              <a:ea typeface="+mn-lt"/>
              <a:cs typeface="+mn-lt"/>
            </a:endParaRPr>
          </a:p>
          <a:p>
            <a:pPr algn="just"/>
            <a:r>
              <a:rPr lang="el-GR" dirty="0">
                <a:latin typeface="Times New Roman"/>
                <a:cs typeface="Times New Roman"/>
              </a:rPr>
              <a:t>Δημητρακοπούλου Α. (</a:t>
            </a:r>
            <a:r>
              <a:rPr lang="el-GR" dirty="0" err="1">
                <a:latin typeface="Times New Roman"/>
                <a:cs typeface="Times New Roman"/>
              </a:rPr>
              <a:t>Επιμ</a:t>
            </a:r>
            <a:r>
              <a:rPr lang="el-GR" dirty="0">
                <a:latin typeface="Times New Roman"/>
                <a:cs typeface="Times New Roman"/>
              </a:rPr>
              <a:t>.). </a:t>
            </a:r>
            <a:r>
              <a:rPr lang="el-GR" i="1" dirty="0">
                <a:latin typeface="Times New Roman"/>
                <a:cs typeface="Times New Roman"/>
              </a:rPr>
              <a:t>Οι ΤΠΕ στην Εκπαίδευση, Τόμος Α΄, Πρακτικά 3ου Συνεδρίου ΕΤΠΕ, 26-29/9/2002.</a:t>
            </a:r>
            <a:r>
              <a:rPr lang="el-GR" dirty="0">
                <a:latin typeface="Times New Roman"/>
                <a:cs typeface="Times New Roman"/>
              </a:rPr>
              <a:t> Πανεπιστήμιο Αιγαίου, Ρόδος: Εκδόσεις Καστανιώτη.</a:t>
            </a:r>
            <a:endParaRPr lang="en-US">
              <a:latin typeface="Times New Roman"/>
              <a:ea typeface="+mn-lt"/>
              <a:cs typeface="+mn-lt"/>
            </a:endParaRPr>
          </a:p>
          <a:p>
            <a:pPr algn="just"/>
            <a:r>
              <a:rPr lang="el-GR" dirty="0" err="1">
                <a:latin typeface="Times New Roman"/>
                <a:cs typeface="Times New Roman"/>
              </a:rPr>
              <a:t>Μουντρίδου</a:t>
            </a:r>
            <a:r>
              <a:rPr lang="el-GR" dirty="0">
                <a:latin typeface="Times New Roman"/>
                <a:cs typeface="Times New Roman"/>
              </a:rPr>
              <a:t> Μ. (2020). </a:t>
            </a:r>
            <a:r>
              <a:rPr lang="el-GR" i="1" dirty="0">
                <a:latin typeface="Times New Roman"/>
                <a:cs typeface="Times New Roman"/>
              </a:rPr>
              <a:t>Η ρομποτική στην εκπαίδευση.</a:t>
            </a:r>
            <a:endParaRPr lang="el-GR">
              <a:latin typeface="Times New Roman"/>
              <a:cs typeface="Times New Roman"/>
            </a:endParaRPr>
          </a:p>
        </p:txBody>
      </p:sp>
    </p:spTree>
    <p:extLst>
      <p:ext uri="{BB962C8B-B14F-4D97-AF65-F5344CB8AC3E}">
        <p14:creationId xmlns:p14="http://schemas.microsoft.com/office/powerpoint/2010/main" val="2984058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Ευρεία οθόνη</PresentationFormat>
  <Slides>19</Slides>
  <Notes>0</Notes>
  <HiddenSlides>0</HiddenSlides>
  <ScaleCrop>false</ScaleCrop>
  <HeadingPairs>
    <vt:vector size="4" baseType="variant">
      <vt:variant>
        <vt:lpstr>Θέμα</vt:lpstr>
      </vt:variant>
      <vt:variant>
        <vt:i4>1</vt:i4>
      </vt:variant>
      <vt:variant>
        <vt:lpstr>Τίτλοι διαφανειών</vt:lpstr>
      </vt:variant>
      <vt:variant>
        <vt:i4>19</vt:i4>
      </vt:variant>
    </vt:vector>
  </HeadingPairs>
  <TitlesOfParts>
    <vt:vector size="20" baseType="lpstr">
      <vt:lpstr>BrushVTI</vt:lpstr>
      <vt:lpstr>Η ΕΚΠΑΙΔΕΥΤΙΚΗ ΧΡΗΣΗ ΤΗΣ ΡΟΜΠΟΤΙΚΗΣ ΣΤΗ ΔΕΥΤΕΡΟΒΑΘΜΙΑ ΕΚΠΑΙΔΕΥΣΗ </vt:lpstr>
      <vt:lpstr>ΠΕΡΙΛΗΨΗ</vt:lpstr>
      <vt:lpstr>ΠΕΡΙΛΗΨΗ</vt:lpstr>
      <vt:lpstr>ΠΕΡΙΛΗΨΗ</vt:lpstr>
      <vt:lpstr>ΣΚΟΠΟΣ ΤΗΣ ΕΡΓΑΣΙΑΣ</vt:lpstr>
      <vt:lpstr>Η τεχνολογία στην εκπαίδευση</vt:lpstr>
      <vt:lpstr>Εκπαιδευτική Ρομποτική</vt:lpstr>
      <vt:lpstr>Η πορεία  της ρομποτικής στην Ελλάδα</vt:lpstr>
      <vt:lpstr>Οργανισμοί και εταιρείες που υποστηρίζουν με δράσεις και συνεργασίες την εκπαιδευτική ρομποτική</vt:lpstr>
      <vt:lpstr>Θετικές επιδράσεις της εκπαιδευτικής ρομποτικής</vt:lpstr>
      <vt:lpstr>Αρνητικές επιδράσεις της εκπαιδευτικής ρομποτικής </vt:lpstr>
      <vt:lpstr>ΜΕΘΟΔΟΛΟΓΙΑ ΕΡΕΥΝΑΣ </vt:lpstr>
      <vt:lpstr>Επιλογή δείγματος</vt:lpstr>
      <vt:lpstr>Επιλογή δείγματος</vt:lpstr>
      <vt:lpstr>Επιλογή δείγματος</vt:lpstr>
      <vt:lpstr>Περιορισμοί</vt:lpstr>
      <vt:lpstr>Παρουσίαση του PowerPoint</vt:lpstr>
      <vt:lpstr>Ενδεικτική Βιβλιογραφία</vt:lpstr>
      <vt:lpstr>Ενδεικτική Βιβλιογραφία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Παρουσίαση του PowerPoint</dc:title>
  <dc:creator/>
  <cp:revision>150</cp:revision>
  <dcterms:created xsi:type="dcterms:W3CDTF">2022-06-02T08:33:14Z</dcterms:created>
  <dcterms:modified xsi:type="dcterms:W3CDTF">2022-06-03T10:42:50Z</dcterms:modified>
</cp:coreProperties>
</file>
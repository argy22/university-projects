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Average" panose="020B0604020202020204" charset="0"/>
      <p:regular r:id="rId26"/>
    </p:embeddedFont>
    <p:embeddedFont>
      <p:font typeface="Oswald" panose="020B0604020202020204" charset="0"/>
      <p:regular r:id="rId27"/>
      <p:bold r:id="rId28"/>
    </p:embeddedFont>
    <p:embeddedFont>
      <p:font typeface="Spectral" panose="020B0604020202020204" charset="0"/>
      <p:regular r:id="rId29"/>
      <p:bold r:id="rId30"/>
      <p:italic r:id="rId31"/>
      <p:boldItalic r:id="rId32"/>
    </p:embeddedFont>
    <p:embeddedFont>
      <p:font typeface="Spectral Medium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002f062f6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002f062f6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01b1b476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01b1b476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002f062f6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002f062f6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01b1b4767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01b1b4767_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002f062f6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002f062f6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fa8c91bb8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fa8c91bb8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fa8c91bb8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fa8c91bb8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01b1b4767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01b1b4767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01b1b4767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e01b1b4767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0380b9ed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0380b9ed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0380b9ed8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0380b9ed8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01b1b4767_6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01b1b4767_6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01b1b4767_6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01b1b4767_6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01b1b4767_6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01b1b4767_6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01b1b4767_6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e01b1b4767_6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0380b9ed8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e0380b9ed8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0380b9ed8_8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0380b9ed8_8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01b1b4767_6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01b1b4767_6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0380b9ed8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e0380b9ed8_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002f062f6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002f062f6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0230b3153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0230b3153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fa8c91bb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dfa8c91bb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 rtl="0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0" y="1648138"/>
            <a:ext cx="7801500" cy="116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b="1">
                <a:latin typeface="Spectral"/>
                <a:ea typeface="Spectral"/>
                <a:cs typeface="Spectral"/>
                <a:sym typeface="Spectral"/>
              </a:rPr>
              <a:t>Θέμα:</a:t>
            </a:r>
            <a:endParaRPr sz="1600" b="1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b="1">
                <a:latin typeface="Spectral"/>
                <a:ea typeface="Spectral"/>
                <a:cs typeface="Spectral"/>
                <a:sym typeface="Spectral"/>
              </a:rPr>
              <a:t>Σύστημα διαχείρισης κίνησης οχημάτων με αναπαράσταση δεδομένων σε IoT πλατφόρμα και απομακρυσμένου ελέγχου</a:t>
            </a:r>
            <a:endParaRPr b="1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4752000" y="3650750"/>
            <a:ext cx="43920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</a:t>
            </a:r>
            <a:r>
              <a:rPr lang="el" sz="16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Η εργασία έγινε από:</a:t>
            </a:r>
            <a:endParaRPr sz="16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  </a:t>
            </a:r>
            <a:endParaRPr sz="14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5254 - ΑΡΓΥΡΟΠΟΥΛΟΣ ΙΩΑΝΝΗΣ</a:t>
            </a:r>
            <a:endParaRPr sz="14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5288 - ΝΕΣΤΟΡΟΥΔΗ ΑΛΕΞΑΝΔΡΑ</a:t>
            </a:r>
            <a:endParaRPr sz="14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5270 - ΖΑΧΑΡΗ ΠΟΛΥΞΕΝΗ</a:t>
            </a:r>
            <a:endParaRPr sz="14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 5505 - ΚΩΣΤΙΔΗΣ ΙΩΑΝΝΗΣ</a:t>
            </a:r>
            <a:endParaRPr sz="15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342500" y="-28312"/>
            <a:ext cx="37692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Δημοκρίτειο Πανεπιστήμιο Θράκης</a:t>
            </a:r>
            <a:endParaRPr sz="1600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Σχολή Θετικών Επιστημών</a:t>
            </a:r>
            <a:endParaRPr sz="1600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Τμήμα Πληροφορικής</a:t>
            </a:r>
            <a:endParaRPr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858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4177075" y="2830075"/>
            <a:ext cx="841800" cy="184500"/>
          </a:xfrm>
          <a:prstGeom prst="rect">
            <a:avLst/>
          </a:prstGeom>
          <a:solidFill>
            <a:srgbClr val="37474F"/>
          </a:solidFill>
          <a:ln w="9525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000" y="890587"/>
            <a:ext cx="4770000" cy="412432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9" name="Google Shape;69;p14"/>
          <p:cNvSpPr txBox="1"/>
          <p:nvPr/>
        </p:nvSpPr>
        <p:spPr>
          <a:xfrm>
            <a:off x="2514900" y="92275"/>
            <a:ext cx="4114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2900">
                <a:latin typeface="Spectral"/>
                <a:ea typeface="Spectral"/>
                <a:cs typeface="Spectral"/>
                <a:sym typeface="Spectral"/>
              </a:rPr>
              <a:t>Το κύκλωμα στο Wokwi</a:t>
            </a:r>
            <a:endParaRPr sz="29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2184450" y="69225"/>
            <a:ext cx="47751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2900">
                <a:latin typeface="Spectral"/>
                <a:ea typeface="Spectral"/>
                <a:cs typeface="Spectral"/>
                <a:sym typeface="Spectral"/>
              </a:rPr>
              <a:t>Το user interface στο Blynk</a:t>
            </a:r>
            <a:endParaRPr sz="29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5" y="776625"/>
            <a:ext cx="2649281" cy="41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2075" y="776625"/>
            <a:ext cx="2649600" cy="413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7E7E7E"/>
            </a:gs>
          </a:gsLst>
          <a:lin ang="16200038" scaled="0"/>
        </a:gra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ΑΠΑΙΤΗΣΕΙΣ 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961275" y="4453850"/>
            <a:ext cx="611100" cy="69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l" sz="1400" i="1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Λειτουργικές Απαιτήσεις:</a:t>
            </a:r>
            <a:endParaRPr sz="1400" i="1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σύστημα θα πρέπει να επιτρέπει την απομακρυσμένη διαχείριση φωτεινών σηματοδοτών.</a:t>
            </a:r>
            <a:b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ραντάρ ταχύτητας θα πρέπει να ανιχνεύει την ταχύτητα των οχημάτων και να την αναγράφει στην οθόνη LCD.</a:t>
            </a:r>
            <a:b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Η μπάρα διοδίων θα πρέπει να ελέγχεται απομακρυσμένα.</a:t>
            </a: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400" i="1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Μη Λειτουργικές Απαιτήσεις:</a:t>
            </a:r>
            <a:endParaRPr sz="1400" i="1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σύστημα πρέπει να είναι διαθέσιμο 24/7.</a:t>
            </a:r>
            <a:b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σύστημα πρέπει να είναι εύκολα επεκτάσιμο για υποστήριξη μελλοντικών αλλαγών.</a:t>
            </a:r>
            <a:b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σύστημα πρέπει να είναι διασυνδεδεμένο με την IoT πλατφόρμα του Blynk.</a:t>
            </a:r>
            <a:b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lang="el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user interface πρέπει να είναι φιλικό και εύκολο στη χρήση.</a:t>
            </a:r>
            <a:endParaRPr sz="14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7E7E7E"/>
            </a:gs>
          </a:gsLst>
          <a:lin ang="16200038" scaled="0"/>
        </a:gra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ΑΠΑΙΤΗΣΕΙΣ 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500" i="1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Περιορισμοί και υποθέσεις:</a:t>
            </a:r>
            <a:endParaRPr sz="1500" i="1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ectral"/>
              <a:buChar char="●"/>
            </a:pPr>
            <a:r>
              <a:rPr lang="el" sz="15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Έλλειψη κατάλληλων αισθητήρων στο Wokwi, η αυτόματη λειτουργία των φωτεινών σηματοδοτών δεν δύναται να προσαρμοστεί σε πραγματικό χρόνο ανάλογα την παρουσία οχημάτων, παρέχει μονάχα βασική λειτουργικότητα για τον έλεγχο των φαναριών.</a:t>
            </a:r>
            <a:br>
              <a:rPr lang="el" sz="15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5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ectral"/>
              <a:buChar char="●"/>
            </a:pPr>
            <a:r>
              <a:rPr lang="el" sz="15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Έλλειψη αισθητήρα υψηλής ταχύτητας στο Wokwi, αντικατάστασή του με ένα ποτενσιόμετρο για την προσομοίωση της ταχύτητας.</a:t>
            </a:r>
            <a:endParaRPr sz="15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ectral"/>
              <a:buChar char="●"/>
            </a:pPr>
            <a:r>
              <a:rPr lang="el" sz="15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Θεωρούμε δεδομένη τη δυνατότητα συνεχούς σύνδεσης στο διαδίκτυο και της ύπαρξης δύο χειριστών του συστήματος, σε περιπτώσεις οδικής συμφόρησης.</a:t>
            </a:r>
            <a:endParaRPr sz="1420" i="1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961275" y="4453850"/>
            <a:ext cx="611100" cy="69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7E7E7E"/>
            </a:gs>
          </a:gsLst>
          <a:lin ang="16200038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65500" y="1716613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ΣΧΕΔΙΑΣΜΟΣ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&amp;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ΥΛΟΠΟΙΗΣΗ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550" y="606038"/>
            <a:ext cx="4755024" cy="39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4975825" y="4468275"/>
            <a:ext cx="577800" cy="6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171375" y="36725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u="sng">
                <a:latin typeface="Spectral"/>
                <a:ea typeface="Spectral"/>
                <a:cs typeface="Spectral"/>
                <a:sym typeface="Spectral"/>
              </a:rPr>
              <a:t>Στοιχεία διαγράμματος</a:t>
            </a:r>
            <a:endParaRPr u="sng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116175" y="1190825"/>
            <a:ext cx="30342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ESP32: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Κεντρικός μικροελεγκτής που χειρίζεται όλα τα στοιχεία.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900" y="426925"/>
            <a:ext cx="5719500" cy="428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116175" y="4439650"/>
            <a:ext cx="31350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Ποτενσιόμετρο: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Χρησιμοποιείται για την προσομοίωση της ταχύτητας.</a:t>
            </a:r>
            <a:endParaRPr sz="13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16175" y="4066750"/>
            <a:ext cx="32622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LCD Display: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Εμφανίζει πληροφορίες.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40900" y="2950600"/>
            <a:ext cx="8157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16175" y="2915038"/>
            <a:ext cx="30879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LEDs: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Δείχνουν διάφορες καταστάσεις ή λειτουργίες του συστήματος.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16175" y="3488188"/>
            <a:ext cx="30879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Servo: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Χρησιμοποιείται για την κίνηση της μπάρας των διοδίων.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16175" y="2306425"/>
            <a:ext cx="3518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Blynk: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Εφαρμογή που παρέχει τον απομακρυσμένο έλεγχο μέσω Wi-Fi.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16175" y="1788075"/>
            <a:ext cx="37674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Wi-Fi: </a:t>
            </a:r>
            <a:r>
              <a:rPr lang="el" sz="1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Ασύρματη σύνδεση που επιτρέπει την επικοινωνία μεταξύ του ESP32 και του Blynk.</a:t>
            </a:r>
            <a:endParaRPr sz="1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50" y="1157675"/>
            <a:ext cx="780725" cy="7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429625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Ταχύτητας: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ρύθμιση του ποτενσιόμετρου εισάγεται μία τιμή ταχύτητας όπου αποστέλλεται στον μικροελεγκτή ESP32 και μέσω Wi-Fi στέλνεται στο Blynk.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64075"/>
            <a:ext cx="2689150" cy="27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2873700" y="2426375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238100" y="2251625"/>
            <a:ext cx="2565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H ταχύτητα είναι μικρότερη του ορίου.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873700" y="3459738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2873700" y="45648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270250" y="3172813"/>
            <a:ext cx="28515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Εμφανίζεται η ταχύτητα μέσω του Gauge και δεν αναβοσβήνει το LED.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4202550" y="4387700"/>
            <a:ext cx="22854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Εμφανίζει “PERFECT SPEED”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50" y="1157675"/>
            <a:ext cx="780725" cy="7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600" y="2251625"/>
            <a:ext cx="2656701" cy="27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/>
          <p:nvPr/>
        </p:nvSpPr>
        <p:spPr>
          <a:xfrm rot="10800000">
            <a:off x="4924900" y="25096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4" name="Google Shape;134;p21"/>
          <p:cNvSpPr/>
          <p:nvPr/>
        </p:nvSpPr>
        <p:spPr>
          <a:xfrm rot="10800000">
            <a:off x="4924900" y="3588725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5" name="Google Shape;135;p21"/>
          <p:cNvSpPr/>
          <p:nvPr/>
        </p:nvSpPr>
        <p:spPr>
          <a:xfrm rot="10800000">
            <a:off x="4924900" y="466785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2388300" y="2274550"/>
            <a:ext cx="2766000" cy="7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Η ταχύτητα είναι μεγαλύτερη του ορίου.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025025" y="3457775"/>
            <a:ext cx="185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Αναβοσβήνει το  κόκκινο LED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915525" y="4422450"/>
            <a:ext cx="1965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Εμφανίζει “SLOW DOWN”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429625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Ταχύτητας: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ρύθμιση του ποτενσιόμετρου εισάγεται μία τιμή ταχύτητας όπου αποστέλλεται στον μικροελεγκτή ESP32 και μέσω Wi-Fi στέλνεται στο Blynk.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1825" y="2729400"/>
            <a:ext cx="23154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Ο χρήστης έχει αλλάξει το όριο ταχύτητας και μέσω Wi-Fi, αποστέλλεται στον ESP32.</a:t>
            </a:r>
            <a:endParaRPr sz="1800" b="1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50" y="2645925"/>
            <a:ext cx="33718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5150" y="3558825"/>
            <a:ext cx="2857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5550" y="2645925"/>
            <a:ext cx="33147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7750" y="3620725"/>
            <a:ext cx="381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1256025" y="2229875"/>
            <a:ext cx="1950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Κάτω από το όριο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441250" y="2229875"/>
            <a:ext cx="2043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Πάνω από το όριο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1623850" y="1367450"/>
            <a:ext cx="614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Οπτική ενημέρωση των οδηγών</a:t>
            </a:r>
            <a:endParaRPr sz="1800" b="1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682350" y="1134350"/>
            <a:ext cx="1779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0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Κώδικας</a:t>
            </a:r>
            <a:endParaRPr sz="20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00" y="1864275"/>
            <a:ext cx="37147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00" y="2466925"/>
            <a:ext cx="28670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 rot="10800000">
            <a:off x="4572000" y="1864300"/>
            <a:ext cx="1126500" cy="4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5756325" y="1670438"/>
            <a:ext cx="3022500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“Διάβασμα” του ποτενσιόμετρου και ορισμός του ως ταχύτητα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3" name="Google Shape;163;p23"/>
          <p:cNvSpPr/>
          <p:nvPr/>
        </p:nvSpPr>
        <p:spPr>
          <a:xfrm rot="10800000">
            <a:off x="3682350" y="2972375"/>
            <a:ext cx="1126500" cy="4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4863750" y="2840250"/>
            <a:ext cx="21366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Εμφάνιση της ταχύτητας στο LCD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5" name="Google Shape;165;p23"/>
          <p:cNvSpPr/>
          <p:nvPr/>
        </p:nvSpPr>
        <p:spPr>
          <a:xfrm rot="10800000">
            <a:off x="3682350" y="4080400"/>
            <a:ext cx="1126500" cy="4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4808850" y="4080400"/>
            <a:ext cx="371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Gauge &amp; Leds (Blynk &amp; Wokwi)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3682350" y="1056625"/>
            <a:ext cx="1779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0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Κώδικας</a:t>
            </a:r>
            <a:endParaRPr sz="20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00" y="1670450"/>
            <a:ext cx="3377550" cy="3304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 rot="10800000">
            <a:off x="4004350" y="1612188"/>
            <a:ext cx="10488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5053150" y="1452925"/>
            <a:ext cx="3341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Αν το όριο είναι μεγαλύτερο της ταχύτητας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6" name="Google Shape;176;p24"/>
          <p:cNvSpPr/>
          <p:nvPr/>
        </p:nvSpPr>
        <p:spPr>
          <a:xfrm rot="10800000">
            <a:off x="4004350" y="2641675"/>
            <a:ext cx="10488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5104550" y="2348338"/>
            <a:ext cx="2377500" cy="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Εμφάνιση μηνυμάτων στην λεζάντα και στο LCD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8" name="Google Shape;178;p24"/>
          <p:cNvSpPr/>
          <p:nvPr/>
        </p:nvSpPr>
        <p:spPr>
          <a:xfrm rot="10800000">
            <a:off x="4110125" y="4055725"/>
            <a:ext cx="10488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5158925" y="3873150"/>
            <a:ext cx="2377500" cy="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V1: Λεζάντα Blynk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V2: LED Blynk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779250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Φαναριών: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χρήση του Blynk, γίνεται εφικτός ο έλεγχος των φαναριών χειροκίνητα και αυτόματα.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75" y="1017725"/>
            <a:ext cx="1575775" cy="10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4050" y="2111675"/>
            <a:ext cx="2075909" cy="27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 rot="10800000">
            <a:off x="2322050" y="241635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9" name="Google Shape;189;p25"/>
          <p:cNvSpPr/>
          <p:nvPr/>
        </p:nvSpPr>
        <p:spPr>
          <a:xfrm rot="10800000">
            <a:off x="2322050" y="3319788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2322050" y="422325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5654050" y="33198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1824650" y="2424150"/>
            <a:ext cx="497400" cy="21021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419575" y="2908038"/>
            <a:ext cx="16083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Χειροκίνητη λειτουργία φαναριών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6910150" y="2908050"/>
            <a:ext cx="13596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Αυτόματη λειτουργία φαναριών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1779250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Φαναριών: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χρήση του Blynk, γίνεται εφικτός ο έλεγχος των φαναριών χειροκίνητα και αυτόματα.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75" y="1017725"/>
            <a:ext cx="1575775" cy="10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/>
          <p:nvPr/>
        </p:nvSpPr>
        <p:spPr>
          <a:xfrm>
            <a:off x="5654050" y="33198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6910150" y="2908050"/>
            <a:ext cx="13596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Αυτόματη λειτουργία φαναριών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5200" y="2113200"/>
            <a:ext cx="2077200" cy="27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200" y="3042700"/>
            <a:ext cx="2431875" cy="14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1833600" y="2307575"/>
            <a:ext cx="1701600" cy="696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1779250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Φαναριών: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χρήση του Blynk, γίνεται εφικτός ο έλεγχος των φαναριών χειροκίνητα και αυτόματα.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75" y="1017725"/>
            <a:ext cx="1575775" cy="10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/>
          <p:nvPr/>
        </p:nvSpPr>
        <p:spPr>
          <a:xfrm>
            <a:off x="5654050" y="33198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6910150" y="2908050"/>
            <a:ext cx="13596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Αυτόματη λειτουργία φαναριών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5200" y="2113200"/>
            <a:ext cx="2077200" cy="27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600" y="3042000"/>
            <a:ext cx="2433600" cy="14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/>
          <p:nvPr/>
        </p:nvSpPr>
        <p:spPr>
          <a:xfrm>
            <a:off x="3103200" y="3395325"/>
            <a:ext cx="470700" cy="310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1779250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Φαναριών: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χρήση του Blynk, γίνεται εφικτός ο έλεγχος των φαναριών χειροκίνητα και αυτόματα.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75" y="1017725"/>
            <a:ext cx="1575775" cy="10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/>
          <p:nvPr/>
        </p:nvSpPr>
        <p:spPr>
          <a:xfrm>
            <a:off x="5654050" y="3319800"/>
            <a:ext cx="1212000" cy="310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6910150" y="2908050"/>
            <a:ext cx="13596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Αυτόματη λειτουργία φαναριών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8" name="Google Shape;22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600" y="3042000"/>
            <a:ext cx="2433600" cy="14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/>
        </p:nvSpPr>
        <p:spPr>
          <a:xfrm rot="-10799323" flipH="1">
            <a:off x="2012400" y="4449750"/>
            <a:ext cx="1522800" cy="386400"/>
          </a:xfrm>
          <a:prstGeom prst="bentArrow">
            <a:avLst>
              <a:gd name="adj1" fmla="val 32182"/>
              <a:gd name="adj2" fmla="val 42686"/>
              <a:gd name="adj3" fmla="val 50000"/>
              <a:gd name="adj4" fmla="val 6337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5200" y="2113200"/>
            <a:ext cx="2077200" cy="27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3682350" y="1134350"/>
            <a:ext cx="1779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0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Κώδικας</a:t>
            </a:r>
            <a:endParaRPr sz="20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0450"/>
            <a:ext cx="2710700" cy="301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 flipH="1">
            <a:off x="3177225" y="1787075"/>
            <a:ext cx="606600" cy="1142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483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9" name="Google Shape;239;p29"/>
          <p:cNvSpPr/>
          <p:nvPr/>
        </p:nvSpPr>
        <p:spPr>
          <a:xfrm rot="10800000">
            <a:off x="3177225" y="2967950"/>
            <a:ext cx="972900" cy="48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0" name="Google Shape;240;p29"/>
          <p:cNvSpPr/>
          <p:nvPr/>
        </p:nvSpPr>
        <p:spPr>
          <a:xfrm rot="10800000">
            <a:off x="3177225" y="3496325"/>
            <a:ext cx="606600" cy="1142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4150125" y="2867025"/>
            <a:ext cx="21987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Αρχικοποίηση pin (Virtual και μη)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0475" y="1593350"/>
            <a:ext cx="290447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 rot="-5400000">
            <a:off x="6849900" y="3219025"/>
            <a:ext cx="9219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6483063" y="4036275"/>
            <a:ext cx="1779300" cy="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Ενημερώνει την κατάσταση του LED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311700" y="161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50" name="Google Shape;2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050" y="1582925"/>
            <a:ext cx="4081246" cy="17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-381000" y="1383150"/>
            <a:ext cx="38316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Αν η μεταβλητή automatic_mode είναι αληθής τότε η συνάρτηση  automatic_traffic_light καλείται ανά 2 δευτερόλεπτα . </a:t>
            </a:r>
            <a:endParaRPr sz="17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52" name="Google Shape;252;p30"/>
          <p:cNvPicPr preferRelativeResize="0"/>
          <p:nvPr/>
        </p:nvPicPr>
        <p:blipFill rotWithShape="1">
          <a:blip r:embed="rId4">
            <a:alphaModFix/>
          </a:blip>
          <a:srcRect t="5656" b="-3189"/>
          <a:stretch/>
        </p:blipFill>
        <p:spPr>
          <a:xfrm>
            <a:off x="117800" y="2651100"/>
            <a:ext cx="3413751" cy="12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/>
        </p:nvSpPr>
        <p:spPr>
          <a:xfrm>
            <a:off x="2253050" y="915650"/>
            <a:ext cx="460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        Χρήση της αυτόματης λειτουργίας: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4" name="Google Shape;254;p30"/>
          <p:cNvSpPr/>
          <p:nvPr/>
        </p:nvSpPr>
        <p:spPr>
          <a:xfrm rot="-5400000">
            <a:off x="6460725" y="3529150"/>
            <a:ext cx="9219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5019375" y="4312075"/>
            <a:ext cx="37341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Ενεργοποίηση ή μη, του χρονομέτρου και της αυτόματης λειτουργίας.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170400" y="4537650"/>
            <a:ext cx="40812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Ενημέρωση της κατάστασης των LED.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7" name="Google Shape;257;p30"/>
          <p:cNvSpPr/>
          <p:nvPr/>
        </p:nvSpPr>
        <p:spPr>
          <a:xfrm rot="-5400000">
            <a:off x="1591050" y="4150175"/>
            <a:ext cx="648600" cy="294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1779250" y="1157675"/>
            <a:ext cx="7210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 b="1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Προσομοίωση Μπάρας Διοδίων:</a:t>
            </a: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 Με την εφαρμογή Blynk, η μπάρα ανοίγει ανάβοντας ένα πράσινο LED και κλείνει ανάβοντας ένα κόκκινο LED.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840" y="3024000"/>
            <a:ext cx="1332000" cy="1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0965" y="3024300"/>
            <a:ext cx="13335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88" y="2570400"/>
            <a:ext cx="1591200" cy="24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9690" y="2570400"/>
            <a:ext cx="1591200" cy="24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698" y="445025"/>
            <a:ext cx="1207100" cy="16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Πώς λειτουργεί το σύστημα: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682350" y="1134350"/>
            <a:ext cx="1779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20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Κώδικας</a:t>
            </a:r>
            <a:endParaRPr sz="20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75" name="Google Shape;2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650" y="1743550"/>
            <a:ext cx="30670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/>
          <p:nvPr/>
        </p:nvSpPr>
        <p:spPr>
          <a:xfrm>
            <a:off x="4500000" y="3756375"/>
            <a:ext cx="1215900" cy="36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76200" y="3681250"/>
            <a:ext cx="4669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Επιστροφή της μπάρας στην αρχική της θέση και ενεργοποίηση του κόκκινου led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81600" y="2501025"/>
            <a:ext cx="414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Ανύψωση της μπάρας και ενεργοποίηση 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Spectral"/>
                <a:ea typeface="Spectral"/>
                <a:cs typeface="Spectral"/>
                <a:sym typeface="Spectral"/>
              </a:rPr>
              <a:t>του πράσινου led</a:t>
            </a:r>
            <a:endParaRPr sz="1800">
              <a:solidFill>
                <a:schemeClr val="accent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500000" y="2613375"/>
            <a:ext cx="1215900" cy="36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7E7E7E"/>
            </a:gs>
          </a:gsLst>
          <a:lin ang="16200038" scaled="0"/>
        </a:gra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>
            <a:off x="5032475" y="4468275"/>
            <a:ext cx="475800" cy="79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85" name="Google Shape;285;p33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ΑΞΙΟΛΟΓΗΣΗ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6" name="Google Shape;286;p33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635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l" sz="1635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Θετικά του project:</a:t>
            </a:r>
            <a:br>
              <a:rPr lang="el" sz="1635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635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324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Spectral"/>
              <a:buChar char="●"/>
            </a:pPr>
            <a:r>
              <a:rPr lang="el" sz="1635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 χειροκίνητη λειτουργία φαναριών σε περίπτωση έκτακτης ανάγκης θα βοηθούσε. </a:t>
            </a: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324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Spectral"/>
              <a:buChar char="●"/>
            </a:pPr>
            <a:r>
              <a:rPr lang="el" sz="1635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Η μείωση της ρύπανσης, διότι δεν υπάρχει κυκλοφοριακή συμφόρηση και οι οδηγοί προφυλάσσονται από ατυχήματα αύξηση ταχύτητας.</a:t>
            </a: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l" sz="1635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Αρνητικά του project:</a:t>
            </a:r>
            <a:br>
              <a:rPr lang="el" sz="1635" u="sng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1635" u="sng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324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Spectral"/>
              <a:buChar char="●"/>
            </a:pPr>
            <a:r>
              <a:rPr lang="el" sz="1635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Wokwi δεν παρέχει αισθητήρα μέτρησης ταχύτητας και για αυτό το λόγο χρησιμοποιήθηκε ποτενσιομετρο.</a:t>
            </a: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Πλεονεκτήματα και Μειονεκτήματα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7E7E7E"/>
            </a:gs>
          </a:gsLst>
          <a:lin ang="16198662" scaled="0"/>
        </a:gra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ΑΞΙΟΛΟΓΗΣΗ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93" name="Google Shape;293;p34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Spectral"/>
                <a:ea typeface="Spectral"/>
                <a:cs typeface="Spectral"/>
                <a:sym typeface="Spectral"/>
              </a:rPr>
              <a:t>Προτάσεις βελτίωσης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94" name="Google Shape;294;p34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ectral"/>
              <a:buChar char="●"/>
            </a:pPr>
            <a:r>
              <a:rPr lang="el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Το σύστημά μας θα μπορουσε να βελτιωθει με έναν αισθητήρα ταχύτητας όπως και με το σύστημα αναγνώρισης οχημάτων σε φανάρια διασταύρωσης για την πιο γρήγορη κυκλοφορία σε επιθυμητούς δρόμους.</a:t>
            </a:r>
            <a:endParaRPr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ectral"/>
              <a:buChar char="●"/>
            </a:pPr>
            <a:r>
              <a:rPr lang="el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Με έναν ακόμα αισθητήρα αναγνώρισης θα μπορούσε να χρησιμοποιηθεί στα διόδια ώστε να αναγνωρίζει το όχημα και να υπολογίζει το ανάλογο ποσό.</a:t>
            </a:r>
            <a:endParaRPr sz="25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4862525" y="4411625"/>
            <a:ext cx="792900" cy="17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220899" y="1980600"/>
            <a:ext cx="56240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 dirty="0">
                <a:latin typeface="Spectral"/>
                <a:ea typeface="Spectral"/>
                <a:cs typeface="Spectral"/>
                <a:sym typeface="Spectral"/>
              </a:rPr>
              <a:t>Ευχαριστούμε για το χρόνο σας!</a:t>
            </a:r>
            <a:endParaRPr dirty="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01" name="Google Shape;3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675" y="1980600"/>
            <a:ext cx="3340950" cy="23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3400" y="0"/>
            <a:ext cx="1980600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0" y="0"/>
            <a:ext cx="1980600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163400" y="3162900"/>
            <a:ext cx="1980600" cy="19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0" y="3162900"/>
            <a:ext cx="1980600" cy="19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Προβολή στην οθόνη (16:9)</PresentationFormat>
  <Paragraphs>114</Paragraphs>
  <Slides>23</Slides>
  <Notes>23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23</vt:i4>
      </vt:variant>
    </vt:vector>
  </HeadingPairs>
  <TitlesOfParts>
    <vt:vector size="29" baseType="lpstr">
      <vt:lpstr>Oswald</vt:lpstr>
      <vt:lpstr>Spectral</vt:lpstr>
      <vt:lpstr>Arial</vt:lpstr>
      <vt:lpstr>Spectral Medium</vt:lpstr>
      <vt:lpstr>Average</vt:lpstr>
      <vt:lpstr>Slate</vt:lpstr>
      <vt:lpstr>Θέμα:  Σύστημα διαχείρισης κίνησης οχημάτων με αναπαράσταση δεδομένων σε IoT πλατφόρμα και απομακρυσμένου ελέγχου</vt:lpstr>
      <vt:lpstr>Παρουσίαση του PowerPoint</vt:lpstr>
      <vt:lpstr>Παρουσίαση του PowerPoint</vt:lpstr>
      <vt:lpstr>ΑΠΑΙΤΗΣΕΙΣ </vt:lpstr>
      <vt:lpstr>ΑΠΑΙΤΗΣΕΙΣ </vt:lpstr>
      <vt:lpstr>ΣΧΕΔΙΑΣΜΟΣ &amp; ΥΛΟΠΟΙΗΣΗ</vt:lpstr>
      <vt:lpstr>Στοιχεία διαγράμματος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</vt:lpstr>
      <vt:lpstr>Πώς λειτουργεί το σύστημα: </vt:lpstr>
      <vt:lpstr>Πώς λειτουργεί το σύστημα:</vt:lpstr>
      <vt:lpstr>Πώς λειτουργεί το σύστημα:</vt:lpstr>
      <vt:lpstr>ΑΞΙΟΛΟΓΗΣΗ</vt:lpstr>
      <vt:lpstr>ΑΞΙΟΛΟΓΗΣΗ</vt:lpstr>
      <vt:lpstr>Ευχαριστούμε για το χρόνο σας!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Θέμα:  Σύστημα διαχείρισης κίνησης οχημάτων με αναπαράσταση δεδομένων σε IoT πλατφόρμα και απομακρυσμένου ελέγχου</dc:title>
  <cp:lastModifiedBy>Ioannis Argyropoulos</cp:lastModifiedBy>
  <cp:revision>1</cp:revision>
  <dcterms:modified xsi:type="dcterms:W3CDTF">2024-05-26T20:35:37Z</dcterms:modified>
</cp:coreProperties>
</file>
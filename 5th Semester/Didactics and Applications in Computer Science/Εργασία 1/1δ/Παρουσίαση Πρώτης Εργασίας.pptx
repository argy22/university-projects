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8" r:id="rId4"/>
    <p:sldId id="259" r:id="rId5"/>
    <p:sldId id="273" r:id="rId6"/>
    <p:sldId id="260" r:id="rId7"/>
    <p:sldId id="264" r:id="rId8"/>
    <p:sldId id="265" r:id="rId9"/>
    <p:sldId id="266" r:id="rId10"/>
    <p:sldId id="267" r:id="rId11"/>
    <p:sldId id="268" r:id="rId12"/>
    <p:sldId id="269" r:id="rId13"/>
    <p:sldId id="271" r:id="rId14"/>
    <p:sldId id="272" r:id="rId15"/>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oannis Argyropoulos" initials="IA" lastIdx="1" clrIdx="0">
    <p:extLst>
      <p:ext uri="{19B8F6BF-5375-455C-9EA6-DF929625EA0E}">
        <p15:presenceInfo xmlns:p15="http://schemas.microsoft.com/office/powerpoint/2012/main" userId="Ioannis Argyropoulo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E4A21A-E690-49E0-8204-AD351CFB0EC2}" v="96" dt="2022-12-01T15:14:31.714"/>
    <p1510:client id="{9322FB9F-2077-439F-908E-75112EF2CC53}" v="286" dt="2022-12-01T15:34:10.419"/>
    <p1510:client id="{FD4B5CF0-29A7-4F0D-BE64-E54908868635}" v="172" dt="2022-12-07T12:01:16.148"/>
  </p1510:revLst>
</p1510:revInfo>
</file>

<file path=ppt/tableStyles.xml><?xml version="1.0" encoding="utf-8"?>
<a:tblStyleLst xmlns:a="http://schemas.openxmlformats.org/drawingml/2006/main" def="{5C22544A-7EE6-4342-B048-85BDC9FD1C3A}">
  <a:tblStyle styleId="{5C22544A-7EE6-4342-B048-85BDC9FD1C3A}" styleName="Μεσαίο στυλ 2 - Έμφαση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7C0C22-EBDA-4130-87AE-CB28BC19B077}"/>
              </a:ext>
            </a:extLst>
          </p:cNvPr>
          <p:cNvSpPr>
            <a:spLocks noGrp="1"/>
          </p:cNvSpPr>
          <p:nvPr>
            <p:ph type="dt" sz="half" idx="10"/>
          </p:nvPr>
        </p:nvSpPr>
        <p:spPr/>
        <p:txBody>
          <a:bodyPr/>
          <a:lstStyle/>
          <a:p>
            <a:fld id="{82EDB8D0-98ED-4B86-9D5F-E61ADC70144D}" type="datetimeFigureOut">
              <a:rPr lang="en-US" smtClean="0"/>
              <a:t>12/9/2022</a:t>
            </a:fld>
            <a:endParaRPr lang="en-US" dirty="0"/>
          </a:p>
        </p:txBody>
      </p:sp>
      <p:sp>
        <p:nvSpPr>
          <p:cNvPr id="5" name="Footer Placeholder 4">
            <a:extLst>
              <a:ext uri="{FF2B5EF4-FFF2-40B4-BE49-F238E27FC236}">
                <a16:creationId xmlns:a16="http://schemas.microsoft.com/office/drawing/2014/main" id="{E2A419A8-07CA-4A4C-AEC2-C40D4D50AF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FA7B86-E610-42EA-B4DC-C2F447785273}"/>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8A7BA06D-B3FF-4E91-8639-B4569AE3AA23}"/>
              </a:ext>
            </a:extLst>
          </p:cNvPr>
          <p:cNvSpPr/>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2B30C86D-5A07-48BC-9C9D-6F9A2DB1E9E1}"/>
              </a:ext>
            </a:extLst>
          </p:cNvPr>
          <p:cNvSpPr/>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021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838200" y="1825625"/>
            <a:ext cx="105156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p>
            <a:fld id="{82EDB8D0-98ED-4B86-9D5F-E61ADC70144D}" type="datetimeFigureOut">
              <a:rPr lang="en-US" smtClean="0"/>
              <a:t>12/9/2022</a:t>
            </a:fld>
            <a:endParaRPr lang="en-US" dirty="0"/>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23DA7759-3209-4FE2-96D1-4EEDD81E9EA0}"/>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8091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A5F313-1240-47AE-A026-7F349292B5CA}"/>
              </a:ext>
            </a:extLst>
          </p:cNvPr>
          <p:cNvSpPr>
            <a:spLocks noGrp="1"/>
          </p:cNvSpPr>
          <p:nvPr>
            <p:ph type="dt" sz="half" idx="10"/>
          </p:nvPr>
        </p:nvSpPr>
        <p:spPr/>
        <p:txBody>
          <a:bodyPr/>
          <a:lstStyle/>
          <a:p>
            <a:fld id="{82EDB8D0-98ED-4B86-9D5F-E61ADC70144D}" type="datetimeFigureOut">
              <a:rPr lang="en-US" smtClean="0"/>
              <a:t>12/9/2022</a:t>
            </a:fld>
            <a:endParaRPr lang="en-US"/>
          </a:p>
        </p:txBody>
      </p:sp>
      <p:sp>
        <p:nvSpPr>
          <p:cNvPr id="5" name="Footer Placeholder 4">
            <a:extLst>
              <a:ext uri="{FF2B5EF4-FFF2-40B4-BE49-F238E27FC236}">
                <a16:creationId xmlns:a16="http://schemas.microsoft.com/office/drawing/2014/main" id="{22448158-6132-4335-B8E1-F6A8963837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94C5B6-1598-48B4-9B3A-3078FDBE90B7}"/>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9" name="Freeform: Shape 8">
            <a:extLst>
              <a:ext uri="{FF2B5EF4-FFF2-40B4-BE49-F238E27FC236}">
                <a16:creationId xmlns:a16="http://schemas.microsoft.com/office/drawing/2014/main" id="{FEDBDD32-D3EE-4848-A112-BA814D4631CD}"/>
              </a:ext>
            </a:extLst>
          </p:cNvPr>
          <p:cNvSpPr/>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Arc 9">
            <a:extLst>
              <a:ext uri="{FF2B5EF4-FFF2-40B4-BE49-F238E27FC236}">
                <a16:creationId xmlns:a16="http://schemas.microsoft.com/office/drawing/2014/main" id="{61350361-843C-49D0-BD6A-ECDBA3842BA0}"/>
              </a:ext>
            </a:extLst>
          </p:cNvPr>
          <p:cNvSpPr/>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5304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p>
            <a:fld id="{82EDB8D0-98ED-4B86-9D5F-E61ADC70144D}" type="datetimeFigureOut">
              <a:rPr lang="en-US" smtClean="0"/>
              <a:t>12/9/2022</a:t>
            </a:fld>
            <a:endParaRPr lang="en-US"/>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7783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p>
            <a:fld id="{82EDB8D0-98ED-4B86-9D5F-E61ADC70144D}" type="datetimeFigureOut">
              <a:rPr lang="en-US" smtClean="0"/>
              <a:t>12/9/2022</a:t>
            </a:fld>
            <a:endParaRPr lang="en-US"/>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5203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p>
            <a:fld id="{82EDB8D0-98ED-4B86-9D5F-E61ADC70144D}" type="datetimeFigureOut">
              <a:rPr lang="en-US" smtClean="0"/>
              <a:t>12/9/2022</a:t>
            </a:fld>
            <a:endParaRPr lang="en-US"/>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3083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p>
            <a:fld id="{82EDB8D0-98ED-4B86-9D5F-E61ADC70144D}" type="datetimeFigureOut">
              <a:rPr lang="en-US" smtClean="0"/>
              <a:t>12/9/2022</a:t>
            </a:fld>
            <a:endParaRPr lang="en-US"/>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7313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70783-FF31-4C4E-9196-EB169B209747}"/>
              </a:ext>
            </a:extLst>
          </p:cNvPr>
          <p:cNvSpPr>
            <a:spLocks noGrp="1"/>
          </p:cNvSpPr>
          <p:nvPr>
            <p:ph type="dt" sz="half" idx="10"/>
          </p:nvPr>
        </p:nvSpPr>
        <p:spPr/>
        <p:txBody>
          <a:bodyPr/>
          <a:lstStyle/>
          <a:p>
            <a:fld id="{82EDB8D0-98ED-4B86-9D5F-E61ADC70144D}" type="datetimeFigureOut">
              <a:rPr lang="en-US" smtClean="0"/>
              <a:t>12/9/2022</a:t>
            </a:fld>
            <a:endParaRPr lang="en-US"/>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7454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A07CB7-0520-4D64-B76C-C31AC557832D}"/>
              </a:ext>
            </a:extLst>
          </p:cNvPr>
          <p:cNvSpPr>
            <a:spLocks noGrp="1"/>
          </p:cNvSpPr>
          <p:nvPr>
            <p:ph type="dt" sz="half" idx="10"/>
          </p:nvPr>
        </p:nvSpPr>
        <p:spPr/>
        <p:txBody>
          <a:bodyPr/>
          <a:lstStyle/>
          <a:p>
            <a:fld id="{82EDB8D0-98ED-4B86-9D5F-E61ADC70144D}" type="datetimeFigureOut">
              <a:rPr lang="en-US" smtClean="0"/>
              <a:t>12/9/2022</a:t>
            </a:fld>
            <a:endParaRPr lang="en-US"/>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8341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6E5D1-6D19-4E7F-9B4E-42326B7716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D2A06C-F91A-4ADC-9CD2-61F0A4D7EE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3AA9A-2280-4F63-8B3D-20742AE6901F}"/>
              </a:ext>
            </a:extLst>
          </p:cNvPr>
          <p:cNvSpPr>
            <a:spLocks noGrp="1"/>
          </p:cNvSpPr>
          <p:nvPr>
            <p:ph type="dt" sz="half" idx="10"/>
          </p:nvPr>
        </p:nvSpPr>
        <p:spPr/>
        <p:txBody>
          <a:bodyPr/>
          <a:lstStyle/>
          <a:p>
            <a:fld id="{82EDB8D0-98ED-4B86-9D5F-E61ADC70144D}" type="datetimeFigureOut">
              <a:rPr lang="en-US" smtClean="0"/>
              <a:t>12/9/2022</a:t>
            </a:fld>
            <a:endParaRPr lang="en-US"/>
          </a:p>
        </p:txBody>
      </p:sp>
      <p:sp>
        <p:nvSpPr>
          <p:cNvPr id="5" name="Footer Placeholder 4">
            <a:extLst>
              <a:ext uri="{FF2B5EF4-FFF2-40B4-BE49-F238E27FC236}">
                <a16:creationId xmlns:a16="http://schemas.microsoft.com/office/drawing/2014/main" id="{E40D986B-E58E-43B6-8A80-FFA9D8F748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140D36-2E71-4F27-967F-7A3E4C6EE197}"/>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C1609904-5327-4D2C-A445-B270A00F3B5F}"/>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30FC7BEC-08C5-4D95-9C84-B48BC8AD1C9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8118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1FEA3D-0C7F-45CD-B6A0-942F707B363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8B8A12-BCE6-4D03-A637-1DEC8924BE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9755-9FF4-428A-AEB7-1A6477466741}"/>
              </a:ext>
            </a:extLst>
          </p:cNvPr>
          <p:cNvSpPr>
            <a:spLocks noGrp="1"/>
          </p:cNvSpPr>
          <p:nvPr>
            <p:ph type="dt" sz="half" idx="10"/>
          </p:nvPr>
        </p:nvSpPr>
        <p:spPr/>
        <p:txBody>
          <a:bodyPr/>
          <a:lstStyle/>
          <a:p>
            <a:fld id="{82EDB8D0-98ED-4B86-9D5F-E61ADC70144D}" type="datetimeFigureOut">
              <a:rPr lang="en-US" smtClean="0"/>
              <a:t>12/9/2022</a:t>
            </a:fld>
            <a:endParaRPr lang="en-US"/>
          </a:p>
        </p:txBody>
      </p:sp>
      <p:sp>
        <p:nvSpPr>
          <p:cNvPr id="5" name="Footer Placeholder 4">
            <a:extLst>
              <a:ext uri="{FF2B5EF4-FFF2-40B4-BE49-F238E27FC236}">
                <a16:creationId xmlns:a16="http://schemas.microsoft.com/office/drawing/2014/main" id="{A5141836-11E2-49FD-877D-53B74514A9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D24C42-4B05-4EEF-BE14-29041EC9C0E5}"/>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5BADDEB1-F604-408B-B02A-A2814606E6AF}"/>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D8DF7987-332F-4D6C-81C3-990F39C76C96}"/>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6450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cap="none" spc="0" baseline="0">
                <a:solidFill>
                  <a:schemeClr val="tx1">
                    <a:tint val="75000"/>
                  </a:schemeClr>
                </a:solidFill>
                <a:latin typeface="+mn-lt"/>
              </a:defRPr>
            </a:lvl1pPr>
          </a:lstStyle>
          <a:p>
            <a:fld id="{82EDB8D0-98ED-4B86-9D5F-E61ADC70144D}" type="datetimeFigureOut">
              <a:rPr lang="en-US" smtClean="0"/>
              <a:pPr/>
              <a:t>12/9/2022</a:t>
            </a:fld>
            <a:endParaRPr lang="en-US" dirty="0"/>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cap="none" spc="0" baseline="0">
                <a:solidFill>
                  <a:schemeClr val="tx1">
                    <a:tint val="75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cap="none" spc="0" baseline="0">
                <a:solidFill>
                  <a:schemeClr val="tx1">
                    <a:tint val="75000"/>
                  </a:schemeClr>
                </a:solidFill>
                <a:latin typeface="+mn-lt"/>
              </a:defRPr>
            </a:lvl1pPr>
          </a:lstStyle>
          <a:p>
            <a:fld id="{4854181D-6920-4594-9A5D-6CE56DC9F8B2}" type="slidenum">
              <a:rPr lang="en-US" smtClean="0"/>
              <a:pPr/>
              <a:t>‹#›</a:t>
            </a:fld>
            <a:endParaRPr lang="en-US"/>
          </a:p>
        </p:txBody>
      </p:sp>
    </p:spTree>
    <p:extLst>
      <p:ext uri="{BB962C8B-B14F-4D97-AF65-F5344CB8AC3E}">
        <p14:creationId xmlns:p14="http://schemas.microsoft.com/office/powerpoint/2010/main" val="3695778993"/>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scratch.mit.edu/projects/758129591"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6F1F2C8-798B-4CCE-A851-94AFAF350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Τίτλος 1"/>
          <p:cNvSpPr>
            <a:spLocks noGrp="1"/>
          </p:cNvSpPr>
          <p:nvPr>
            <p:ph type="ctrTitle"/>
          </p:nvPr>
        </p:nvSpPr>
        <p:spPr>
          <a:xfrm>
            <a:off x="970908" y="1220919"/>
            <a:ext cx="5425781" cy="2387600"/>
          </a:xfrm>
        </p:spPr>
        <p:txBody>
          <a:bodyPr>
            <a:normAutofit fontScale="90000"/>
          </a:bodyPr>
          <a:lstStyle/>
          <a:p>
            <a:pPr algn="l"/>
            <a:r>
              <a:rPr lang="en-US" b="1" dirty="0">
                <a:ea typeface="+mj-lt"/>
                <a:cs typeface="+mj-lt"/>
              </a:rPr>
              <a:t>Μαθα</a:t>
            </a:r>
            <a:r>
              <a:rPr lang="en-US" b="1" dirty="0" err="1">
                <a:ea typeface="+mj-lt"/>
                <a:cs typeface="+mj-lt"/>
              </a:rPr>
              <a:t>ίνοντ</a:t>
            </a:r>
            <a:r>
              <a:rPr lang="en-US" b="1" dirty="0">
                <a:ea typeface="+mj-lt"/>
                <a:cs typeface="+mj-lt"/>
              </a:rPr>
              <a:t>ας </a:t>
            </a:r>
            <a:r>
              <a:rPr lang="en-US" b="1" dirty="0" err="1">
                <a:ea typeface="+mj-lt"/>
                <a:cs typeface="+mj-lt"/>
              </a:rPr>
              <a:t>τις</a:t>
            </a:r>
            <a:r>
              <a:rPr lang="en-US" b="1" dirty="0">
                <a:ea typeface="+mj-lt"/>
                <a:cs typeface="+mj-lt"/>
              </a:rPr>
              <a:t> </a:t>
            </a:r>
            <a:r>
              <a:rPr lang="en-US" b="1" dirty="0" err="1">
                <a:ea typeface="+mj-lt"/>
                <a:cs typeface="+mj-lt"/>
              </a:rPr>
              <a:t>μουσικές</a:t>
            </a:r>
            <a:r>
              <a:rPr lang="en-US" b="1" dirty="0">
                <a:ea typeface="+mj-lt"/>
                <a:cs typeface="+mj-lt"/>
              </a:rPr>
              <a:t> </a:t>
            </a:r>
            <a:r>
              <a:rPr lang="en-US" b="1" dirty="0" err="1">
                <a:ea typeface="+mj-lt"/>
                <a:cs typeface="+mj-lt"/>
              </a:rPr>
              <a:t>νότες</a:t>
            </a:r>
            <a:r>
              <a:rPr lang="en-US" b="1" dirty="0">
                <a:ea typeface="+mj-lt"/>
                <a:cs typeface="+mj-lt"/>
              </a:rPr>
              <a:t> </a:t>
            </a:r>
            <a:r>
              <a:rPr lang="en-US" b="1" dirty="0" err="1">
                <a:ea typeface="+mj-lt"/>
                <a:cs typeface="+mj-lt"/>
              </a:rPr>
              <a:t>μέσω</a:t>
            </a:r>
            <a:r>
              <a:rPr lang="en-US" b="1" dirty="0">
                <a:ea typeface="+mj-lt"/>
                <a:cs typeface="+mj-lt"/>
              </a:rPr>
              <a:t> </a:t>
            </a:r>
            <a:r>
              <a:rPr lang="en-US" b="1" dirty="0" err="1">
                <a:ea typeface="+mj-lt"/>
                <a:cs typeface="+mj-lt"/>
              </a:rPr>
              <a:t>του</a:t>
            </a:r>
            <a:r>
              <a:rPr lang="en-US" b="1" dirty="0">
                <a:ea typeface="+mj-lt"/>
                <a:cs typeface="+mj-lt"/>
              </a:rPr>
              <a:t> Scratch</a:t>
            </a:r>
          </a:p>
        </p:txBody>
      </p:sp>
      <p:sp>
        <p:nvSpPr>
          <p:cNvPr id="3" name="Υπότιτλος 2"/>
          <p:cNvSpPr>
            <a:spLocks noGrp="1"/>
          </p:cNvSpPr>
          <p:nvPr>
            <p:ph type="subTitle" idx="1"/>
          </p:nvPr>
        </p:nvSpPr>
        <p:spPr>
          <a:xfrm>
            <a:off x="970908" y="4055714"/>
            <a:ext cx="5425781" cy="1655762"/>
          </a:xfrm>
        </p:spPr>
        <p:txBody>
          <a:bodyPr vert="horz" lIns="91440" tIns="45720" rIns="91440" bIns="45720" rtlCol="0" anchor="t">
            <a:normAutofit fontScale="77500" lnSpcReduction="20000"/>
          </a:bodyPr>
          <a:lstStyle/>
          <a:p>
            <a:r>
              <a:rPr lang="el-GR" b="1" dirty="0">
                <a:ea typeface="+mn-lt"/>
                <a:cs typeface="+mn-lt"/>
              </a:rPr>
              <a:t>Ομάδα 12</a:t>
            </a:r>
            <a:endParaRPr lang="el-GR" dirty="0">
              <a:ea typeface="+mn-lt"/>
              <a:cs typeface="+mn-lt"/>
            </a:endParaRPr>
          </a:p>
          <a:p>
            <a:endParaRPr lang="el-GR" dirty="0">
              <a:ea typeface="+mn-lt"/>
              <a:cs typeface="+mn-lt"/>
            </a:endParaRPr>
          </a:p>
          <a:p>
            <a:r>
              <a:rPr lang="el-GR" b="1" dirty="0">
                <a:ea typeface="+mn-lt"/>
                <a:cs typeface="+mn-lt"/>
              </a:rPr>
              <a:t>Αργυρόπουλος Ιωάννης 5254</a:t>
            </a:r>
            <a:endParaRPr lang="el-GR" dirty="0">
              <a:ea typeface="+mn-lt"/>
              <a:cs typeface="+mn-lt"/>
            </a:endParaRPr>
          </a:p>
          <a:p>
            <a:r>
              <a:rPr lang="el-GR" b="1" dirty="0" err="1">
                <a:ea typeface="+mn-lt"/>
                <a:cs typeface="+mn-lt"/>
              </a:rPr>
              <a:t>Νεστορούδη</a:t>
            </a:r>
            <a:r>
              <a:rPr lang="el-GR" b="1" dirty="0">
                <a:ea typeface="+mn-lt"/>
                <a:cs typeface="+mn-lt"/>
              </a:rPr>
              <a:t> Αλεξάνδρα 5288</a:t>
            </a:r>
            <a:endParaRPr lang="el-GR" dirty="0">
              <a:ea typeface="+mn-lt"/>
              <a:cs typeface="+mn-lt"/>
            </a:endParaRPr>
          </a:p>
          <a:p>
            <a:r>
              <a:rPr lang="el-GR" b="1" dirty="0" err="1">
                <a:ea typeface="+mn-lt"/>
                <a:cs typeface="+mn-lt"/>
              </a:rPr>
              <a:t>Καλλονιάτης</a:t>
            </a:r>
            <a:r>
              <a:rPr lang="el-GR" b="1" dirty="0">
                <a:ea typeface="+mn-lt"/>
                <a:cs typeface="+mn-lt"/>
              </a:rPr>
              <a:t> Ραφαήλ-Προκόπιος 5068</a:t>
            </a:r>
            <a:endParaRPr lang="el-GR" dirty="0">
              <a:ea typeface="+mn-lt"/>
              <a:cs typeface="+mn-lt"/>
            </a:endParaRPr>
          </a:p>
          <a:p>
            <a:pPr algn="l"/>
            <a:endParaRPr lang="el-GR" dirty="0"/>
          </a:p>
        </p:txBody>
      </p:sp>
      <p:sp>
        <p:nvSpPr>
          <p:cNvPr id="10" name="Freeform: Shape 9">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Block Arc 13">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02394"/>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Freeform: Shape 23">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5122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777FBAD-3EB4-E93C-D849-7340FF96B503}"/>
              </a:ext>
            </a:extLst>
          </p:cNvPr>
          <p:cNvSpPr>
            <a:spLocks noGrp="1"/>
          </p:cNvSpPr>
          <p:nvPr>
            <p:ph type="title"/>
          </p:nvPr>
        </p:nvSpPr>
        <p:spPr/>
        <p:txBody>
          <a:bodyPr/>
          <a:lstStyle/>
          <a:p>
            <a:r>
              <a:rPr lang="el-GR" b="1" dirty="0">
                <a:cs typeface="Aharoni"/>
              </a:rPr>
              <a:t>Σκοποί</a:t>
            </a:r>
            <a:endParaRPr lang="el-GR" b="1" dirty="0"/>
          </a:p>
        </p:txBody>
      </p:sp>
      <p:sp>
        <p:nvSpPr>
          <p:cNvPr id="3" name="Θέση περιεχομένου 2">
            <a:extLst>
              <a:ext uri="{FF2B5EF4-FFF2-40B4-BE49-F238E27FC236}">
                <a16:creationId xmlns:a16="http://schemas.microsoft.com/office/drawing/2014/main" id="{F6700F5D-36B9-BC8B-0561-083F59F01CC9}"/>
              </a:ext>
            </a:extLst>
          </p:cNvPr>
          <p:cNvSpPr>
            <a:spLocks noGrp="1"/>
          </p:cNvSpPr>
          <p:nvPr>
            <p:ph idx="1"/>
          </p:nvPr>
        </p:nvSpPr>
        <p:spPr/>
        <p:txBody>
          <a:bodyPr vert="horz" lIns="91440" tIns="45720" rIns="91440" bIns="45720" rtlCol="0" anchor="t">
            <a:normAutofit/>
          </a:bodyPr>
          <a:lstStyle/>
          <a:p>
            <a:r>
              <a:rPr lang="en-US" dirty="0">
                <a:ea typeface="+mn-lt"/>
                <a:cs typeface="+mn-lt"/>
              </a:rPr>
              <a:t>Η </a:t>
            </a:r>
            <a:r>
              <a:rPr lang="en-US" dirty="0" err="1">
                <a:ea typeface="+mn-lt"/>
                <a:cs typeface="+mn-lt"/>
              </a:rPr>
              <a:t>εκμάθηση</a:t>
            </a:r>
            <a:r>
              <a:rPr lang="en-US" dirty="0">
                <a:ea typeface="+mn-lt"/>
                <a:cs typeface="+mn-lt"/>
              </a:rPr>
              <a:t> </a:t>
            </a:r>
            <a:r>
              <a:rPr lang="en-US" dirty="0" err="1">
                <a:ea typeface="+mn-lt"/>
                <a:cs typeface="+mn-lt"/>
              </a:rPr>
              <a:t>της</a:t>
            </a:r>
            <a:r>
              <a:rPr lang="en-US" dirty="0">
                <a:ea typeface="+mn-lt"/>
                <a:cs typeface="+mn-lt"/>
              </a:rPr>
              <a:t> </a:t>
            </a:r>
            <a:r>
              <a:rPr lang="en-US" dirty="0" err="1">
                <a:ea typeface="+mn-lt"/>
                <a:cs typeface="+mn-lt"/>
              </a:rPr>
              <a:t>θέσης</a:t>
            </a:r>
            <a:r>
              <a:rPr lang="en-US" dirty="0">
                <a:ea typeface="+mn-lt"/>
                <a:cs typeface="+mn-lt"/>
              </a:rPr>
              <a:t> και </a:t>
            </a:r>
            <a:r>
              <a:rPr lang="en-US" dirty="0" err="1">
                <a:ea typeface="+mn-lt"/>
                <a:cs typeface="+mn-lt"/>
              </a:rPr>
              <a:t>του</a:t>
            </a:r>
            <a:r>
              <a:rPr lang="en-US" dirty="0">
                <a:ea typeface="+mn-lt"/>
                <a:cs typeface="+mn-lt"/>
              </a:rPr>
              <a:t> </a:t>
            </a:r>
            <a:r>
              <a:rPr lang="en-US" dirty="0" err="1">
                <a:ea typeface="+mn-lt"/>
                <a:cs typeface="+mn-lt"/>
              </a:rPr>
              <a:t>ήχου</a:t>
            </a:r>
            <a:r>
              <a:rPr lang="en-US" dirty="0">
                <a:ea typeface="+mn-lt"/>
                <a:cs typeface="+mn-lt"/>
              </a:rPr>
              <a:t> </a:t>
            </a:r>
            <a:r>
              <a:rPr lang="en-US" dirty="0" err="1">
                <a:ea typeface="+mn-lt"/>
                <a:cs typeface="+mn-lt"/>
              </a:rPr>
              <a:t>κάθε</a:t>
            </a:r>
            <a:r>
              <a:rPr lang="en-US" dirty="0">
                <a:ea typeface="+mn-lt"/>
                <a:cs typeface="+mn-lt"/>
              </a:rPr>
              <a:t> </a:t>
            </a:r>
            <a:r>
              <a:rPr lang="en-US" dirty="0" err="1">
                <a:ea typeface="+mn-lt"/>
                <a:cs typeface="+mn-lt"/>
              </a:rPr>
              <a:t>μουσικής</a:t>
            </a:r>
            <a:r>
              <a:rPr lang="en-US" dirty="0">
                <a:ea typeface="+mn-lt"/>
                <a:cs typeface="+mn-lt"/>
              </a:rPr>
              <a:t> </a:t>
            </a:r>
            <a:r>
              <a:rPr lang="en-US" dirty="0" err="1">
                <a:ea typeface="+mn-lt"/>
                <a:cs typeface="+mn-lt"/>
              </a:rPr>
              <a:t>νότ</a:t>
            </a:r>
            <a:r>
              <a:rPr lang="en-US" dirty="0">
                <a:ea typeface="+mn-lt"/>
                <a:cs typeface="+mn-lt"/>
              </a:rPr>
              <a:t>ας στις χορδές της κιθάρας και τα πλήκτρα του πιάνου.</a:t>
            </a:r>
            <a:endParaRPr lang="el-GR" dirty="0">
              <a:ea typeface="+mn-lt"/>
              <a:cs typeface="+mn-lt"/>
            </a:endParaRPr>
          </a:p>
          <a:p>
            <a:pPr marL="0" indent="0">
              <a:buNone/>
            </a:pPr>
            <a:endParaRPr lang="el-GR" dirty="0">
              <a:ea typeface="+mn-lt"/>
              <a:cs typeface="+mn-lt"/>
            </a:endParaRPr>
          </a:p>
          <a:p>
            <a:r>
              <a:rPr lang="en-US" dirty="0" err="1">
                <a:ea typeface="+mn-lt"/>
                <a:cs typeface="+mn-lt"/>
              </a:rPr>
              <a:t>Δυν</a:t>
            </a:r>
            <a:r>
              <a:rPr lang="en-US" dirty="0">
                <a:ea typeface="+mn-lt"/>
                <a:cs typeface="+mn-lt"/>
              </a:rPr>
              <a:t>ατότητα εφαρμογής των παραπάνω γνώσεων σε πραγματικά μουσικά όργανα και πιθανή απόκτηση ενός νέου ενδιαφέροντος για την μουσική.</a:t>
            </a:r>
            <a:endParaRPr lang="en-US" dirty="0"/>
          </a:p>
        </p:txBody>
      </p:sp>
    </p:spTree>
    <p:extLst>
      <p:ext uri="{BB962C8B-B14F-4D97-AF65-F5344CB8AC3E}">
        <p14:creationId xmlns:p14="http://schemas.microsoft.com/office/powerpoint/2010/main" val="11009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5E090AC-509B-636F-2687-51BD5B3DBEAD}"/>
              </a:ext>
            </a:extLst>
          </p:cNvPr>
          <p:cNvSpPr>
            <a:spLocks noGrp="1"/>
          </p:cNvSpPr>
          <p:nvPr>
            <p:ph type="title"/>
          </p:nvPr>
        </p:nvSpPr>
        <p:spPr/>
        <p:txBody>
          <a:bodyPr/>
          <a:lstStyle/>
          <a:p>
            <a:r>
              <a:rPr lang="el-GR" b="1" dirty="0">
                <a:cs typeface="Aharoni"/>
              </a:rPr>
              <a:t>Στόχοι</a:t>
            </a:r>
            <a:endParaRPr lang="el-GR" b="1" dirty="0"/>
          </a:p>
        </p:txBody>
      </p:sp>
      <p:sp>
        <p:nvSpPr>
          <p:cNvPr id="3" name="Θέση περιεχομένου 2">
            <a:extLst>
              <a:ext uri="{FF2B5EF4-FFF2-40B4-BE49-F238E27FC236}">
                <a16:creationId xmlns:a16="http://schemas.microsoft.com/office/drawing/2014/main" id="{66A88F13-C88F-0021-EA86-CB6AA35625A9}"/>
              </a:ext>
            </a:extLst>
          </p:cNvPr>
          <p:cNvSpPr>
            <a:spLocks noGrp="1"/>
          </p:cNvSpPr>
          <p:nvPr>
            <p:ph idx="1"/>
          </p:nvPr>
        </p:nvSpPr>
        <p:spPr/>
        <p:txBody>
          <a:bodyPr vert="horz" lIns="91440" tIns="45720" rIns="91440" bIns="45720" rtlCol="0" anchor="t">
            <a:normAutofit fontScale="92500"/>
          </a:bodyPr>
          <a:lstStyle/>
          <a:p>
            <a:r>
              <a:rPr lang="en-US" dirty="0" err="1">
                <a:ea typeface="+mn-lt"/>
                <a:cs typeface="+mn-lt"/>
              </a:rPr>
              <a:t>Με</a:t>
            </a:r>
            <a:r>
              <a:rPr lang="en-US" dirty="0">
                <a:ea typeface="+mn-lt"/>
                <a:cs typeface="+mn-lt"/>
              </a:rPr>
              <a:t> </a:t>
            </a:r>
            <a:r>
              <a:rPr lang="en-US" dirty="0" err="1">
                <a:ea typeface="+mn-lt"/>
                <a:cs typeface="+mn-lt"/>
              </a:rPr>
              <a:t>την</a:t>
            </a:r>
            <a:r>
              <a:rPr lang="en-US" dirty="0">
                <a:ea typeface="+mn-lt"/>
                <a:cs typeface="+mn-lt"/>
              </a:rPr>
              <a:t> </a:t>
            </a:r>
            <a:r>
              <a:rPr lang="en-US" dirty="0" err="1">
                <a:ea typeface="+mn-lt"/>
                <a:cs typeface="+mn-lt"/>
              </a:rPr>
              <a:t>χρήση</a:t>
            </a:r>
            <a:r>
              <a:rPr lang="en-US" dirty="0">
                <a:ea typeface="+mn-lt"/>
                <a:cs typeface="+mn-lt"/>
              </a:rPr>
              <a:t> </a:t>
            </a:r>
            <a:r>
              <a:rPr lang="en-US" dirty="0" err="1">
                <a:ea typeface="+mn-lt"/>
                <a:cs typeface="+mn-lt"/>
              </a:rPr>
              <a:t>της</a:t>
            </a:r>
            <a:r>
              <a:rPr lang="en-US" dirty="0">
                <a:ea typeface="+mn-lt"/>
                <a:cs typeface="+mn-lt"/>
              </a:rPr>
              <a:t> </a:t>
            </a:r>
            <a:r>
              <a:rPr lang="en-US" dirty="0" err="1">
                <a:ea typeface="+mn-lt"/>
                <a:cs typeface="+mn-lt"/>
              </a:rPr>
              <a:t>εφ</a:t>
            </a:r>
            <a:r>
              <a:rPr lang="en-US" dirty="0">
                <a:ea typeface="+mn-lt"/>
                <a:cs typeface="+mn-lt"/>
              </a:rPr>
              <a:t>αρμογής και την καθοδήγηση του εκπαιδευτικού, </a:t>
            </a:r>
            <a:r>
              <a:rPr lang="el-GR" dirty="0">
                <a:ea typeface="+mn-lt"/>
                <a:cs typeface="+mn-lt"/>
              </a:rPr>
              <a:t>οι μαθητές </a:t>
            </a:r>
            <a:r>
              <a:rPr lang="en-US" dirty="0">
                <a:ea typeface="+mn-lt"/>
                <a:cs typeface="+mn-lt"/>
              </a:rPr>
              <a:t>θα είναι σε θέση να αναγνωρίζουν την σωστή αρίθμηση των χορδών μιας κιθάρας, τις νότες της, όπως και τον ήχο της κάθε μίας. </a:t>
            </a:r>
            <a:endParaRPr lang="el-GR" dirty="0">
              <a:ea typeface="+mn-lt"/>
              <a:cs typeface="+mn-lt"/>
            </a:endParaRPr>
          </a:p>
          <a:p>
            <a:endParaRPr lang="el-GR" dirty="0">
              <a:ea typeface="+mn-lt"/>
              <a:cs typeface="+mn-lt"/>
            </a:endParaRPr>
          </a:p>
          <a:p>
            <a:r>
              <a:rPr lang="en-US" dirty="0">
                <a:ea typeface="+mn-lt"/>
                <a:cs typeface="+mn-lt"/>
              </a:rPr>
              <a:t>Θα ανα</a:t>
            </a:r>
            <a:r>
              <a:rPr lang="en-US" dirty="0" err="1">
                <a:ea typeface="+mn-lt"/>
                <a:cs typeface="+mn-lt"/>
              </a:rPr>
              <a:t>γνωρίζουν</a:t>
            </a:r>
            <a:r>
              <a:rPr lang="en-US" dirty="0">
                <a:ea typeface="+mn-lt"/>
                <a:cs typeface="+mn-lt"/>
              </a:rPr>
              <a:t> </a:t>
            </a:r>
            <a:r>
              <a:rPr lang="en-US" dirty="0" err="1">
                <a:ea typeface="+mn-lt"/>
                <a:cs typeface="+mn-lt"/>
              </a:rPr>
              <a:t>τον</a:t>
            </a:r>
            <a:r>
              <a:rPr lang="en-US" dirty="0">
                <a:ea typeface="+mn-lt"/>
                <a:cs typeface="+mn-lt"/>
              </a:rPr>
              <a:t> </a:t>
            </a:r>
            <a:r>
              <a:rPr lang="en-US" dirty="0" err="1">
                <a:ea typeface="+mn-lt"/>
                <a:cs typeface="+mn-lt"/>
              </a:rPr>
              <a:t>ήχο</a:t>
            </a:r>
            <a:r>
              <a:rPr lang="en-US" dirty="0">
                <a:ea typeface="+mn-lt"/>
                <a:cs typeface="+mn-lt"/>
              </a:rPr>
              <a:t> και </a:t>
            </a:r>
            <a:r>
              <a:rPr lang="en-US" dirty="0" err="1">
                <a:ea typeface="+mn-lt"/>
                <a:cs typeface="+mn-lt"/>
              </a:rPr>
              <a:t>τις</a:t>
            </a:r>
            <a:r>
              <a:rPr lang="en-US" dirty="0">
                <a:ea typeface="+mn-lt"/>
                <a:cs typeface="+mn-lt"/>
              </a:rPr>
              <a:t> </a:t>
            </a:r>
            <a:r>
              <a:rPr lang="en-US" dirty="0" err="1">
                <a:ea typeface="+mn-lt"/>
                <a:cs typeface="+mn-lt"/>
              </a:rPr>
              <a:t>νότες</a:t>
            </a:r>
            <a:r>
              <a:rPr lang="en-US" dirty="0">
                <a:ea typeface="+mn-lt"/>
                <a:cs typeface="+mn-lt"/>
              </a:rPr>
              <a:t> </a:t>
            </a:r>
            <a:r>
              <a:rPr lang="en-US" dirty="0" err="1">
                <a:ea typeface="+mn-lt"/>
                <a:cs typeface="+mn-lt"/>
              </a:rPr>
              <a:t>στ</a:t>
            </a:r>
            <a:r>
              <a:rPr lang="en-US" dirty="0">
                <a:ea typeface="+mn-lt"/>
                <a:cs typeface="+mn-lt"/>
              </a:rPr>
              <a:t>α βασικά πλήκτρα του πιάνου. </a:t>
            </a:r>
            <a:endParaRPr lang="el-GR" dirty="0">
              <a:ea typeface="+mn-lt"/>
              <a:cs typeface="+mn-lt"/>
            </a:endParaRPr>
          </a:p>
          <a:p>
            <a:endParaRPr lang="el-GR" dirty="0">
              <a:ea typeface="+mn-lt"/>
              <a:cs typeface="+mn-lt"/>
            </a:endParaRPr>
          </a:p>
          <a:p>
            <a:r>
              <a:rPr lang="en-US" dirty="0">
                <a:ea typeface="+mn-lt"/>
                <a:cs typeface="+mn-lt"/>
              </a:rPr>
              <a:t>Θα </a:t>
            </a:r>
            <a:r>
              <a:rPr lang="en-US" dirty="0" err="1">
                <a:ea typeface="+mn-lt"/>
                <a:cs typeface="+mn-lt"/>
              </a:rPr>
              <a:t>έχουν</a:t>
            </a:r>
            <a:r>
              <a:rPr lang="en-US" dirty="0">
                <a:ea typeface="+mn-lt"/>
                <a:cs typeface="+mn-lt"/>
              </a:rPr>
              <a:t> </a:t>
            </a:r>
            <a:r>
              <a:rPr lang="en-US" dirty="0" err="1">
                <a:ea typeface="+mn-lt"/>
                <a:cs typeface="+mn-lt"/>
              </a:rPr>
              <a:t>την</a:t>
            </a:r>
            <a:r>
              <a:rPr lang="en-US" dirty="0">
                <a:ea typeface="+mn-lt"/>
                <a:cs typeface="+mn-lt"/>
              </a:rPr>
              <a:t> </a:t>
            </a:r>
            <a:r>
              <a:rPr lang="en-US" dirty="0" err="1">
                <a:ea typeface="+mn-lt"/>
                <a:cs typeface="+mn-lt"/>
              </a:rPr>
              <a:t>δυν</a:t>
            </a:r>
            <a:r>
              <a:rPr lang="en-US" dirty="0">
                <a:ea typeface="+mn-lt"/>
                <a:cs typeface="+mn-lt"/>
              </a:rPr>
              <a:t>ατότητα να δείχνουν σωστά τις χορδές και τα πλήκτρα που αντιστοιχούν σε κάθε νότα, όταν τους δωθεί ένα μουσικό όργανο, εφαρμόζοντας, έτσι, αυτά που έμαθαν σε πραγματικά μουσικά όργανα. </a:t>
            </a:r>
            <a:endParaRPr lang="el-GR" dirty="0">
              <a:ea typeface="+mn-lt"/>
              <a:cs typeface="+mn-lt"/>
            </a:endParaRPr>
          </a:p>
        </p:txBody>
      </p:sp>
    </p:spTree>
    <p:extLst>
      <p:ext uri="{BB962C8B-B14F-4D97-AF65-F5344CB8AC3E}">
        <p14:creationId xmlns:p14="http://schemas.microsoft.com/office/powerpoint/2010/main" val="3744587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06662DB-353A-726D-D693-B8BEA250511B}"/>
              </a:ext>
            </a:extLst>
          </p:cNvPr>
          <p:cNvSpPr>
            <a:spLocks noGrp="1"/>
          </p:cNvSpPr>
          <p:nvPr>
            <p:ph type="title"/>
          </p:nvPr>
        </p:nvSpPr>
        <p:spPr/>
        <p:txBody>
          <a:bodyPr/>
          <a:lstStyle/>
          <a:p>
            <a:r>
              <a:rPr lang="el-GR" b="1" dirty="0">
                <a:ea typeface="+mj-lt"/>
                <a:cs typeface="+mj-lt"/>
              </a:rPr>
              <a:t>Χαρακτηριστικά Εκπαιδευόμενων</a:t>
            </a:r>
          </a:p>
        </p:txBody>
      </p:sp>
      <p:sp>
        <p:nvSpPr>
          <p:cNvPr id="3" name="Θέση περιεχομένου 2">
            <a:extLst>
              <a:ext uri="{FF2B5EF4-FFF2-40B4-BE49-F238E27FC236}">
                <a16:creationId xmlns:a16="http://schemas.microsoft.com/office/drawing/2014/main" id="{9EE8DBEC-6D07-1684-48B6-E05A9887E625}"/>
              </a:ext>
            </a:extLst>
          </p:cNvPr>
          <p:cNvSpPr>
            <a:spLocks noGrp="1"/>
          </p:cNvSpPr>
          <p:nvPr>
            <p:ph idx="1"/>
          </p:nvPr>
        </p:nvSpPr>
        <p:spPr>
          <a:xfrm>
            <a:off x="838200" y="1528259"/>
            <a:ext cx="10515600" cy="4816888"/>
          </a:xfrm>
        </p:spPr>
        <p:txBody>
          <a:bodyPr vert="horz" lIns="91440" tIns="45720" rIns="91440" bIns="45720" rtlCol="0" anchor="t">
            <a:normAutofit fontScale="92500" lnSpcReduction="10000"/>
          </a:bodyPr>
          <a:lstStyle/>
          <a:p>
            <a:pPr marL="0" indent="0">
              <a:buNone/>
            </a:pPr>
            <a:r>
              <a:rPr lang="el-GR" b="1" dirty="0"/>
              <a:t>Ηλικία:</a:t>
            </a:r>
            <a:r>
              <a:rPr lang="el-GR" dirty="0"/>
              <a:t> 7 χρονών / μαθητές της Β' τάξης Δημοτικού</a:t>
            </a:r>
          </a:p>
          <a:p>
            <a:pPr marL="0" indent="0">
              <a:buNone/>
            </a:pPr>
            <a:endParaRPr lang="el-GR" dirty="0">
              <a:ea typeface="+mn-lt"/>
              <a:cs typeface="+mn-lt"/>
            </a:endParaRPr>
          </a:p>
          <a:p>
            <a:pPr marL="0" indent="0">
              <a:buNone/>
            </a:pPr>
            <a:r>
              <a:rPr lang="el-GR" b="1" dirty="0">
                <a:ea typeface="+mn-lt"/>
                <a:cs typeface="+mn-lt"/>
              </a:rPr>
              <a:t>Προαπαιτούμενες γνώσεις των μαθητών: </a:t>
            </a:r>
            <a:r>
              <a:rPr lang="el-GR" dirty="0">
                <a:ea typeface="+mn-lt"/>
                <a:cs typeface="+mn-lt"/>
              </a:rPr>
              <a:t>Οι μαθητές πρέπει να έχουν διδαχθεί στο μάθημα της πληροφορικής της Α’ τάξης τα βασικά περί </a:t>
            </a:r>
            <a:r>
              <a:rPr lang="en-US" dirty="0">
                <a:ea typeface="+mn-lt"/>
                <a:cs typeface="+mn-lt"/>
              </a:rPr>
              <a:t>hardware</a:t>
            </a:r>
            <a:r>
              <a:rPr lang="el-GR" dirty="0">
                <a:ea typeface="+mn-lt"/>
                <a:cs typeface="+mn-lt"/>
              </a:rPr>
              <a:t> και </a:t>
            </a:r>
            <a:r>
              <a:rPr lang="en-US" dirty="0">
                <a:ea typeface="+mn-lt"/>
                <a:cs typeface="+mn-lt"/>
              </a:rPr>
              <a:t>software</a:t>
            </a:r>
            <a:r>
              <a:rPr lang="el-GR" dirty="0">
                <a:ea typeface="+mn-lt"/>
                <a:cs typeface="+mn-lt"/>
              </a:rPr>
              <a:t> όπως και το πώς να χειρίζονται έναν ηλεκτρονικό υπολογιστή.</a:t>
            </a:r>
          </a:p>
          <a:p>
            <a:pPr marL="0" indent="0">
              <a:buNone/>
            </a:pPr>
            <a:br>
              <a:rPr lang="el-GR" dirty="0">
                <a:ea typeface="+mn-lt"/>
                <a:cs typeface="+mn-lt"/>
              </a:rPr>
            </a:br>
            <a:r>
              <a:rPr lang="el-GR" b="1" dirty="0">
                <a:ea typeface="+mn-lt"/>
                <a:cs typeface="+mn-lt"/>
              </a:rPr>
              <a:t>Πρότερες γνώσεις των μαθητών: </a:t>
            </a:r>
            <a:r>
              <a:rPr lang="el-GR" dirty="0">
                <a:ea typeface="+mn-lt"/>
                <a:cs typeface="+mn-lt"/>
              </a:rPr>
              <a:t>Οι μαθητές έχουν βασικές δεξιότητες χειρισμού υπολογιστή, γνωρίζουν πώς ανοίγουν ένα αρχείο .</a:t>
            </a:r>
            <a:r>
              <a:rPr lang="en-US" dirty="0">
                <a:ea typeface="+mn-lt"/>
                <a:cs typeface="+mn-lt"/>
              </a:rPr>
              <a:t>txt</a:t>
            </a:r>
            <a:r>
              <a:rPr lang="el-GR" dirty="0">
                <a:ea typeface="+mn-lt"/>
                <a:cs typeface="+mn-lt"/>
              </a:rPr>
              <a:t>, πώς ανοίγουν τον σύνδεσμο μέσα στο .</a:t>
            </a:r>
            <a:r>
              <a:rPr lang="en-US" dirty="0">
                <a:ea typeface="+mn-lt"/>
                <a:cs typeface="+mn-lt"/>
              </a:rPr>
              <a:t>txt</a:t>
            </a:r>
            <a:r>
              <a:rPr lang="el-GR" dirty="0">
                <a:ea typeface="+mn-lt"/>
                <a:cs typeface="+mn-lt"/>
              </a:rPr>
              <a:t> και ότι προκειμένου να ξεκινήσει το </a:t>
            </a:r>
            <a:r>
              <a:rPr lang="en-US" dirty="0">
                <a:ea typeface="+mn-lt"/>
                <a:cs typeface="+mn-lt"/>
              </a:rPr>
              <a:t>project</a:t>
            </a:r>
            <a:r>
              <a:rPr lang="el-GR" dirty="0">
                <a:ea typeface="+mn-lt"/>
                <a:cs typeface="+mn-lt"/>
              </a:rPr>
              <a:t> πρέπει να επιλεγεί η πράσινη σημαία. Σε περίπτωση που κάτι πάει λάθος, ξέρουν πώς πρέπει να πατήσουν το κόκκινο οκτάγωνο.</a:t>
            </a:r>
            <a:br>
              <a:rPr lang="el-GR" b="1" dirty="0">
                <a:ea typeface="+mn-lt"/>
                <a:cs typeface="+mn-lt"/>
              </a:rPr>
            </a:br>
            <a:endParaRPr lang="el-GR" dirty="0">
              <a:ea typeface="+mn-lt"/>
              <a:cs typeface="+mn-lt"/>
            </a:endParaRPr>
          </a:p>
        </p:txBody>
      </p:sp>
    </p:spTree>
    <p:extLst>
      <p:ext uri="{BB962C8B-B14F-4D97-AF65-F5344CB8AC3E}">
        <p14:creationId xmlns:p14="http://schemas.microsoft.com/office/powerpoint/2010/main" val="950054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51F62-B839-48E7-9838-2A6BCEB64846}"/>
              </a:ext>
            </a:extLst>
          </p:cNvPr>
          <p:cNvSpPr>
            <a:spLocks noGrp="1"/>
          </p:cNvSpPr>
          <p:nvPr>
            <p:ph type="title"/>
          </p:nvPr>
        </p:nvSpPr>
        <p:spPr/>
        <p:txBody>
          <a:bodyPr/>
          <a:lstStyle/>
          <a:p>
            <a:r>
              <a:rPr lang="el-GR" sz="4000" b="1" i="0" dirty="0">
                <a:solidFill>
                  <a:srgbClr val="000000"/>
                </a:solidFill>
                <a:effectLst/>
                <a:latin typeface="TimesNewRomanPS-BoldMT"/>
              </a:rPr>
              <a:t>Δραστηριότητες ψυχολογικής και γνωστικής προετοιμασίας</a:t>
            </a:r>
            <a:endParaRPr lang="el-GR" dirty="0"/>
          </a:p>
        </p:txBody>
      </p:sp>
      <p:sp>
        <p:nvSpPr>
          <p:cNvPr id="3" name="Content Placeholder 2">
            <a:extLst>
              <a:ext uri="{FF2B5EF4-FFF2-40B4-BE49-F238E27FC236}">
                <a16:creationId xmlns:a16="http://schemas.microsoft.com/office/drawing/2014/main" id="{E3C37BC6-8940-4646-B186-696858A13FF8}"/>
              </a:ext>
            </a:extLst>
          </p:cNvPr>
          <p:cNvSpPr>
            <a:spLocks noGrp="1"/>
          </p:cNvSpPr>
          <p:nvPr>
            <p:ph idx="1"/>
          </p:nvPr>
        </p:nvSpPr>
        <p:spPr/>
        <p:txBody>
          <a:bodyPr/>
          <a:lstStyle/>
          <a:p>
            <a:pPr marL="0" indent="0">
              <a:buNone/>
            </a:pPr>
            <a:r>
              <a:rPr lang="el-GR" b="0" i="0" dirty="0">
                <a:solidFill>
                  <a:srgbClr val="000000"/>
                </a:solidFill>
                <a:effectLst/>
                <a:latin typeface="TimesNewRomanPSMT"/>
              </a:rPr>
              <a:t>Ο δάσκαλος αρχικά χρησιμοποιώντας την φωνή του, παρουσιάζει</a:t>
            </a:r>
            <a:r>
              <a:rPr lang="en-US" b="0" i="0" dirty="0">
                <a:solidFill>
                  <a:srgbClr val="000000"/>
                </a:solidFill>
                <a:effectLst/>
                <a:latin typeface="TimesNewRomanPSMT"/>
              </a:rPr>
              <a:t> </a:t>
            </a:r>
            <a:r>
              <a:rPr lang="el-GR" b="0" i="0" dirty="0">
                <a:solidFill>
                  <a:srgbClr val="000000"/>
                </a:solidFill>
                <a:effectLst/>
                <a:latin typeface="TimesNewRomanPSMT"/>
              </a:rPr>
              <a:t>ηχητικά στους μαθητές τις μουσικές νότες.</a:t>
            </a:r>
            <a:r>
              <a:rPr lang="en-US" b="0" i="0" dirty="0">
                <a:solidFill>
                  <a:srgbClr val="000000"/>
                </a:solidFill>
                <a:effectLst/>
                <a:latin typeface="TimesNewRomanPSMT"/>
              </a:rPr>
              <a:t> </a:t>
            </a:r>
            <a:r>
              <a:rPr lang="el-GR" b="0" i="0" dirty="0">
                <a:solidFill>
                  <a:srgbClr val="000000"/>
                </a:solidFill>
                <a:effectLst/>
                <a:latin typeface="TimesNewRomanPSMT"/>
              </a:rPr>
              <a:t>Στη συνέχεια, ζητάει από τους</a:t>
            </a:r>
            <a:r>
              <a:rPr lang="en-US" b="0" i="0" dirty="0">
                <a:solidFill>
                  <a:srgbClr val="000000"/>
                </a:solidFill>
                <a:effectLst/>
                <a:latin typeface="TimesNewRomanPSMT"/>
              </a:rPr>
              <a:t> </a:t>
            </a:r>
            <a:r>
              <a:rPr lang="el-GR" b="0" i="0" dirty="0">
                <a:solidFill>
                  <a:srgbClr val="000000"/>
                </a:solidFill>
                <a:effectLst/>
                <a:latin typeface="TimesNewRomanPSMT"/>
              </a:rPr>
              <a:t>μαθητές να το επιχειρήσουν κι αυτοί ένας-ένας με τη βοήθειά του βέβαια,</a:t>
            </a:r>
            <a:r>
              <a:rPr lang="en-US" b="0" i="0" dirty="0">
                <a:solidFill>
                  <a:srgbClr val="000000"/>
                </a:solidFill>
                <a:effectLst/>
                <a:latin typeface="TimesNewRomanPSMT"/>
              </a:rPr>
              <a:t> </a:t>
            </a:r>
            <a:r>
              <a:rPr lang="el-GR" b="0" i="0" dirty="0">
                <a:solidFill>
                  <a:srgbClr val="000000"/>
                </a:solidFill>
                <a:effectLst/>
                <a:latin typeface="TimesNewRomanPSMT"/>
              </a:rPr>
              <a:t>κι</a:t>
            </a:r>
            <a:r>
              <a:rPr lang="en-US" b="0" i="0" dirty="0">
                <a:solidFill>
                  <a:srgbClr val="000000"/>
                </a:solidFill>
                <a:effectLst/>
                <a:latin typeface="TimesNewRomanPSMT"/>
              </a:rPr>
              <a:t> </a:t>
            </a:r>
            <a:r>
              <a:rPr lang="el-GR" b="0" i="0" dirty="0">
                <a:solidFill>
                  <a:srgbClr val="000000"/>
                </a:solidFill>
                <a:effectLst/>
                <a:latin typeface="TimesNewRomanPSMT"/>
              </a:rPr>
              <a:t>έπειτα ζητάει από τους μαθητές να δοκιμάσουν όλοι μαζί, σαν σε</a:t>
            </a:r>
            <a:r>
              <a:rPr lang="en-US" b="0" i="0" dirty="0">
                <a:solidFill>
                  <a:srgbClr val="000000"/>
                </a:solidFill>
                <a:effectLst/>
                <a:latin typeface="TimesNewRomanPSMT"/>
              </a:rPr>
              <a:t> </a:t>
            </a:r>
            <a:r>
              <a:rPr lang="el-GR" b="0" i="0" dirty="0">
                <a:solidFill>
                  <a:srgbClr val="000000"/>
                </a:solidFill>
                <a:effectLst/>
                <a:latin typeface="TimesNewRomanPSMT"/>
              </a:rPr>
              <a:t>χορωδία. Τέλος, πριν οδηγηθούν στην αίθουσα</a:t>
            </a:r>
            <a:r>
              <a:rPr lang="en-US" b="0" i="0" dirty="0">
                <a:solidFill>
                  <a:srgbClr val="000000"/>
                </a:solidFill>
                <a:effectLst/>
                <a:latin typeface="TimesNewRomanPSMT"/>
              </a:rPr>
              <a:t> </a:t>
            </a:r>
            <a:r>
              <a:rPr lang="el-GR" b="0" i="0" dirty="0">
                <a:solidFill>
                  <a:srgbClr val="000000"/>
                </a:solidFill>
                <a:effectLst/>
                <a:latin typeface="TimesNewRomanPSMT"/>
              </a:rPr>
              <a:t>της πληροφορικής,</a:t>
            </a:r>
            <a:r>
              <a:rPr lang="en-US" b="0" i="0" dirty="0">
                <a:solidFill>
                  <a:srgbClr val="000000"/>
                </a:solidFill>
                <a:effectLst/>
                <a:latin typeface="TimesNewRomanPSMT"/>
              </a:rPr>
              <a:t> </a:t>
            </a:r>
            <a:r>
              <a:rPr lang="el-GR" b="0" i="0" dirty="0">
                <a:solidFill>
                  <a:srgbClr val="000000"/>
                </a:solidFill>
                <a:effectLst/>
                <a:latin typeface="TimesNewRomanPSMT"/>
              </a:rPr>
              <a:t>ρωτάει τα παιδιά σε ποιο μουσικό όργανο θα ήθελαν να δοκιμάσουν να</a:t>
            </a:r>
            <a:r>
              <a:rPr lang="en-US" b="0" i="0" dirty="0">
                <a:solidFill>
                  <a:srgbClr val="000000"/>
                </a:solidFill>
                <a:effectLst/>
                <a:latin typeface="TimesNewRomanPSMT"/>
              </a:rPr>
              <a:t> </a:t>
            </a:r>
            <a:r>
              <a:rPr lang="el-GR" b="0" i="0" dirty="0">
                <a:solidFill>
                  <a:srgbClr val="000000"/>
                </a:solidFill>
                <a:effectLst/>
                <a:latin typeface="TimesNewRomanPSMT"/>
              </a:rPr>
              <a:t>παίξουν τις νότες</a:t>
            </a:r>
            <a:r>
              <a:rPr lang="en-US" b="0" i="0" dirty="0">
                <a:solidFill>
                  <a:srgbClr val="000000"/>
                </a:solidFill>
                <a:effectLst/>
                <a:latin typeface="TimesNewRomanPSMT"/>
              </a:rPr>
              <a:t>, </a:t>
            </a:r>
            <a:r>
              <a:rPr lang="el-GR" b="0" i="0" dirty="0">
                <a:solidFill>
                  <a:srgbClr val="000000"/>
                </a:solidFill>
                <a:effectLst/>
                <a:latin typeface="TimesNewRomanPSMT"/>
              </a:rPr>
              <a:t>ελπίζοντας πως η πλειοψηφία θα αναφερθεί στο πιάνο ή την κιθάρα.</a:t>
            </a:r>
            <a:br>
              <a:rPr lang="el-GR" dirty="0"/>
            </a:br>
            <a:endParaRPr lang="el-GR" dirty="0"/>
          </a:p>
        </p:txBody>
      </p:sp>
    </p:spTree>
    <p:extLst>
      <p:ext uri="{BB962C8B-B14F-4D97-AF65-F5344CB8AC3E}">
        <p14:creationId xmlns:p14="http://schemas.microsoft.com/office/powerpoint/2010/main" val="4137799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4F50977-4209-3D1C-4272-D003FF6E4B4F}"/>
              </a:ext>
            </a:extLst>
          </p:cNvPr>
          <p:cNvSpPr>
            <a:spLocks noGrp="1"/>
          </p:cNvSpPr>
          <p:nvPr>
            <p:ph type="title"/>
          </p:nvPr>
        </p:nvSpPr>
        <p:spPr>
          <a:xfrm>
            <a:off x="0" y="79899"/>
            <a:ext cx="6471822" cy="438584"/>
          </a:xfrm>
        </p:spPr>
        <p:txBody>
          <a:bodyPr>
            <a:noAutofit/>
          </a:bodyPr>
          <a:lstStyle/>
          <a:p>
            <a:r>
              <a:rPr lang="el-GR" sz="2000" b="1" dirty="0">
                <a:cs typeface="Aharoni"/>
              </a:rPr>
              <a:t>Δραστηριότητα </a:t>
            </a:r>
            <a:r>
              <a:rPr lang="el-GR" sz="2000" b="1" i="0" dirty="0">
                <a:solidFill>
                  <a:srgbClr val="000000"/>
                </a:solidFill>
                <a:effectLst/>
                <a:latin typeface="TimesNewRomanPS-BoldMT"/>
              </a:rPr>
              <a:t>διδασκαλίας γνωστικού αντικειμένου</a:t>
            </a:r>
            <a:r>
              <a:rPr lang="el-GR" sz="2000" dirty="0"/>
              <a:t> </a:t>
            </a:r>
            <a:br>
              <a:rPr lang="el-GR" sz="2000" dirty="0"/>
            </a:br>
            <a:endParaRPr lang="el-GR" sz="2000" b="1" dirty="0"/>
          </a:p>
        </p:txBody>
      </p:sp>
      <p:sp>
        <p:nvSpPr>
          <p:cNvPr id="5" name="TextBox 4">
            <a:extLst>
              <a:ext uri="{FF2B5EF4-FFF2-40B4-BE49-F238E27FC236}">
                <a16:creationId xmlns:a16="http://schemas.microsoft.com/office/drawing/2014/main" id="{8F72B036-563D-E1A4-CD9C-EC7B88EC0224}"/>
              </a:ext>
            </a:extLst>
          </p:cNvPr>
          <p:cNvSpPr txBox="1"/>
          <p:nvPr/>
        </p:nvSpPr>
        <p:spPr>
          <a:xfrm rot="16200000">
            <a:off x="-1793263" y="2967335"/>
            <a:ext cx="450985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l-GR" dirty="0">
                <a:solidFill>
                  <a:srgbClr val="000000"/>
                </a:solidFill>
                <a:latin typeface="TimesNewRomanPS-BoldMT"/>
              </a:rPr>
              <a:t>(</a:t>
            </a:r>
            <a:r>
              <a:rPr lang="el-GR" b="1" i="0" dirty="0">
                <a:solidFill>
                  <a:srgbClr val="000000"/>
                </a:solidFill>
                <a:effectLst/>
                <a:latin typeface="TimesNewRomanPS-BoldMT"/>
              </a:rPr>
              <a:t>εκτιμώμενη διάρκεια: </a:t>
            </a:r>
            <a:r>
              <a:rPr lang="el-GR" b="0" i="0" dirty="0">
                <a:solidFill>
                  <a:srgbClr val="000000"/>
                </a:solidFill>
                <a:effectLst/>
                <a:latin typeface="TimesNewRomanPSMT"/>
              </a:rPr>
              <a:t>3 διδακτικές ώρες.)</a:t>
            </a:r>
            <a:r>
              <a:rPr lang="el-GR" dirty="0"/>
              <a:t> </a:t>
            </a:r>
            <a:br>
              <a:rPr lang="el-GR" dirty="0"/>
            </a:br>
            <a:br>
              <a:rPr lang="el-GR" b="1" dirty="0">
                <a:ea typeface="+mn-lt"/>
                <a:cs typeface="+mn-lt"/>
              </a:rPr>
            </a:br>
            <a:endParaRPr lang="el-GR" dirty="0">
              <a:ea typeface="+mn-lt"/>
              <a:cs typeface="+mn-lt"/>
            </a:endParaRPr>
          </a:p>
        </p:txBody>
      </p:sp>
      <p:graphicFrame>
        <p:nvGraphicFramePr>
          <p:cNvPr id="6" name="Table 6">
            <a:extLst>
              <a:ext uri="{FF2B5EF4-FFF2-40B4-BE49-F238E27FC236}">
                <a16:creationId xmlns:a16="http://schemas.microsoft.com/office/drawing/2014/main" id="{AB43CFBF-7D49-46A4-8B64-4B4349C7A807}"/>
              </a:ext>
            </a:extLst>
          </p:cNvPr>
          <p:cNvGraphicFramePr>
            <a:graphicFrameLocks noGrp="1"/>
          </p:cNvGraphicFramePr>
          <p:nvPr>
            <p:ph idx="1"/>
            <p:extLst>
              <p:ext uri="{D42A27DB-BD31-4B8C-83A1-F6EECF244321}">
                <p14:modId xmlns:p14="http://schemas.microsoft.com/office/powerpoint/2010/main" val="3812278517"/>
              </p:ext>
            </p:extLst>
          </p:nvPr>
        </p:nvGraphicFramePr>
        <p:xfrm>
          <a:off x="1903228" y="438585"/>
          <a:ext cx="9770612" cy="6419415"/>
        </p:xfrm>
        <a:graphic>
          <a:graphicData uri="http://schemas.openxmlformats.org/drawingml/2006/table">
            <a:tbl>
              <a:tblPr firstRow="1" bandRow="1">
                <a:tableStyleId>{5C22544A-7EE6-4342-B048-85BDC9FD1C3A}</a:tableStyleId>
              </a:tblPr>
              <a:tblGrid>
                <a:gridCol w="6075685">
                  <a:extLst>
                    <a:ext uri="{9D8B030D-6E8A-4147-A177-3AD203B41FA5}">
                      <a16:colId xmlns:a16="http://schemas.microsoft.com/office/drawing/2014/main" val="844624179"/>
                    </a:ext>
                  </a:extLst>
                </a:gridCol>
                <a:gridCol w="3694927">
                  <a:extLst>
                    <a:ext uri="{9D8B030D-6E8A-4147-A177-3AD203B41FA5}">
                      <a16:colId xmlns:a16="http://schemas.microsoft.com/office/drawing/2014/main" val="3139345039"/>
                    </a:ext>
                  </a:extLst>
                </a:gridCol>
              </a:tblGrid>
              <a:tr h="373132">
                <a:tc>
                  <a:txBody>
                    <a:bodyPr/>
                    <a:lstStyle/>
                    <a:p>
                      <a:pPr algn="ctr"/>
                      <a:r>
                        <a:rPr lang="el-GR" dirty="0"/>
                        <a:t>Περιγραφή Δραστηριότητας</a:t>
                      </a:r>
                    </a:p>
                  </a:txBody>
                  <a:tcPr/>
                </a:tc>
                <a:tc>
                  <a:txBody>
                    <a:bodyPr/>
                    <a:lstStyle/>
                    <a:p>
                      <a:pPr algn="ctr"/>
                      <a:r>
                        <a:rPr lang="el-GR" dirty="0"/>
                        <a:t>Διάρκεια</a:t>
                      </a:r>
                    </a:p>
                  </a:txBody>
                  <a:tcPr/>
                </a:tc>
                <a:extLst>
                  <a:ext uri="{0D108BD9-81ED-4DB2-BD59-A6C34878D82A}">
                    <a16:rowId xmlns:a16="http://schemas.microsoft.com/office/drawing/2014/main" val="2368545871"/>
                  </a:ext>
                </a:extLst>
              </a:tr>
              <a:tr h="746264">
                <a:tc>
                  <a:txBody>
                    <a:bodyPr/>
                    <a:lstStyle/>
                    <a:p>
                      <a:r>
                        <a:rPr lang="el-GR" sz="1400" b="0" i="0" dirty="0">
                          <a:solidFill>
                            <a:srgbClr val="000000"/>
                          </a:solidFill>
                          <a:effectLst/>
                          <a:latin typeface="TimesNewRomanPSMT"/>
                        </a:rPr>
                        <a:t>Έχοντας ανοίξει όλα τα παιδιά το </a:t>
                      </a:r>
                      <a:r>
                        <a:rPr lang="el-GR" sz="1400" b="0" i="0" dirty="0" err="1">
                          <a:solidFill>
                            <a:srgbClr val="000000"/>
                          </a:solidFill>
                          <a:effectLst/>
                          <a:latin typeface="TimesNewRomanPSMT"/>
                        </a:rPr>
                        <a:t>project</a:t>
                      </a:r>
                      <a:r>
                        <a:rPr lang="el-GR" sz="1400" b="0" i="0" dirty="0">
                          <a:solidFill>
                            <a:srgbClr val="000000"/>
                          </a:solidFill>
                          <a:effectLst/>
                          <a:latin typeface="TimesNewRomanPSMT"/>
                        </a:rPr>
                        <a:t>, εμφανίζεται η αρχική οθόνη του προγράμματος. Τα προτρέπουμε να κλικάρουν στο κουμπί των οδηγιών προκειμένου να μάθουν την λειτουργία του προγράμματος.</a:t>
                      </a:r>
                      <a:endParaRPr lang="el-GR" sz="1400" dirty="0">
                        <a:effectLst/>
                      </a:endParaRPr>
                    </a:p>
                  </a:txBody>
                  <a:tcPr anchor="ctr"/>
                </a:tc>
                <a:tc>
                  <a:txBody>
                    <a:bodyPr/>
                    <a:lstStyle/>
                    <a:p>
                      <a:pPr algn="ctr"/>
                      <a:r>
                        <a:rPr lang="el-GR" sz="1600" dirty="0"/>
                        <a:t>3 λεπτά</a:t>
                      </a:r>
                    </a:p>
                  </a:txBody>
                  <a:tcPr/>
                </a:tc>
                <a:extLst>
                  <a:ext uri="{0D108BD9-81ED-4DB2-BD59-A6C34878D82A}">
                    <a16:rowId xmlns:a16="http://schemas.microsoft.com/office/drawing/2014/main" val="1832113859"/>
                  </a:ext>
                </a:extLst>
              </a:tr>
              <a:tr h="938860">
                <a:tc>
                  <a:txBody>
                    <a:bodyPr/>
                    <a:lstStyle/>
                    <a:p>
                      <a:r>
                        <a:rPr lang="el-GR" sz="1400" b="0" i="0" dirty="0">
                          <a:solidFill>
                            <a:srgbClr val="000000"/>
                          </a:solidFill>
                          <a:effectLst/>
                          <a:latin typeface="TimesNewRomanPSMT"/>
                        </a:rPr>
                        <a:t>Αφού κάνουν κλικ, θα εμφανιστεί το παράθυρο των οδηγιών. Ο καθηγητής διαβάζει κι αυτός τις οδηγίες φωναχτά και στη συνέχεια ζητάει από τους μαθητές να κλείσουν το παράθυρο των οδηγιών και κλικάρουν στο κουμπί του πιάνου.</a:t>
                      </a:r>
                      <a:endParaRPr lang="el-GR" sz="1400" dirty="0">
                        <a:effectLst/>
                      </a:endParaRPr>
                    </a:p>
                  </a:txBody>
                  <a:tcPr anchor="ctr"/>
                </a:tc>
                <a:tc>
                  <a:txBody>
                    <a:bodyPr/>
                    <a:lstStyle/>
                    <a:p>
                      <a:pPr algn="ctr"/>
                      <a:r>
                        <a:rPr lang="el-GR" sz="1600" dirty="0"/>
                        <a:t>4 λεπτά</a:t>
                      </a:r>
                    </a:p>
                  </a:txBody>
                  <a:tcPr/>
                </a:tc>
                <a:extLst>
                  <a:ext uri="{0D108BD9-81ED-4DB2-BD59-A6C34878D82A}">
                    <a16:rowId xmlns:a16="http://schemas.microsoft.com/office/drawing/2014/main" val="3331959934"/>
                  </a:ext>
                </a:extLst>
              </a:tr>
              <a:tr h="2210865">
                <a:tc>
                  <a:txBody>
                    <a:bodyPr/>
                    <a:lstStyle/>
                    <a:p>
                      <a:r>
                        <a:rPr lang="el-GR" sz="1400" b="0" i="0" dirty="0">
                          <a:solidFill>
                            <a:srgbClr val="000000"/>
                          </a:solidFill>
                          <a:effectLst/>
                          <a:latin typeface="TimesNewRomanPSMT"/>
                        </a:rPr>
                        <a:t>Κάνοντας κλικ στο κουμπί του πιάνου, εμφανίζεται ένα εικονικό πιάνο. Όπως τα παιδιά διάβασαν στις οδηγίες, προκειμένου να παίξουν, θα πρέπει να χρησιμοποιήσουν πλήκτρα από το πληκτρολόγιο. Ο δάσκαλος πρώτα εξηγεί την σειρά των νοτών στο πιάνο, έπειτα ζητάει από όλους τους μαθητές κάθε φορά να πατάνε ταυτόχρονα την ίδια νότα ώστε να την ακούσουν και στο τέλος τους δίνει μία ευκαιρία να δημιουργήσουν ένα μουσικό χάος πατώντας όλοι οι μαθητές όποια πλήκτρα θέλουν. Αφού περάσουν μερικά λεπτά, ο εκπαιδευτικός τους προτρέπει να πατήσουν την πράσινη σημαία κι έπειτα να κλικάρουν στο κουμπί της κιθάρας.</a:t>
                      </a:r>
                      <a:endParaRPr lang="el-GR" sz="1400" dirty="0">
                        <a:effectLst/>
                      </a:endParaRPr>
                    </a:p>
                  </a:txBody>
                  <a:tcPr anchor="ctr"/>
                </a:tc>
                <a:tc>
                  <a:txBody>
                    <a:bodyPr/>
                    <a:lstStyle/>
                    <a:p>
                      <a:pPr algn="ctr"/>
                      <a:r>
                        <a:rPr lang="el-GR" sz="1600" dirty="0"/>
                        <a:t>15 λεπτά</a:t>
                      </a:r>
                    </a:p>
                  </a:txBody>
                  <a:tcPr/>
                </a:tc>
                <a:extLst>
                  <a:ext uri="{0D108BD9-81ED-4DB2-BD59-A6C34878D82A}">
                    <a16:rowId xmlns:a16="http://schemas.microsoft.com/office/drawing/2014/main" val="2166466309"/>
                  </a:ext>
                </a:extLst>
              </a:tr>
              <a:tr h="1272005">
                <a:tc>
                  <a:txBody>
                    <a:bodyPr/>
                    <a:lstStyle/>
                    <a:p>
                      <a:r>
                        <a:rPr lang="el-GR" sz="1300" b="0" i="0" dirty="0">
                          <a:solidFill>
                            <a:srgbClr val="000000"/>
                          </a:solidFill>
                          <a:effectLst/>
                          <a:latin typeface="TimesNewRomanPSMT"/>
                        </a:rPr>
                        <a:t>Μόλις κάνουν κλικ στο κουμπί της κιθάρας, εμφανίζεται η </a:t>
                      </a:r>
                      <a:r>
                        <a:rPr lang="el-GR" sz="1300" b="0" i="0" dirty="0" err="1">
                          <a:solidFill>
                            <a:srgbClr val="000000"/>
                          </a:solidFill>
                          <a:effectLst/>
                          <a:latin typeface="TimesNewRomanPSMT"/>
                        </a:rPr>
                        <a:t>Avery</a:t>
                      </a:r>
                      <a:r>
                        <a:rPr lang="el-GR" sz="1300" b="0" i="0" dirty="0">
                          <a:solidFill>
                            <a:srgbClr val="000000"/>
                          </a:solidFill>
                          <a:effectLst/>
                          <a:latin typeface="TimesNewRomanPSMT"/>
                        </a:rPr>
                        <a:t> που μιλάει στα παιδιά για την κιθάρα. Αναφέρεται στον αριθμό των χορδών, στον τρόπο μέτρησής τους και στο ποια νότα αντιστοιχεί στην κάθε χορδή της κιθάρας. Μετά από την επίδειξη της κάθε χορδής, υποδεικνύει στα παιδιά να κάνουν κλικ πάνω της ώστε να ακούσουν τον ήχο της νότας που αντιστοιχεί στην χορδή.</a:t>
                      </a:r>
                      <a:endParaRPr lang="el-GR" dirty="0">
                        <a:effectLst/>
                      </a:endParaRPr>
                    </a:p>
                  </a:txBody>
                  <a:tcPr anchor="ctr"/>
                </a:tc>
                <a:tc>
                  <a:txBody>
                    <a:bodyPr/>
                    <a:lstStyle/>
                    <a:p>
                      <a:pPr algn="ctr"/>
                      <a:r>
                        <a:rPr lang="el-GR" sz="1600" dirty="0"/>
                        <a:t>15 λεπτά</a:t>
                      </a:r>
                    </a:p>
                  </a:txBody>
                  <a:tcPr/>
                </a:tc>
                <a:extLst>
                  <a:ext uri="{0D108BD9-81ED-4DB2-BD59-A6C34878D82A}">
                    <a16:rowId xmlns:a16="http://schemas.microsoft.com/office/drawing/2014/main" val="1184897350"/>
                  </a:ext>
                </a:extLst>
              </a:tr>
              <a:tr h="878289">
                <a:tc>
                  <a:txBody>
                    <a:bodyPr/>
                    <a:lstStyle/>
                    <a:p>
                      <a:r>
                        <a:rPr lang="el-GR" sz="1300" b="0" i="0" dirty="0">
                          <a:solidFill>
                            <a:srgbClr val="000000"/>
                          </a:solidFill>
                          <a:effectLst/>
                          <a:latin typeface="TimesNewRomanPSMT"/>
                        </a:rPr>
                        <a:t>Έχοντας τα παιδιά δει και τα δύο μουσικά όργανα, ο δάσκαλος ζητάει από αυτά να κλείσουν το Scratch, να απενεργοποιήσουν τους υπολογιστές τους, να βάλουν στη θέση τους τις καρέκλες και να βγούνε στο προαύλιο για διάλειμμα.</a:t>
                      </a:r>
                      <a:endParaRPr lang="el-GR" dirty="0">
                        <a:effectLst/>
                      </a:endParaRPr>
                    </a:p>
                  </a:txBody>
                  <a:tcPr anchor="ctr"/>
                </a:tc>
                <a:tc>
                  <a:txBody>
                    <a:bodyPr/>
                    <a:lstStyle/>
                    <a:p>
                      <a:pPr algn="ctr"/>
                      <a:r>
                        <a:rPr lang="el-GR" sz="1600" dirty="0"/>
                        <a:t>3-5 λεπτά</a:t>
                      </a:r>
                    </a:p>
                  </a:txBody>
                  <a:tcPr/>
                </a:tc>
                <a:extLst>
                  <a:ext uri="{0D108BD9-81ED-4DB2-BD59-A6C34878D82A}">
                    <a16:rowId xmlns:a16="http://schemas.microsoft.com/office/drawing/2014/main" val="3376320838"/>
                  </a:ext>
                </a:extLst>
              </a:tr>
            </a:tbl>
          </a:graphicData>
        </a:graphic>
      </p:graphicFrame>
    </p:spTree>
    <p:extLst>
      <p:ext uri="{BB962C8B-B14F-4D97-AF65-F5344CB8AC3E}">
        <p14:creationId xmlns:p14="http://schemas.microsoft.com/office/powerpoint/2010/main" val="463199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AFD5B0-0F70-4080-9EE3-5E1EC709BF31}"/>
              </a:ext>
            </a:extLst>
          </p:cNvPr>
          <p:cNvSpPr>
            <a:spLocks noGrp="1"/>
          </p:cNvSpPr>
          <p:nvPr>
            <p:ph idx="1"/>
          </p:nvPr>
        </p:nvSpPr>
        <p:spPr>
          <a:xfrm>
            <a:off x="838200" y="248576"/>
            <a:ext cx="10515600" cy="5436792"/>
          </a:xfrm>
        </p:spPr>
        <p:txBody>
          <a:bodyPr/>
          <a:lstStyle/>
          <a:p>
            <a:pPr marL="0" indent="0">
              <a:buNone/>
            </a:pPr>
            <a:r>
              <a:rPr lang="el-GR" dirty="0"/>
              <a:t>Σύνδεσμος προς το παιχνίδι: </a:t>
            </a:r>
            <a:r>
              <a:rPr lang="en-US" dirty="0">
                <a:hlinkClick r:id="rId2"/>
              </a:rPr>
              <a:t>https://scratch.mit.edu/projects/758129591</a:t>
            </a:r>
            <a:endParaRPr lang="el-GR" dirty="0"/>
          </a:p>
          <a:p>
            <a:pPr marL="0" indent="0">
              <a:buNone/>
            </a:pPr>
            <a:endParaRPr lang="el-GR" dirty="0"/>
          </a:p>
          <a:p>
            <a:pPr marL="0" indent="0">
              <a:buNone/>
            </a:pPr>
            <a:endParaRPr lang="el-GR" dirty="0"/>
          </a:p>
        </p:txBody>
      </p:sp>
      <p:pic>
        <p:nvPicPr>
          <p:cNvPr id="7" name="Picture 6">
            <a:extLst>
              <a:ext uri="{FF2B5EF4-FFF2-40B4-BE49-F238E27FC236}">
                <a16:creationId xmlns:a16="http://schemas.microsoft.com/office/drawing/2014/main" id="{841E892C-EFD7-4178-9B0C-E01C0F6F49ED}"/>
              </a:ext>
            </a:extLst>
          </p:cNvPr>
          <p:cNvPicPr>
            <a:picLocks noChangeAspect="1"/>
          </p:cNvPicPr>
          <p:nvPr/>
        </p:nvPicPr>
        <p:blipFill>
          <a:blip r:embed="rId3"/>
          <a:stretch>
            <a:fillRect/>
          </a:stretch>
        </p:blipFill>
        <p:spPr>
          <a:xfrm>
            <a:off x="3080738" y="1580223"/>
            <a:ext cx="6030524" cy="4497063"/>
          </a:xfrm>
          <a:prstGeom prst="rect">
            <a:avLst/>
          </a:prstGeom>
        </p:spPr>
      </p:pic>
      <p:sp>
        <p:nvSpPr>
          <p:cNvPr id="8" name="TextBox 7">
            <a:extLst>
              <a:ext uri="{FF2B5EF4-FFF2-40B4-BE49-F238E27FC236}">
                <a16:creationId xmlns:a16="http://schemas.microsoft.com/office/drawing/2014/main" id="{8B4E9CFB-0DF2-493B-A27F-7A439E98EB81}"/>
              </a:ext>
            </a:extLst>
          </p:cNvPr>
          <p:cNvSpPr txBox="1"/>
          <p:nvPr/>
        </p:nvSpPr>
        <p:spPr>
          <a:xfrm>
            <a:off x="4947470" y="6393389"/>
            <a:ext cx="2900730" cy="307777"/>
          </a:xfrm>
          <a:prstGeom prst="rect">
            <a:avLst/>
          </a:prstGeom>
          <a:noFill/>
        </p:spPr>
        <p:txBody>
          <a:bodyPr wrap="none" rtlCol="0">
            <a:spAutoFit/>
          </a:bodyPr>
          <a:lstStyle/>
          <a:p>
            <a:r>
              <a:rPr lang="el-GR" sz="1400" dirty="0"/>
              <a:t>(Η αρχική οθόνη του προγράμματος)</a:t>
            </a:r>
          </a:p>
        </p:txBody>
      </p:sp>
    </p:spTree>
    <p:extLst>
      <p:ext uri="{BB962C8B-B14F-4D97-AF65-F5344CB8AC3E}">
        <p14:creationId xmlns:p14="http://schemas.microsoft.com/office/powerpoint/2010/main" val="3541788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E37123C-508E-40CF-89D4-A8F8B2326574}"/>
              </a:ext>
            </a:extLst>
          </p:cNvPr>
          <p:cNvPicPr>
            <a:picLocks noGrp="1" noChangeAspect="1"/>
          </p:cNvPicPr>
          <p:nvPr>
            <p:ph idx="1"/>
          </p:nvPr>
        </p:nvPicPr>
        <p:blipFill>
          <a:blip r:embed="rId2"/>
          <a:stretch>
            <a:fillRect/>
          </a:stretch>
        </p:blipFill>
        <p:spPr>
          <a:xfrm>
            <a:off x="134190" y="1281966"/>
            <a:ext cx="5585431" cy="4187812"/>
          </a:xfrm>
        </p:spPr>
      </p:pic>
      <p:pic>
        <p:nvPicPr>
          <p:cNvPr id="7" name="Picture 6">
            <a:extLst>
              <a:ext uri="{FF2B5EF4-FFF2-40B4-BE49-F238E27FC236}">
                <a16:creationId xmlns:a16="http://schemas.microsoft.com/office/drawing/2014/main" id="{E35A2FC0-1FCE-4D71-BCD2-785F94CC2F37}"/>
              </a:ext>
            </a:extLst>
          </p:cNvPr>
          <p:cNvPicPr>
            <a:picLocks noChangeAspect="1"/>
          </p:cNvPicPr>
          <p:nvPr/>
        </p:nvPicPr>
        <p:blipFill>
          <a:blip r:embed="rId3"/>
          <a:stretch>
            <a:fillRect/>
          </a:stretch>
        </p:blipFill>
        <p:spPr>
          <a:xfrm>
            <a:off x="6472380" y="1269507"/>
            <a:ext cx="5619007" cy="4200271"/>
          </a:xfrm>
          <a:prstGeom prst="rect">
            <a:avLst/>
          </a:prstGeom>
        </p:spPr>
      </p:pic>
      <p:sp>
        <p:nvSpPr>
          <p:cNvPr id="8" name="TextBox 7">
            <a:extLst>
              <a:ext uri="{FF2B5EF4-FFF2-40B4-BE49-F238E27FC236}">
                <a16:creationId xmlns:a16="http://schemas.microsoft.com/office/drawing/2014/main" id="{D3480CD7-07D2-49D9-80AF-6D7CD41DA208}"/>
              </a:ext>
            </a:extLst>
          </p:cNvPr>
          <p:cNvSpPr txBox="1"/>
          <p:nvPr/>
        </p:nvSpPr>
        <p:spPr>
          <a:xfrm>
            <a:off x="4092855" y="6161103"/>
            <a:ext cx="4006290" cy="307777"/>
          </a:xfrm>
          <a:prstGeom prst="rect">
            <a:avLst/>
          </a:prstGeom>
          <a:noFill/>
        </p:spPr>
        <p:txBody>
          <a:bodyPr wrap="none" rtlCol="0">
            <a:spAutoFit/>
          </a:bodyPr>
          <a:lstStyle/>
          <a:p>
            <a:r>
              <a:rPr lang="el-GR" sz="1400" dirty="0"/>
              <a:t>(Κλικ στο κουμπί των οδηγιών και εμφάνιση αυτών)</a:t>
            </a:r>
          </a:p>
        </p:txBody>
      </p:sp>
    </p:spTree>
    <p:extLst>
      <p:ext uri="{BB962C8B-B14F-4D97-AF65-F5344CB8AC3E}">
        <p14:creationId xmlns:p14="http://schemas.microsoft.com/office/powerpoint/2010/main" val="2768184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2356B20-12E5-4624-B0DF-7898BE16BC3C}"/>
              </a:ext>
            </a:extLst>
          </p:cNvPr>
          <p:cNvPicPr>
            <a:picLocks noGrp="1" noChangeAspect="1"/>
          </p:cNvPicPr>
          <p:nvPr>
            <p:ph idx="1"/>
          </p:nvPr>
        </p:nvPicPr>
        <p:blipFill>
          <a:blip r:embed="rId2"/>
          <a:stretch>
            <a:fillRect/>
          </a:stretch>
        </p:blipFill>
        <p:spPr>
          <a:xfrm>
            <a:off x="168672" y="1294891"/>
            <a:ext cx="5553013" cy="4155997"/>
          </a:xfrm>
        </p:spPr>
      </p:pic>
      <p:pic>
        <p:nvPicPr>
          <p:cNvPr id="7" name="Picture 6">
            <a:extLst>
              <a:ext uri="{FF2B5EF4-FFF2-40B4-BE49-F238E27FC236}">
                <a16:creationId xmlns:a16="http://schemas.microsoft.com/office/drawing/2014/main" id="{5FA5905F-94FB-4889-89A8-AA3BBB70DD59}"/>
              </a:ext>
            </a:extLst>
          </p:cNvPr>
          <p:cNvPicPr>
            <a:picLocks noChangeAspect="1"/>
          </p:cNvPicPr>
          <p:nvPr/>
        </p:nvPicPr>
        <p:blipFill>
          <a:blip r:embed="rId3"/>
          <a:stretch>
            <a:fillRect/>
          </a:stretch>
        </p:blipFill>
        <p:spPr>
          <a:xfrm>
            <a:off x="6470316" y="1294891"/>
            <a:ext cx="5553012" cy="4149724"/>
          </a:xfrm>
          <a:prstGeom prst="rect">
            <a:avLst/>
          </a:prstGeom>
        </p:spPr>
      </p:pic>
      <p:sp>
        <p:nvSpPr>
          <p:cNvPr id="8" name="TextBox 7">
            <a:extLst>
              <a:ext uri="{FF2B5EF4-FFF2-40B4-BE49-F238E27FC236}">
                <a16:creationId xmlns:a16="http://schemas.microsoft.com/office/drawing/2014/main" id="{5E01084B-58F8-4539-A693-E8418D78B9F9}"/>
              </a:ext>
            </a:extLst>
          </p:cNvPr>
          <p:cNvSpPr txBox="1"/>
          <p:nvPr/>
        </p:nvSpPr>
        <p:spPr>
          <a:xfrm>
            <a:off x="5215149" y="6143348"/>
            <a:ext cx="1761701" cy="307777"/>
          </a:xfrm>
          <a:prstGeom prst="rect">
            <a:avLst/>
          </a:prstGeom>
          <a:noFill/>
        </p:spPr>
        <p:txBody>
          <a:bodyPr wrap="none" rtlCol="0">
            <a:spAutoFit/>
          </a:bodyPr>
          <a:lstStyle/>
          <a:p>
            <a:r>
              <a:rPr lang="el-GR" sz="1400" dirty="0"/>
              <a:t>(Επιλογή του πιάνου)</a:t>
            </a:r>
          </a:p>
        </p:txBody>
      </p:sp>
    </p:spTree>
    <p:extLst>
      <p:ext uri="{BB962C8B-B14F-4D97-AF65-F5344CB8AC3E}">
        <p14:creationId xmlns:p14="http://schemas.microsoft.com/office/powerpoint/2010/main" val="3499469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3353E9D-B71D-4E5D-BC5A-9959910F95B2}"/>
              </a:ext>
            </a:extLst>
          </p:cNvPr>
          <p:cNvPicPr>
            <a:picLocks noChangeAspect="1"/>
          </p:cNvPicPr>
          <p:nvPr/>
        </p:nvPicPr>
        <p:blipFill>
          <a:blip r:embed="rId2"/>
          <a:stretch>
            <a:fillRect/>
          </a:stretch>
        </p:blipFill>
        <p:spPr>
          <a:xfrm>
            <a:off x="234781" y="1294891"/>
            <a:ext cx="5482438" cy="4068045"/>
          </a:xfrm>
          <a:prstGeom prst="rect">
            <a:avLst/>
          </a:prstGeom>
        </p:spPr>
      </p:pic>
      <p:pic>
        <p:nvPicPr>
          <p:cNvPr id="14" name="Picture 13">
            <a:extLst>
              <a:ext uri="{FF2B5EF4-FFF2-40B4-BE49-F238E27FC236}">
                <a16:creationId xmlns:a16="http://schemas.microsoft.com/office/drawing/2014/main" id="{1F8168FA-54B2-411E-AE5C-5AA228EC1281}"/>
              </a:ext>
            </a:extLst>
          </p:cNvPr>
          <p:cNvPicPr>
            <a:picLocks noChangeAspect="1"/>
          </p:cNvPicPr>
          <p:nvPr/>
        </p:nvPicPr>
        <p:blipFill>
          <a:blip r:embed="rId3"/>
          <a:stretch>
            <a:fillRect/>
          </a:stretch>
        </p:blipFill>
        <p:spPr>
          <a:xfrm>
            <a:off x="6572437" y="1294890"/>
            <a:ext cx="5478665" cy="4068045"/>
          </a:xfrm>
          <a:prstGeom prst="rect">
            <a:avLst/>
          </a:prstGeom>
        </p:spPr>
      </p:pic>
      <p:sp>
        <p:nvSpPr>
          <p:cNvPr id="15" name="TextBox 14">
            <a:extLst>
              <a:ext uri="{FF2B5EF4-FFF2-40B4-BE49-F238E27FC236}">
                <a16:creationId xmlns:a16="http://schemas.microsoft.com/office/drawing/2014/main" id="{E2F53B82-0014-4A9C-8199-0807126325F7}"/>
              </a:ext>
            </a:extLst>
          </p:cNvPr>
          <p:cNvSpPr txBox="1"/>
          <p:nvPr/>
        </p:nvSpPr>
        <p:spPr>
          <a:xfrm>
            <a:off x="5191073" y="6152226"/>
            <a:ext cx="1809854" cy="307777"/>
          </a:xfrm>
          <a:prstGeom prst="rect">
            <a:avLst/>
          </a:prstGeom>
          <a:noFill/>
        </p:spPr>
        <p:txBody>
          <a:bodyPr wrap="none" rtlCol="0">
            <a:spAutoFit/>
          </a:bodyPr>
          <a:lstStyle/>
          <a:p>
            <a:r>
              <a:rPr lang="el-GR" sz="1400" dirty="0"/>
              <a:t>(Επιλογή της κιθάρας)</a:t>
            </a:r>
          </a:p>
        </p:txBody>
      </p:sp>
    </p:spTree>
    <p:extLst>
      <p:ext uri="{BB962C8B-B14F-4D97-AF65-F5344CB8AC3E}">
        <p14:creationId xmlns:p14="http://schemas.microsoft.com/office/powerpoint/2010/main" val="747778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4178F5-89A3-426E-9F4B-8A2A9193D021}"/>
              </a:ext>
            </a:extLst>
          </p:cNvPr>
          <p:cNvPicPr>
            <a:picLocks noChangeAspect="1"/>
          </p:cNvPicPr>
          <p:nvPr/>
        </p:nvPicPr>
        <p:blipFill rotWithShape="1">
          <a:blip r:embed="rId2"/>
          <a:srcRect l="1" r="1492"/>
          <a:stretch/>
        </p:blipFill>
        <p:spPr>
          <a:xfrm>
            <a:off x="0" y="0"/>
            <a:ext cx="3516944" cy="2661321"/>
          </a:xfrm>
          <a:prstGeom prst="rect">
            <a:avLst/>
          </a:prstGeom>
        </p:spPr>
      </p:pic>
      <p:pic>
        <p:nvPicPr>
          <p:cNvPr id="7" name="Picture 6">
            <a:extLst>
              <a:ext uri="{FF2B5EF4-FFF2-40B4-BE49-F238E27FC236}">
                <a16:creationId xmlns:a16="http://schemas.microsoft.com/office/drawing/2014/main" id="{E901511A-A354-478A-A056-CFA4D8B63E11}"/>
              </a:ext>
            </a:extLst>
          </p:cNvPr>
          <p:cNvPicPr>
            <a:picLocks noChangeAspect="1"/>
          </p:cNvPicPr>
          <p:nvPr/>
        </p:nvPicPr>
        <p:blipFill>
          <a:blip r:embed="rId3"/>
          <a:stretch>
            <a:fillRect/>
          </a:stretch>
        </p:blipFill>
        <p:spPr>
          <a:xfrm>
            <a:off x="4310747" y="0"/>
            <a:ext cx="3570505" cy="2661321"/>
          </a:xfrm>
          <a:prstGeom prst="rect">
            <a:avLst/>
          </a:prstGeom>
        </p:spPr>
      </p:pic>
      <p:pic>
        <p:nvPicPr>
          <p:cNvPr id="9" name="Picture 8">
            <a:extLst>
              <a:ext uri="{FF2B5EF4-FFF2-40B4-BE49-F238E27FC236}">
                <a16:creationId xmlns:a16="http://schemas.microsoft.com/office/drawing/2014/main" id="{700ECC28-3FED-4C2E-9972-EDFF5793A22A}"/>
              </a:ext>
            </a:extLst>
          </p:cNvPr>
          <p:cNvPicPr>
            <a:picLocks noChangeAspect="1"/>
          </p:cNvPicPr>
          <p:nvPr/>
        </p:nvPicPr>
        <p:blipFill>
          <a:blip r:embed="rId4"/>
          <a:stretch>
            <a:fillRect/>
          </a:stretch>
        </p:blipFill>
        <p:spPr>
          <a:xfrm>
            <a:off x="8614735" y="0"/>
            <a:ext cx="3570505" cy="2667342"/>
          </a:xfrm>
          <a:prstGeom prst="rect">
            <a:avLst/>
          </a:prstGeom>
        </p:spPr>
      </p:pic>
      <p:pic>
        <p:nvPicPr>
          <p:cNvPr id="11" name="Picture 10">
            <a:extLst>
              <a:ext uri="{FF2B5EF4-FFF2-40B4-BE49-F238E27FC236}">
                <a16:creationId xmlns:a16="http://schemas.microsoft.com/office/drawing/2014/main" id="{99B903BC-31A1-46FB-A738-5BFA57E03679}"/>
              </a:ext>
            </a:extLst>
          </p:cNvPr>
          <p:cNvPicPr>
            <a:picLocks noChangeAspect="1"/>
          </p:cNvPicPr>
          <p:nvPr/>
        </p:nvPicPr>
        <p:blipFill>
          <a:blip r:embed="rId5"/>
          <a:stretch>
            <a:fillRect/>
          </a:stretch>
        </p:blipFill>
        <p:spPr>
          <a:xfrm>
            <a:off x="2525494" y="3897351"/>
            <a:ext cx="3570505" cy="2671888"/>
          </a:xfrm>
          <a:prstGeom prst="rect">
            <a:avLst/>
          </a:prstGeom>
        </p:spPr>
      </p:pic>
      <p:pic>
        <p:nvPicPr>
          <p:cNvPr id="13" name="Picture 12">
            <a:extLst>
              <a:ext uri="{FF2B5EF4-FFF2-40B4-BE49-F238E27FC236}">
                <a16:creationId xmlns:a16="http://schemas.microsoft.com/office/drawing/2014/main" id="{A6ED7C85-CD27-4C1A-A952-CE3EF688E177}"/>
              </a:ext>
            </a:extLst>
          </p:cNvPr>
          <p:cNvPicPr>
            <a:picLocks noChangeAspect="1"/>
          </p:cNvPicPr>
          <p:nvPr/>
        </p:nvPicPr>
        <p:blipFill>
          <a:blip r:embed="rId4"/>
          <a:stretch>
            <a:fillRect/>
          </a:stretch>
        </p:blipFill>
        <p:spPr>
          <a:xfrm>
            <a:off x="7081552" y="3897351"/>
            <a:ext cx="3570506" cy="2667343"/>
          </a:xfrm>
          <a:prstGeom prst="rect">
            <a:avLst/>
          </a:prstGeom>
        </p:spPr>
      </p:pic>
    </p:spTree>
    <p:extLst>
      <p:ext uri="{BB962C8B-B14F-4D97-AF65-F5344CB8AC3E}">
        <p14:creationId xmlns:p14="http://schemas.microsoft.com/office/powerpoint/2010/main" val="3817333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03916F5-8627-4A8B-86AB-321DA0846AE9}"/>
              </a:ext>
            </a:extLst>
          </p:cNvPr>
          <p:cNvPicPr>
            <a:picLocks noChangeAspect="1"/>
          </p:cNvPicPr>
          <p:nvPr/>
        </p:nvPicPr>
        <p:blipFill>
          <a:blip r:embed="rId2"/>
          <a:stretch>
            <a:fillRect/>
          </a:stretch>
        </p:blipFill>
        <p:spPr>
          <a:xfrm>
            <a:off x="2206516" y="355107"/>
            <a:ext cx="3764132" cy="2797836"/>
          </a:xfrm>
          <a:prstGeom prst="rect">
            <a:avLst/>
          </a:prstGeom>
        </p:spPr>
      </p:pic>
      <p:pic>
        <p:nvPicPr>
          <p:cNvPr id="7" name="Picture 6">
            <a:extLst>
              <a:ext uri="{FF2B5EF4-FFF2-40B4-BE49-F238E27FC236}">
                <a16:creationId xmlns:a16="http://schemas.microsoft.com/office/drawing/2014/main" id="{EA1ECBA3-976D-462D-8284-CAC67376FE7A}"/>
              </a:ext>
            </a:extLst>
          </p:cNvPr>
          <p:cNvPicPr>
            <a:picLocks noChangeAspect="1"/>
          </p:cNvPicPr>
          <p:nvPr/>
        </p:nvPicPr>
        <p:blipFill>
          <a:blip r:embed="rId3"/>
          <a:stretch>
            <a:fillRect/>
          </a:stretch>
        </p:blipFill>
        <p:spPr>
          <a:xfrm>
            <a:off x="6654228" y="274400"/>
            <a:ext cx="3764133" cy="2811991"/>
          </a:xfrm>
          <a:prstGeom prst="rect">
            <a:avLst/>
          </a:prstGeom>
        </p:spPr>
      </p:pic>
      <p:pic>
        <p:nvPicPr>
          <p:cNvPr id="9" name="Picture 8">
            <a:extLst>
              <a:ext uri="{FF2B5EF4-FFF2-40B4-BE49-F238E27FC236}">
                <a16:creationId xmlns:a16="http://schemas.microsoft.com/office/drawing/2014/main" id="{761B3376-4294-471F-ABD1-D91749F855A9}"/>
              </a:ext>
            </a:extLst>
          </p:cNvPr>
          <p:cNvPicPr>
            <a:picLocks noChangeAspect="1"/>
          </p:cNvPicPr>
          <p:nvPr/>
        </p:nvPicPr>
        <p:blipFill>
          <a:blip r:embed="rId4"/>
          <a:stretch>
            <a:fillRect/>
          </a:stretch>
        </p:blipFill>
        <p:spPr>
          <a:xfrm>
            <a:off x="2206515" y="3907132"/>
            <a:ext cx="3764133" cy="2811991"/>
          </a:xfrm>
          <a:prstGeom prst="rect">
            <a:avLst/>
          </a:prstGeom>
        </p:spPr>
      </p:pic>
      <p:pic>
        <p:nvPicPr>
          <p:cNvPr id="11" name="Picture 10">
            <a:extLst>
              <a:ext uri="{FF2B5EF4-FFF2-40B4-BE49-F238E27FC236}">
                <a16:creationId xmlns:a16="http://schemas.microsoft.com/office/drawing/2014/main" id="{27064D82-AE9A-4019-9146-EDCF355AF226}"/>
              </a:ext>
            </a:extLst>
          </p:cNvPr>
          <p:cNvPicPr>
            <a:picLocks noChangeAspect="1"/>
          </p:cNvPicPr>
          <p:nvPr/>
        </p:nvPicPr>
        <p:blipFill>
          <a:blip r:embed="rId3"/>
          <a:stretch>
            <a:fillRect/>
          </a:stretch>
        </p:blipFill>
        <p:spPr>
          <a:xfrm>
            <a:off x="6532369" y="3725061"/>
            <a:ext cx="4007852" cy="2994061"/>
          </a:xfrm>
          <a:prstGeom prst="rect">
            <a:avLst/>
          </a:prstGeom>
        </p:spPr>
      </p:pic>
    </p:spTree>
    <p:extLst>
      <p:ext uri="{BB962C8B-B14F-4D97-AF65-F5344CB8AC3E}">
        <p14:creationId xmlns:p14="http://schemas.microsoft.com/office/powerpoint/2010/main" val="4173174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A1ECBA3-976D-462D-8284-CAC67376FE7A}"/>
              </a:ext>
            </a:extLst>
          </p:cNvPr>
          <p:cNvPicPr>
            <a:picLocks noChangeAspect="1"/>
          </p:cNvPicPr>
          <p:nvPr/>
        </p:nvPicPr>
        <p:blipFill>
          <a:blip r:embed="rId2"/>
          <a:stretch>
            <a:fillRect/>
          </a:stretch>
        </p:blipFill>
        <p:spPr>
          <a:xfrm>
            <a:off x="6654228" y="274400"/>
            <a:ext cx="3764133" cy="2811991"/>
          </a:xfrm>
          <a:prstGeom prst="rect">
            <a:avLst/>
          </a:prstGeom>
        </p:spPr>
      </p:pic>
      <p:pic>
        <p:nvPicPr>
          <p:cNvPr id="11" name="Picture 10">
            <a:extLst>
              <a:ext uri="{FF2B5EF4-FFF2-40B4-BE49-F238E27FC236}">
                <a16:creationId xmlns:a16="http://schemas.microsoft.com/office/drawing/2014/main" id="{27064D82-AE9A-4019-9146-EDCF355AF226}"/>
              </a:ext>
            </a:extLst>
          </p:cNvPr>
          <p:cNvPicPr>
            <a:picLocks noChangeAspect="1"/>
          </p:cNvPicPr>
          <p:nvPr/>
        </p:nvPicPr>
        <p:blipFill>
          <a:blip r:embed="rId2"/>
          <a:stretch>
            <a:fillRect/>
          </a:stretch>
        </p:blipFill>
        <p:spPr>
          <a:xfrm>
            <a:off x="6532369" y="3725061"/>
            <a:ext cx="4007852" cy="2994061"/>
          </a:xfrm>
          <a:prstGeom prst="rect">
            <a:avLst/>
          </a:prstGeom>
        </p:spPr>
      </p:pic>
      <p:pic>
        <p:nvPicPr>
          <p:cNvPr id="8" name="Picture 7">
            <a:extLst>
              <a:ext uri="{FF2B5EF4-FFF2-40B4-BE49-F238E27FC236}">
                <a16:creationId xmlns:a16="http://schemas.microsoft.com/office/drawing/2014/main" id="{1AB36180-B0AC-4988-BCB2-C1215A976E19}"/>
              </a:ext>
            </a:extLst>
          </p:cNvPr>
          <p:cNvPicPr>
            <a:picLocks noChangeAspect="1"/>
          </p:cNvPicPr>
          <p:nvPr/>
        </p:nvPicPr>
        <p:blipFill>
          <a:blip r:embed="rId3"/>
          <a:stretch>
            <a:fillRect/>
          </a:stretch>
        </p:blipFill>
        <p:spPr>
          <a:xfrm>
            <a:off x="2206516" y="336160"/>
            <a:ext cx="3764132" cy="2816783"/>
          </a:xfrm>
          <a:prstGeom prst="rect">
            <a:avLst/>
          </a:prstGeom>
        </p:spPr>
      </p:pic>
      <p:pic>
        <p:nvPicPr>
          <p:cNvPr id="12" name="Picture 11">
            <a:extLst>
              <a:ext uri="{FF2B5EF4-FFF2-40B4-BE49-F238E27FC236}">
                <a16:creationId xmlns:a16="http://schemas.microsoft.com/office/drawing/2014/main" id="{D130699E-B067-426F-8B6F-76B67231B4DB}"/>
              </a:ext>
            </a:extLst>
          </p:cNvPr>
          <p:cNvPicPr>
            <a:picLocks noChangeAspect="1"/>
          </p:cNvPicPr>
          <p:nvPr/>
        </p:nvPicPr>
        <p:blipFill>
          <a:blip r:embed="rId4"/>
          <a:stretch>
            <a:fillRect/>
          </a:stretch>
        </p:blipFill>
        <p:spPr>
          <a:xfrm>
            <a:off x="2190918" y="3889080"/>
            <a:ext cx="3795325" cy="2848094"/>
          </a:xfrm>
          <a:prstGeom prst="rect">
            <a:avLst/>
          </a:prstGeom>
        </p:spPr>
      </p:pic>
    </p:spTree>
    <p:extLst>
      <p:ext uri="{BB962C8B-B14F-4D97-AF65-F5344CB8AC3E}">
        <p14:creationId xmlns:p14="http://schemas.microsoft.com/office/powerpoint/2010/main" val="3172407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0F0DAA2-1220-405F-A31B-9872850EF749}"/>
              </a:ext>
            </a:extLst>
          </p:cNvPr>
          <p:cNvPicPr>
            <a:picLocks noChangeAspect="1"/>
          </p:cNvPicPr>
          <p:nvPr/>
        </p:nvPicPr>
        <p:blipFill>
          <a:blip r:embed="rId2"/>
          <a:stretch>
            <a:fillRect/>
          </a:stretch>
        </p:blipFill>
        <p:spPr>
          <a:xfrm>
            <a:off x="958983" y="1446969"/>
            <a:ext cx="4265952" cy="3197672"/>
          </a:xfrm>
          <a:prstGeom prst="rect">
            <a:avLst/>
          </a:prstGeom>
        </p:spPr>
      </p:pic>
      <p:pic>
        <p:nvPicPr>
          <p:cNvPr id="7" name="Picture 6">
            <a:extLst>
              <a:ext uri="{FF2B5EF4-FFF2-40B4-BE49-F238E27FC236}">
                <a16:creationId xmlns:a16="http://schemas.microsoft.com/office/drawing/2014/main" id="{66858455-EC2A-4882-A9D4-9B9473217CED}"/>
              </a:ext>
            </a:extLst>
          </p:cNvPr>
          <p:cNvPicPr>
            <a:picLocks noChangeAspect="1"/>
          </p:cNvPicPr>
          <p:nvPr/>
        </p:nvPicPr>
        <p:blipFill>
          <a:blip r:embed="rId3"/>
          <a:stretch>
            <a:fillRect/>
          </a:stretch>
        </p:blipFill>
        <p:spPr>
          <a:xfrm>
            <a:off x="6967067" y="1130969"/>
            <a:ext cx="4713847" cy="3513672"/>
          </a:xfrm>
          <a:prstGeom prst="rect">
            <a:avLst/>
          </a:prstGeom>
        </p:spPr>
      </p:pic>
    </p:spTree>
    <p:extLst>
      <p:ext uri="{BB962C8B-B14F-4D97-AF65-F5344CB8AC3E}">
        <p14:creationId xmlns:p14="http://schemas.microsoft.com/office/powerpoint/2010/main" val="4086127840"/>
      </p:ext>
    </p:extLst>
  </p:cSld>
  <p:clrMapOvr>
    <a:masterClrMapping/>
  </p:clrMapOvr>
</p:sld>
</file>

<file path=ppt/theme/theme1.xml><?xml version="1.0" encoding="utf-8"?>
<a:theme xmlns:a="http://schemas.openxmlformats.org/drawingml/2006/main" name="ShapesVTI">
  <a:themeElements>
    <a:clrScheme name="Shapes">
      <a:dk1>
        <a:sysClr val="windowText" lastClr="000000"/>
      </a:dk1>
      <a:lt1>
        <a:sysClr val="window" lastClr="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Festival">
      <a:majorFont>
        <a:latin typeface="Aharon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apesVTI" id="{C78D20FD-A872-4243-8597-B534C62538FF}" vid="{7CAFCCF9-7834-41D6-B6AB-7D225A18A4E9}"/>
    </a:ext>
  </a:extLst>
</a:theme>
</file>

<file path=docProps/app.xml><?xml version="1.0" encoding="utf-8"?>
<Properties xmlns="http://schemas.openxmlformats.org/officeDocument/2006/extended-properties" xmlns:vt="http://schemas.openxmlformats.org/officeDocument/2006/docPropsVTypes">
  <TotalTime>92</TotalTime>
  <Words>704</Words>
  <Application>Microsoft Office PowerPoint</Application>
  <PresentationFormat>Widescreen</PresentationFormat>
  <Paragraphs>42</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Aharoni</vt:lpstr>
      <vt:lpstr>Arial</vt:lpstr>
      <vt:lpstr>Avenir Next LT Pro</vt:lpstr>
      <vt:lpstr>Calibri</vt:lpstr>
      <vt:lpstr>TimesNewRomanPS-BoldMT</vt:lpstr>
      <vt:lpstr>TimesNewRomanPSMT</vt:lpstr>
      <vt:lpstr>ShapesVTI</vt:lpstr>
      <vt:lpstr>Μαθαίνοντας τις μουσικές νότες μέσω του Scratch</vt:lpstr>
      <vt:lpstr>Σκοποί</vt:lpstr>
      <vt:lpstr>Στόχοι</vt:lpstr>
      <vt:lpstr>Χαρακτηριστικά Εκπαιδευόμενων</vt:lpstr>
      <vt:lpstr>Δραστηριότητες ψυχολογικής και γνωστικής προετοιμασίας</vt:lpstr>
      <vt:lpstr>Δραστηριότητα διδασκαλίας γνωστικού αντικειμένου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Παρουσίαση του PowerPoint</dc:title>
  <dc:creator/>
  <cp:lastModifiedBy>Ioannis Argyropoulos</cp:lastModifiedBy>
  <cp:revision>144</cp:revision>
  <dcterms:created xsi:type="dcterms:W3CDTF">2022-12-01T14:56:27Z</dcterms:created>
  <dcterms:modified xsi:type="dcterms:W3CDTF">2022-12-09T14:43:15Z</dcterms:modified>
</cp:coreProperties>
</file>